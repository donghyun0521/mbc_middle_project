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79" r:id="rId3"/>
    <p:sldId id="280" r:id="rId4"/>
    <p:sldId id="275" r:id="rId5"/>
    <p:sldId id="266" r:id="rId6"/>
    <p:sldId id="286" r:id="rId7"/>
    <p:sldId id="268" r:id="rId8"/>
    <p:sldId id="263" r:id="rId9"/>
    <p:sldId id="260" r:id="rId10"/>
    <p:sldId id="262" r:id="rId11"/>
    <p:sldId id="264" r:id="rId12"/>
    <p:sldId id="28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AA"/>
    <a:srgbClr val="84C2E6"/>
    <a:srgbClr val="FBB900"/>
    <a:srgbClr val="222222"/>
    <a:srgbClr val="D9F3FF"/>
    <a:srgbClr val="F7F7F7"/>
    <a:srgbClr val="555555"/>
    <a:srgbClr val="E9F8FF"/>
    <a:srgbClr val="F5F5F5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C131C-CF48-4014-97DD-DD6736A6C487}" v="41" dt="2026-02-15T09:32:50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0" autoAdjust="0"/>
    <p:restoredTop sz="91515" autoAdjust="0"/>
  </p:normalViewPr>
  <p:slideViewPr>
    <p:cSldViewPr snapToGrid="0">
      <p:cViewPr varScale="1">
        <p:scale>
          <a:sx n="101" d="100"/>
          <a:sy n="101" d="100"/>
        </p:scale>
        <p:origin x="13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현 임" userId="bfd0dec5d22372d9" providerId="LiveId" clId="{F2D5EDD2-1DF9-4194-8BFE-0FE246D3B9F2}"/>
    <pc:docChg chg="custSel addSld delSld modSld sldOrd">
      <pc:chgData name="동현 임" userId="bfd0dec5d22372d9" providerId="LiveId" clId="{F2D5EDD2-1DF9-4194-8BFE-0FE246D3B9F2}" dt="2026-02-15T09:32:54.516" v="486" actId="1076"/>
      <pc:docMkLst>
        <pc:docMk/>
      </pc:docMkLst>
      <pc:sldChg chg="modSp mod">
        <pc:chgData name="동현 임" userId="bfd0dec5d22372d9" providerId="LiveId" clId="{F2D5EDD2-1DF9-4194-8BFE-0FE246D3B9F2}" dt="2026-02-13T09:26:42.964" v="72" actId="20577"/>
        <pc:sldMkLst>
          <pc:docMk/>
          <pc:sldMk cId="2378888442" sldId="256"/>
        </pc:sldMkLst>
        <pc:spChg chg="mod">
          <ac:chgData name="동현 임" userId="bfd0dec5d22372d9" providerId="LiveId" clId="{F2D5EDD2-1DF9-4194-8BFE-0FE246D3B9F2}" dt="2026-02-13T09:26:42.964" v="72" actId="20577"/>
          <ac:spMkLst>
            <pc:docMk/>
            <pc:sldMk cId="2378888442" sldId="256"/>
            <ac:spMk id="2" creationId="{AB394C6C-5EDD-8BD5-678E-F894E7A37153}"/>
          </ac:spMkLst>
        </pc:spChg>
      </pc:sldChg>
      <pc:sldChg chg="addSp delSp modSp new del mod">
        <pc:chgData name="동현 임" userId="bfd0dec5d22372d9" providerId="LiveId" clId="{F2D5EDD2-1DF9-4194-8BFE-0FE246D3B9F2}" dt="2026-02-15T09:32:45.268" v="484" actId="47"/>
        <pc:sldMkLst>
          <pc:docMk/>
          <pc:sldMk cId="1550544180" sldId="259"/>
        </pc:sldMkLst>
      </pc:sldChg>
      <pc:sldChg chg="modSp new mod">
        <pc:chgData name="동현 임" userId="bfd0dec5d22372d9" providerId="LiveId" clId="{F2D5EDD2-1DF9-4194-8BFE-0FE246D3B9F2}" dt="2026-02-13T09:18:46.029" v="36" actId="20577"/>
        <pc:sldMkLst>
          <pc:docMk/>
          <pc:sldMk cId="2438852705" sldId="260"/>
        </pc:sldMkLst>
        <pc:spChg chg="mod">
          <ac:chgData name="동현 임" userId="bfd0dec5d22372d9" providerId="LiveId" clId="{F2D5EDD2-1DF9-4194-8BFE-0FE246D3B9F2}" dt="2026-02-13T09:18:46.029" v="36" actId="20577"/>
          <ac:spMkLst>
            <pc:docMk/>
            <pc:sldMk cId="2438852705" sldId="260"/>
            <ac:spMk id="2" creationId="{43B13596-3057-7122-89D9-9526DE051053}"/>
          </ac:spMkLst>
        </pc:spChg>
      </pc:sldChg>
      <pc:sldChg chg="modSp new mod">
        <pc:chgData name="동현 임" userId="bfd0dec5d22372d9" providerId="LiveId" clId="{F2D5EDD2-1DF9-4194-8BFE-0FE246D3B9F2}" dt="2026-02-13T09:32:40.882" v="207" actId="20577"/>
        <pc:sldMkLst>
          <pc:docMk/>
          <pc:sldMk cId="1399677907" sldId="261"/>
        </pc:sldMkLst>
        <pc:spChg chg="mod">
          <ac:chgData name="동현 임" userId="bfd0dec5d22372d9" providerId="LiveId" clId="{F2D5EDD2-1DF9-4194-8BFE-0FE246D3B9F2}" dt="2026-02-13T09:32:40.882" v="207" actId="20577"/>
          <ac:spMkLst>
            <pc:docMk/>
            <pc:sldMk cId="1399677907" sldId="261"/>
            <ac:spMk id="2" creationId="{FC90ED56-9C29-4926-1DEA-65809AF4E635}"/>
          </ac:spMkLst>
        </pc:spChg>
        <pc:spChg chg="mod">
          <ac:chgData name="동현 임" userId="bfd0dec5d22372d9" providerId="LiveId" clId="{F2D5EDD2-1DF9-4194-8BFE-0FE246D3B9F2}" dt="2026-02-13T09:29:45.010" v="199" actId="20577"/>
          <ac:spMkLst>
            <pc:docMk/>
            <pc:sldMk cId="1399677907" sldId="261"/>
            <ac:spMk id="3" creationId="{FE8C6DF4-ECB8-2924-392E-B359ED717C0A}"/>
          </ac:spMkLst>
        </pc:spChg>
      </pc:sldChg>
      <pc:sldChg chg="modSp new mod">
        <pc:chgData name="동현 임" userId="bfd0dec5d22372d9" providerId="LiveId" clId="{F2D5EDD2-1DF9-4194-8BFE-0FE246D3B9F2}" dt="2026-02-13T09:42:54.279" v="438" actId="20577"/>
        <pc:sldMkLst>
          <pc:docMk/>
          <pc:sldMk cId="2452385403" sldId="262"/>
        </pc:sldMkLst>
        <pc:spChg chg="mod">
          <ac:chgData name="동현 임" userId="bfd0dec5d22372d9" providerId="LiveId" clId="{F2D5EDD2-1DF9-4194-8BFE-0FE246D3B9F2}" dt="2026-02-13T09:36:28.445" v="403" actId="20577"/>
          <ac:spMkLst>
            <pc:docMk/>
            <pc:sldMk cId="2452385403" sldId="262"/>
            <ac:spMk id="2" creationId="{E66B6C3E-C791-DDAD-16F5-A0BE9DDB04E1}"/>
          </ac:spMkLst>
        </pc:spChg>
        <pc:spChg chg="mod">
          <ac:chgData name="동현 임" userId="bfd0dec5d22372d9" providerId="LiveId" clId="{F2D5EDD2-1DF9-4194-8BFE-0FE246D3B9F2}" dt="2026-02-13T09:42:54.279" v="438" actId="20577"/>
          <ac:spMkLst>
            <pc:docMk/>
            <pc:sldMk cId="2452385403" sldId="262"/>
            <ac:spMk id="3" creationId="{A4BDD89D-DD72-1F8C-E763-51A29E113000}"/>
          </ac:spMkLst>
        </pc:spChg>
      </pc:sldChg>
      <pc:sldChg chg="addSp delSp modSp new mod">
        <pc:chgData name="동현 임" userId="bfd0dec5d22372d9" providerId="LiveId" clId="{F2D5EDD2-1DF9-4194-8BFE-0FE246D3B9F2}" dt="2026-02-13T10:25:41.597" v="442" actId="962"/>
        <pc:sldMkLst>
          <pc:docMk/>
          <pc:sldMk cId="2942114968" sldId="263"/>
        </pc:sldMkLst>
        <pc:spChg chg="mod">
          <ac:chgData name="동현 임" userId="bfd0dec5d22372d9" providerId="LiveId" clId="{F2D5EDD2-1DF9-4194-8BFE-0FE246D3B9F2}" dt="2026-02-13T09:25:54.082" v="58" actId="20577"/>
          <ac:spMkLst>
            <pc:docMk/>
            <pc:sldMk cId="2942114968" sldId="263"/>
            <ac:spMk id="2" creationId="{DD19D4FD-FB44-603F-3436-4A9A9C6A3E01}"/>
          </ac:spMkLst>
        </pc:spChg>
        <pc:picChg chg="add mod ord">
          <ac:chgData name="동현 임" userId="bfd0dec5d22372d9" providerId="LiveId" clId="{F2D5EDD2-1DF9-4194-8BFE-0FE246D3B9F2}" dt="2026-02-13T10:25:41.597" v="442" actId="962"/>
          <ac:picMkLst>
            <pc:docMk/>
            <pc:sldMk cId="2942114968" sldId="263"/>
            <ac:picMk id="5" creationId="{64DD1A14-8C53-3AC7-DD35-8F75DC41AAEB}"/>
          </ac:picMkLst>
        </pc:picChg>
      </pc:sldChg>
      <pc:sldChg chg="modSp new mod">
        <pc:chgData name="동현 임" userId="bfd0dec5d22372d9" providerId="LiveId" clId="{F2D5EDD2-1DF9-4194-8BFE-0FE246D3B9F2}" dt="2026-02-13T09:37:11.568" v="405" actId="20577"/>
        <pc:sldMkLst>
          <pc:docMk/>
          <pc:sldMk cId="2351571111" sldId="264"/>
        </pc:sldMkLst>
        <pc:spChg chg="mod">
          <ac:chgData name="동현 임" userId="bfd0dec5d22372d9" providerId="LiveId" clId="{F2D5EDD2-1DF9-4194-8BFE-0FE246D3B9F2}" dt="2026-02-13T09:37:11.568" v="405" actId="20577"/>
          <ac:spMkLst>
            <pc:docMk/>
            <pc:sldMk cId="2351571111" sldId="264"/>
            <ac:spMk id="2" creationId="{5216A149-741F-F144-81C1-81F53235EF94}"/>
          </ac:spMkLst>
        </pc:spChg>
      </pc:sldChg>
      <pc:sldChg chg="modSp new mod">
        <pc:chgData name="동현 임" userId="bfd0dec5d22372d9" providerId="LiveId" clId="{F2D5EDD2-1DF9-4194-8BFE-0FE246D3B9F2}" dt="2026-02-13T09:29:11.034" v="118" actId="20577"/>
        <pc:sldMkLst>
          <pc:docMk/>
          <pc:sldMk cId="926187128" sldId="265"/>
        </pc:sldMkLst>
        <pc:spChg chg="mod">
          <ac:chgData name="동현 임" userId="bfd0dec5d22372d9" providerId="LiveId" clId="{F2D5EDD2-1DF9-4194-8BFE-0FE246D3B9F2}" dt="2026-02-13T09:29:11.034" v="118" actId="20577"/>
          <ac:spMkLst>
            <pc:docMk/>
            <pc:sldMk cId="926187128" sldId="265"/>
            <ac:spMk id="2" creationId="{B58B0DE7-5E3A-CA22-999A-B05BC0DBCB30}"/>
          </ac:spMkLst>
        </pc:spChg>
      </pc:sldChg>
      <pc:sldChg chg="modSp new mod">
        <pc:chgData name="동현 임" userId="bfd0dec5d22372d9" providerId="LiveId" clId="{F2D5EDD2-1DF9-4194-8BFE-0FE246D3B9F2}" dt="2026-02-13T09:34:16.163" v="332" actId="20577"/>
        <pc:sldMkLst>
          <pc:docMk/>
          <pc:sldMk cId="2318613653" sldId="266"/>
        </pc:sldMkLst>
        <pc:spChg chg="mod">
          <ac:chgData name="동현 임" userId="bfd0dec5d22372d9" providerId="LiveId" clId="{F2D5EDD2-1DF9-4194-8BFE-0FE246D3B9F2}" dt="2026-02-13T09:32:49.712" v="238" actId="20577"/>
          <ac:spMkLst>
            <pc:docMk/>
            <pc:sldMk cId="2318613653" sldId="266"/>
            <ac:spMk id="2" creationId="{97152DDE-CD3C-A6B4-142D-593D750FA4C9}"/>
          </ac:spMkLst>
        </pc:spChg>
        <pc:spChg chg="mod">
          <ac:chgData name="동현 임" userId="bfd0dec5d22372d9" providerId="LiveId" clId="{F2D5EDD2-1DF9-4194-8BFE-0FE246D3B9F2}" dt="2026-02-13T09:34:16.163" v="332" actId="20577"/>
          <ac:spMkLst>
            <pc:docMk/>
            <pc:sldMk cId="2318613653" sldId="266"/>
            <ac:spMk id="3" creationId="{31D54D74-E755-A389-BADA-086A527239B7}"/>
          </ac:spMkLst>
        </pc:spChg>
      </pc:sldChg>
      <pc:sldChg chg="modSp new mod ord">
        <pc:chgData name="동현 임" userId="bfd0dec5d22372d9" providerId="LiveId" clId="{F2D5EDD2-1DF9-4194-8BFE-0FE246D3B9F2}" dt="2026-02-13T09:40:10.271" v="407"/>
        <pc:sldMkLst>
          <pc:docMk/>
          <pc:sldMk cId="3882659255" sldId="267"/>
        </pc:sldMkLst>
        <pc:spChg chg="mod">
          <ac:chgData name="동현 임" userId="bfd0dec5d22372d9" providerId="LiveId" clId="{F2D5EDD2-1DF9-4194-8BFE-0FE246D3B9F2}" dt="2026-02-13T09:36:11.289" v="396" actId="20577"/>
          <ac:spMkLst>
            <pc:docMk/>
            <pc:sldMk cId="3882659255" sldId="267"/>
            <ac:spMk id="2" creationId="{8AEE3CCD-E787-CFFE-4FFC-48E31384DA4A}"/>
          </ac:spMkLst>
        </pc:spChg>
      </pc:sldChg>
      <pc:sldChg chg="addSp modSp mod">
        <pc:chgData name="동현 임" userId="bfd0dec5d22372d9" providerId="LiveId" clId="{F2D5EDD2-1DF9-4194-8BFE-0FE246D3B9F2}" dt="2026-02-15T09:32:54.516" v="486" actId="1076"/>
        <pc:sldMkLst>
          <pc:docMk/>
          <pc:sldMk cId="3726856799" sldId="268"/>
        </pc:sldMkLst>
        <pc:spChg chg="add mod">
          <ac:chgData name="동현 임" userId="bfd0dec5d22372d9" providerId="LiveId" clId="{F2D5EDD2-1DF9-4194-8BFE-0FE246D3B9F2}" dt="2026-02-15T09:32:54.516" v="486" actId="1076"/>
          <ac:spMkLst>
            <pc:docMk/>
            <pc:sldMk cId="3726856799" sldId="268"/>
            <ac:spMk id="3" creationId="{F3505F80-91E7-13E8-3581-AE910CCB04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E5050-B506-4CB7-B3F3-1DE654A5086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AC8CF-0D47-458D-9159-C7F8CBC444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573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614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56D5-41B9-37ED-A8BB-1F70356BD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AB8623-A89B-1D82-EE50-55E394B49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4D3F88-094E-F221-FC79-749EB5153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6AB1-21DF-8F3E-7F64-8F7778CD8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895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5CC56-679E-944D-44A5-A95BA7DB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99F98-AE37-80A8-937B-3DDD762CB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25789D-CEA7-DE4F-6E46-064C27ECB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8946C5-15CC-7D72-9A43-CCE143D2E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923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8CBD3-B156-05FF-9BD1-D7C9D1459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3A2766-E9CC-2C61-1929-748A0B2F7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EC1857-84F6-5F74-3E85-A601DA6DF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수업 때 배운 거 복습 및 </a:t>
            </a:r>
            <a:r>
              <a:rPr lang="en-US" altLang="ko-KR" sz="1200" dirty="0" err="1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ocr</a:t>
            </a:r>
            <a:r>
              <a:rPr lang="en-US" altLang="ko-KR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예습 </a:t>
            </a:r>
            <a:r>
              <a:rPr lang="en-US" altLang="ko-KR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&gt;&gt; </a:t>
            </a:r>
            <a:r>
              <a:rPr lang="ko-KR" altLang="en-US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대본에 넣어도 좋을 것 같아요</a:t>
            </a:r>
            <a:endParaRPr lang="en-US" altLang="ko-KR" sz="12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추가 참고내용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기획 배경</a:t>
            </a:r>
            <a:r>
              <a:rPr lang="en-US" altLang="ko-KR" dirty="0"/>
              <a:t>: </a:t>
            </a:r>
            <a:r>
              <a:rPr lang="ko-KR" altLang="en-US" dirty="0"/>
              <a:t>주차 및 예약 과정의 병목 현상을 해소하고</a:t>
            </a:r>
            <a:r>
              <a:rPr lang="en-US" altLang="ko-KR" dirty="0"/>
              <a:t>, </a:t>
            </a:r>
            <a:r>
              <a:rPr lang="ko-KR" altLang="en-US" dirty="0"/>
              <a:t>환자의 민감 정보를 보호하기 위한 </a:t>
            </a:r>
            <a:r>
              <a:rPr lang="ko-KR" altLang="en-US" b="1" dirty="0"/>
              <a:t>계층별 접근 제어 시스템</a:t>
            </a:r>
            <a:r>
              <a:rPr lang="ko-KR" altLang="en-US" dirty="0"/>
              <a:t>과 </a:t>
            </a:r>
            <a:r>
              <a:rPr lang="ko-KR" altLang="en-US" dirty="0" err="1"/>
              <a:t>원무팀</a:t>
            </a:r>
            <a:r>
              <a:rPr lang="ko-KR" altLang="en-US" dirty="0"/>
              <a:t> 중심의 </a:t>
            </a:r>
            <a:r>
              <a:rPr lang="ko-KR" altLang="en-US" b="1" dirty="0"/>
              <a:t>전문적인 고객 응대 체계</a:t>
            </a:r>
            <a:r>
              <a:rPr lang="ko-KR" altLang="en-US" dirty="0"/>
              <a:t>를 구축하여 운영 프로세스의 투명성 및 보안성 강화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기획 목적</a:t>
            </a:r>
            <a:r>
              <a:rPr lang="en-US" altLang="ko-KR" dirty="0"/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환자 중심의 의료 서비스 접근성 향상과 병원 행정 운영의 최적화를 실현하고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고도화된 권한 제어 기반의 보안 설계를 통해 시스템 안전성 및 데이터 신뢰성 확보</a:t>
            </a:r>
            <a:endParaRPr lang="en-US" altLang="ko-KR" sz="12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2D5F6-9BF8-46F1-8C96-888DC932B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001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722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9453-8124-DB00-BB2C-A227F9B2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02EE24-ADB6-F1E9-232C-5128B287F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4D5EC7-1B32-60DE-E246-F30B83210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대본 참고</a:t>
            </a:r>
            <a:endParaRPr lang="en-US" altLang="ko-KR" dirty="0"/>
          </a:p>
          <a:p>
            <a:r>
              <a:rPr lang="ko-KR" altLang="en-US" dirty="0"/>
              <a:t>다음은 사용자 권한에 따른 화면 구성입니다</a:t>
            </a:r>
            <a:r>
              <a:rPr lang="en-US" altLang="ko-KR" dirty="0"/>
              <a:t>. </a:t>
            </a:r>
            <a:r>
              <a:rPr lang="ko-KR" altLang="en-US" dirty="0"/>
              <a:t>먼저 일반회원은 마이페이지를 통해 차량 등록</a:t>
            </a:r>
            <a:r>
              <a:rPr lang="en-US" altLang="ko-KR" dirty="0"/>
              <a:t>, </a:t>
            </a:r>
            <a:r>
              <a:rPr lang="ko-KR" altLang="en-US" dirty="0"/>
              <a:t>개인 정보 수정</a:t>
            </a:r>
            <a:r>
              <a:rPr lang="en-US" altLang="ko-KR" dirty="0"/>
              <a:t>, </a:t>
            </a:r>
            <a:r>
              <a:rPr lang="ko-KR" altLang="en-US" dirty="0"/>
              <a:t>진료 예약 및 내역 조회가 가능합니다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고객의 소리 메뉴에서는 본인이 작성한 문의만 확인할 수 있도록 제한했습니다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의료진은 진료 일정과 예약 내역을 확인할 수 있으며</a:t>
            </a:r>
            <a:r>
              <a:rPr lang="en-US" altLang="ko-KR" dirty="0"/>
              <a:t>, </a:t>
            </a:r>
            <a:r>
              <a:rPr lang="ko-KR" altLang="en-US" dirty="0"/>
              <a:t>환자 관리 중심의 화면으로 구성했습니다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특히 고객의 소리 페이지는 의료진에게는 아예 노출되지 않도록 설정했습니다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이는 문의 내용 중 일부가 감정적인 표현을 포함할 수 있기 때문에 의료진이 진료 업무에만 집중할 수 있도록 역할을 명확히 분리한 설계입니다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대신 해당 문의는 원무팀에서 전담 처리하도록 구성하여 조직 구조에 맞는 업무 흐름을 반영했습니다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00E89C-56EA-0BB5-CC8A-1F4F31638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458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대본 참고</a:t>
            </a:r>
            <a:r>
              <a:rPr lang="en-US" altLang="ko-KR" dirty="0"/>
              <a:t>"</a:t>
            </a:r>
            <a:r>
              <a:rPr lang="ko-KR" altLang="en-US" dirty="0"/>
              <a:t>시스템 아키텍처 및 모듈별 연동 기술 사양</a:t>
            </a:r>
            <a:endParaRPr lang="en-US" altLang="ko-KR" dirty="0"/>
          </a:p>
          <a:p>
            <a:r>
              <a:rPr lang="ko-KR" altLang="en-US" dirty="0"/>
              <a:t>프로젝트의 개발 스택은 크게 </a:t>
            </a:r>
            <a:r>
              <a:rPr lang="ko-KR" altLang="en-US" dirty="0" err="1"/>
              <a:t>프론트엔드</a:t>
            </a:r>
            <a:r>
              <a:rPr lang="en-US" altLang="ko-KR" dirty="0"/>
              <a:t>, </a:t>
            </a:r>
            <a:r>
              <a:rPr lang="ko-KR" altLang="en-US" dirty="0" err="1"/>
              <a:t>백엔드</a:t>
            </a:r>
            <a:r>
              <a:rPr lang="en-US" altLang="ko-KR" dirty="0"/>
              <a:t>, </a:t>
            </a:r>
            <a:r>
              <a:rPr lang="ko-KR" altLang="en-US" dirty="0"/>
              <a:t>데이터베이스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OCR </a:t>
            </a:r>
            <a:r>
              <a:rPr lang="ko-KR" altLang="en-US" dirty="0"/>
              <a:t>모듈과 테스트 환경으로 구성되어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ko-KR" altLang="en-US" dirty="0" err="1"/>
              <a:t>프론트엔드는</a:t>
            </a:r>
            <a:r>
              <a:rPr lang="ko-KR" altLang="en-US" dirty="0"/>
              <a:t> </a:t>
            </a:r>
            <a:r>
              <a:rPr lang="en-US" altLang="ko-KR" dirty="0"/>
              <a:t>Vue.js </a:t>
            </a:r>
            <a:r>
              <a:rPr lang="ko-KR" altLang="en-US" dirty="0"/>
              <a:t>기반으로 개발했으며</a:t>
            </a:r>
            <a:r>
              <a:rPr lang="en-US" altLang="ko-KR" dirty="0"/>
              <a:t>, Axios</a:t>
            </a:r>
            <a:r>
              <a:rPr lang="ko-KR" altLang="en-US" dirty="0"/>
              <a:t>를 활용해 </a:t>
            </a:r>
            <a:r>
              <a:rPr lang="en-US" altLang="ko-KR" dirty="0"/>
              <a:t>REST API </a:t>
            </a:r>
            <a:r>
              <a:rPr lang="ko-KR" altLang="en-US" dirty="0"/>
              <a:t>방식으로 </a:t>
            </a:r>
            <a:r>
              <a:rPr lang="ko-KR" altLang="en-US" dirty="0" err="1"/>
              <a:t>백엔드와</a:t>
            </a:r>
            <a:r>
              <a:rPr lang="ko-KR" altLang="en-US" dirty="0"/>
              <a:t> 통신했습니다</a:t>
            </a:r>
            <a:r>
              <a:rPr lang="en-US" altLang="ko-KR" dirty="0"/>
              <a:t>. </a:t>
            </a:r>
            <a:r>
              <a:rPr lang="ko-KR" altLang="en-US" dirty="0"/>
              <a:t>개발 환경은 </a:t>
            </a:r>
            <a:r>
              <a:rPr lang="en-US" altLang="ko-KR" dirty="0"/>
              <a:t>VS Code</a:t>
            </a:r>
            <a:r>
              <a:rPr lang="ko-KR" altLang="en-US" dirty="0"/>
              <a:t>와 </a:t>
            </a:r>
            <a:r>
              <a:rPr lang="en-US" altLang="ko-KR" dirty="0"/>
              <a:t>Node.js, Vite</a:t>
            </a:r>
            <a:r>
              <a:rPr lang="ko-KR" altLang="en-US" dirty="0"/>
              <a:t>를 사용해 구성했습니다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백엔드는</a:t>
            </a:r>
            <a:r>
              <a:rPr lang="ko-KR" altLang="en-US" dirty="0"/>
              <a:t> </a:t>
            </a:r>
            <a:r>
              <a:rPr lang="en-US" altLang="ko-KR" dirty="0"/>
              <a:t>Spring Boot</a:t>
            </a:r>
            <a:r>
              <a:rPr lang="ko-KR" altLang="en-US" dirty="0"/>
              <a:t>와 </a:t>
            </a:r>
            <a:r>
              <a:rPr lang="en-US" altLang="ko-KR" dirty="0"/>
              <a:t>Java</a:t>
            </a:r>
            <a:r>
              <a:rPr lang="ko-KR" altLang="en-US" dirty="0"/>
              <a:t>를 기반으로 구현했으며</a:t>
            </a:r>
            <a:r>
              <a:rPr lang="en-US" altLang="ko-KR" dirty="0"/>
              <a:t>, </a:t>
            </a:r>
            <a:r>
              <a:rPr lang="ko-KR" altLang="en-US" dirty="0"/>
              <a:t>데이터 접근은 </a:t>
            </a:r>
            <a:r>
              <a:rPr lang="en-US" altLang="ko-KR" dirty="0" err="1"/>
              <a:t>MyBatis</a:t>
            </a:r>
            <a:r>
              <a:rPr lang="ko-KR" altLang="en-US" dirty="0"/>
              <a:t>를 사용해 </a:t>
            </a:r>
            <a:r>
              <a:rPr lang="en-US" altLang="ko-KR" dirty="0"/>
              <a:t>SQL </a:t>
            </a:r>
            <a:r>
              <a:rPr lang="ko-KR" altLang="en-US" dirty="0"/>
              <a:t>중심으로 처리했습니다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데이터베이스는 </a:t>
            </a:r>
            <a:r>
              <a:rPr lang="en-US" altLang="ko-KR" dirty="0"/>
              <a:t>PostgreSQL</a:t>
            </a:r>
            <a:r>
              <a:rPr lang="ko-KR" altLang="en-US" dirty="0"/>
              <a:t>을 사용했고</a:t>
            </a:r>
            <a:r>
              <a:rPr lang="en-US" altLang="ko-KR" dirty="0"/>
              <a:t>, JDBC</a:t>
            </a:r>
            <a:r>
              <a:rPr lang="ko-KR" altLang="en-US" dirty="0"/>
              <a:t>를 통해 </a:t>
            </a:r>
            <a:r>
              <a:rPr lang="ko-KR" altLang="en-US" dirty="0" err="1"/>
              <a:t>백엔드와</a:t>
            </a:r>
            <a:r>
              <a:rPr lang="ko-KR" altLang="en-US" dirty="0"/>
              <a:t> 연결했습니다</a:t>
            </a:r>
            <a:r>
              <a:rPr lang="en-US" altLang="ko-KR" dirty="0"/>
              <a:t>. OCR </a:t>
            </a:r>
            <a:r>
              <a:rPr lang="ko-KR" altLang="en-US" dirty="0"/>
              <a:t>기능은 </a:t>
            </a:r>
            <a:r>
              <a:rPr lang="en-US" altLang="ko-KR" dirty="0"/>
              <a:t>Google</a:t>
            </a:r>
            <a:r>
              <a:rPr lang="ko-KR" altLang="en-US" dirty="0"/>
              <a:t>의 </a:t>
            </a:r>
            <a:r>
              <a:rPr lang="en-US" altLang="ko-KR" dirty="0"/>
              <a:t>Tesseract </a:t>
            </a:r>
            <a:r>
              <a:rPr lang="ko-KR" altLang="en-US" dirty="0"/>
              <a:t>엔진을 활용했고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Java </a:t>
            </a:r>
            <a:r>
              <a:rPr lang="ko-KR" altLang="en-US" dirty="0"/>
              <a:t>환경에서 사용하기 위해 </a:t>
            </a:r>
            <a:r>
              <a:rPr lang="en-US" altLang="ko-KR" dirty="0"/>
              <a:t>Tess4J </a:t>
            </a:r>
            <a:r>
              <a:rPr lang="ko-KR" altLang="en-US" dirty="0"/>
              <a:t>라이브러리를 연동했습니다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altLang="ko-KR" dirty="0"/>
              <a:t>JUnit5</a:t>
            </a:r>
            <a:r>
              <a:rPr lang="ko-KR" altLang="en-US" dirty="0"/>
              <a:t>와 </a:t>
            </a:r>
            <a:r>
              <a:rPr lang="en-US" altLang="ko-KR" dirty="0"/>
              <a:t>Mockito</a:t>
            </a:r>
            <a:r>
              <a:rPr lang="ko-KR" altLang="en-US" dirty="0"/>
              <a:t>를 활용해 주요 로직에 대한 단위 테스트를 진행했습니다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85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846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ko-KR" altLang="en-US" sz="1050" b="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046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0BAF8-A3E1-97BA-5798-C76F22F3F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99B761-6AB7-42FB-A019-3BC2C3B32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2493A0-5AD3-9E57-05E4-7B13343E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B805F-4155-EBB9-201E-70604ACC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E0CA2-738E-9821-2EC4-66EEC006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68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95429-A8A1-F1BB-F076-03C133EB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CA7DE-44C5-7D14-FD3B-B63CBBB68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63728-87A1-F516-AE74-5F5F95EA6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0F53BF-8659-5210-C460-A65F3824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35381-333D-45BD-1766-7BD409F1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693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2DE32-F742-055B-431C-227046F41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56E848-F45D-B69B-B516-FD7E7BF5F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DF0AF-8C04-EE74-B329-7F750AE1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63276-7D0C-3306-2C6A-1F66A675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32C795-6880-049C-4CE7-3A907CCE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79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39DE0-1CB1-A92F-D071-720EA349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458A8-862F-ED5D-86E8-7B36C7492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E22E4-514F-A4E3-5A7C-6B76AE95E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696917-3A57-E7D5-DAC4-A5E72115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F605F5-5050-C089-4162-2858A0C7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22F21A-8F93-00B6-FC08-DB56EC91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8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1A9C9-ED98-838C-83A7-762E8DDB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ACDD53-FD02-D45E-583A-DD0559E5C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6B27CB-29BE-4040-CE9B-9A6EDF330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E86C15-7E83-5653-8E2F-301B7BCC1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60488F-8C27-276B-A1CE-250EF6677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91777F-BBC5-6B38-2DAE-63B5F822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DF02F7-165A-2FB7-9B18-E061DF28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8CF0B8-9032-B85C-D6DA-658A0E1B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968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A6C13-8B1C-45B4-4D0F-86B4C107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858E08-D8A7-EFCD-3F30-D9122F83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48F560-9781-6A15-BB60-D4C4AC40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A81A96-BD17-852F-E2AA-25E3E22D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741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5D7240-849A-4A75-C1AD-EE4A568F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65F436-3723-3D55-C366-A88D85D8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EFF4F-A88D-CF73-CCAD-2862FB7E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52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2B2FE-429D-7948-B97D-62135C56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BE13B-449D-9C07-80D6-62CB4B906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5A42B7-8992-A9EB-D73B-C90BC209D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6FDD84-35F9-2B85-552B-E1BD50C5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4372BC-0D18-B7A4-0E19-CA294BFA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AF4CE7-062D-45D5-69A9-2EC6BC68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88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6E9A5-737F-30C4-BED9-410ACF2ED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8EC146-B2C7-53B6-9D75-3B545C6E75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682C2-BC9E-900C-E8F6-5F62BA4E3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C4D52E-0752-1B61-9BF5-01F3B26B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C45B4A-BFA6-A502-EE5E-99394B91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33A9A5-A0D1-DCB4-271F-B2C0BD23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70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5B5E7-D290-0377-407D-2F6FC742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8D4D51-AF6A-AAAF-C1F5-28447C1E8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53970-5003-A9ED-27A1-5C899AF5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13175-A271-28EC-E349-26FF2D54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012D3-1314-C133-C3DE-FAF1FE98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07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2EAD24-CCCC-694D-5E9A-07BE9A753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6FEDCE-01BC-404B-C76C-4EB715F4A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3B8C3C-FED7-71D1-395C-F491171A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F3DE5-1C11-2EEC-4723-24BA624F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FA729E-D082-ED0E-79E4-F4B6CC55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15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A08788-2CB6-D05F-1B81-32C7D159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5210A9-BCB2-03DC-56E9-9879B2FCA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19A8E-997A-5DE9-FF7C-CBA2A3151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97760-439D-4DDF-87BC-9953330ED46A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F9924F-87AB-FCF9-4751-68D997243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9F8B42-41E5-1F05-88CA-97499EB0E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5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E4CDB-D5B3-E261-3F5C-2BD8029C2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hidden="1">
            <a:extLst>
              <a:ext uri="{FF2B5EF4-FFF2-40B4-BE49-F238E27FC236}">
                <a16:creationId xmlns:a16="http://schemas.microsoft.com/office/drawing/2014/main" id="{A4F97080-2C18-5230-C300-18CAE0DCD0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 descr="파란색 유리 건물">
            <a:extLst>
              <a:ext uri="{FF2B5EF4-FFF2-40B4-BE49-F238E27FC236}">
                <a16:creationId xmlns:a16="http://schemas.microsoft.com/office/drawing/2014/main" id="{AB1664D0-CF86-8CE2-975F-E7E983276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0" b="7870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C226B12-09B9-7460-F9F8-F7FBB57DEA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2423554-4C9D-CF05-AA57-A49A63424CF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9" y="1591291"/>
            <a:ext cx="1442301" cy="1626471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E8625-97E6-960E-3D23-73E46BC67ECD}"/>
              </a:ext>
            </a:extLst>
          </p:cNvPr>
          <p:cNvSpPr txBox="1"/>
          <p:nvPr/>
        </p:nvSpPr>
        <p:spPr>
          <a:xfrm>
            <a:off x="2374454" y="1456715"/>
            <a:ext cx="4292563" cy="1939701"/>
          </a:xfrm>
          <a:prstGeom prst="rect">
            <a:avLst/>
          </a:prstGeom>
          <a:noFill/>
        </p:spPr>
        <p:txBody>
          <a:bodyPr wrap="square" lIns="72000" rIns="0" spcCol="216000" rtlCol="0" anchor="ctr" anchorCtr="0">
            <a:normAutofit/>
          </a:bodyPr>
          <a:lstStyle/>
          <a:p>
            <a:r>
              <a:rPr lang="ko-KR" altLang="en-US" sz="4800" spc="-150" dirty="0" err="1">
                <a:solidFill>
                  <a:srgbClr val="FBB9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ExtraBold" panose="02000903000000020004" pitchFamily="2" charset="-127"/>
              </a:rPr>
              <a:t>서울에스병원</a:t>
            </a:r>
            <a:endParaRPr lang="en-US" altLang="ko-KR" sz="4800" spc="-150" dirty="0">
              <a:solidFill>
                <a:srgbClr val="FBB9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ExtraBold" panose="02000903000000020004" pitchFamily="2" charset="-127"/>
            </a:endParaRPr>
          </a:p>
          <a:p>
            <a:r>
              <a:rPr lang="ko-KR" altLang="en-US" sz="4800" spc="-15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ExtraBold" panose="02000903000000020004" pitchFamily="2" charset="-127"/>
              </a:rPr>
              <a:t>종합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F5C07-1D5A-9A6B-6CAE-F11909AD0645}"/>
              </a:ext>
            </a:extLst>
          </p:cNvPr>
          <p:cNvSpPr txBox="1"/>
          <p:nvPr/>
        </p:nvSpPr>
        <p:spPr>
          <a:xfrm>
            <a:off x="2374454" y="3307696"/>
            <a:ext cx="4072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임동현  </a:t>
            </a:r>
            <a:r>
              <a:rPr lang="en-US" altLang="ko-KR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|  </a:t>
            </a:r>
            <a:r>
              <a:rPr lang="ko-KR" altLang="en-US" sz="1400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임소리</a:t>
            </a:r>
            <a:r>
              <a:rPr lang="ko-KR" altLang="en-US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  </a:t>
            </a:r>
            <a:r>
              <a:rPr lang="en-US" altLang="ko-KR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|  </a:t>
            </a:r>
            <a:r>
              <a:rPr lang="ko-KR" altLang="en-US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오종석  </a:t>
            </a:r>
            <a:r>
              <a:rPr lang="en-US" altLang="ko-KR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|  </a:t>
            </a:r>
            <a:r>
              <a:rPr lang="ko-KR" altLang="en-US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하재영</a:t>
            </a:r>
          </a:p>
        </p:txBody>
      </p:sp>
    </p:spTree>
    <p:extLst>
      <p:ext uri="{BB962C8B-B14F-4D97-AF65-F5344CB8AC3E}">
        <p14:creationId xmlns:p14="http://schemas.microsoft.com/office/powerpoint/2010/main" val="2113714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207A5-0A5C-0584-FE01-FDB8DDC1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hidden="1">
            <a:extLst>
              <a:ext uri="{FF2B5EF4-FFF2-40B4-BE49-F238E27FC236}">
                <a16:creationId xmlns:a16="http://schemas.microsoft.com/office/drawing/2014/main" id="{AE91FAA6-F822-78F1-F865-D9BC0D8942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AFF04B5-73C7-A4CC-8F5F-BC3FE0FF4E76}"/>
              </a:ext>
            </a:extLst>
          </p:cNvPr>
          <p:cNvGrpSpPr/>
          <p:nvPr/>
        </p:nvGrpSpPr>
        <p:grpSpPr>
          <a:xfrm>
            <a:off x="4808161" y="3837924"/>
            <a:ext cx="4286911" cy="939551"/>
            <a:chOff x="4611907" y="3972320"/>
            <a:chExt cx="4286911" cy="93955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305042-497C-8E69-709E-D5D7A0903766}"/>
                </a:ext>
              </a:extLst>
            </p:cNvPr>
            <p:cNvSpPr txBox="1"/>
            <p:nvPr/>
          </p:nvSpPr>
          <p:spPr>
            <a:xfrm>
              <a:off x="5921782" y="3972320"/>
              <a:ext cx="2238686" cy="461665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r>
                <a:rPr lang="ko-KR" altLang="en-US" sz="2400" dirty="0">
                  <a:solidFill>
                    <a:srgbClr val="222222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시스템 설계</a:t>
              </a: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06640220-505C-366E-1076-E98FDEC1C9E6}"/>
                </a:ext>
              </a:extLst>
            </p:cNvPr>
            <p:cNvSpPr/>
            <p:nvPr/>
          </p:nvSpPr>
          <p:spPr>
            <a:xfrm>
              <a:off x="4611907" y="3975162"/>
              <a:ext cx="936709" cy="936709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BA68BCC-DE1E-245C-195B-FF984EA07992}"/>
                </a:ext>
              </a:extLst>
            </p:cNvPr>
            <p:cNvSpPr txBox="1"/>
            <p:nvPr/>
          </p:nvSpPr>
          <p:spPr>
            <a:xfrm>
              <a:off x="5915238" y="4378354"/>
              <a:ext cx="1160197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 err="1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개발스택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E2FC2CA-7478-38BB-0C17-F4FFD23EA583}"/>
                </a:ext>
              </a:extLst>
            </p:cNvPr>
            <p:cNvSpPr txBox="1"/>
            <p:nvPr/>
          </p:nvSpPr>
          <p:spPr>
            <a:xfrm>
              <a:off x="7075462" y="4378354"/>
              <a:ext cx="1823356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ERD </a:t>
              </a:r>
              <a:r>
                <a:rPr lang="ko-KR" altLang="en-US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설계도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pic>
          <p:nvPicPr>
            <p:cNvPr id="74" name="그래픽 73" descr="클라우드 컴퓨팅 단색으로 채워진">
              <a:extLst>
                <a:ext uri="{FF2B5EF4-FFF2-40B4-BE49-F238E27FC236}">
                  <a16:creationId xmlns:a16="http://schemas.microsoft.com/office/drawing/2014/main" id="{33CBFA86-4E59-BD02-2262-32CAE85D4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59574" y="4122829"/>
              <a:ext cx="641373" cy="641373"/>
            </a:xfrm>
            <a:prstGeom prst="rect">
              <a:avLst/>
            </a:prstGeom>
          </p:spPr>
        </p:pic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B1824DED-9C00-C09C-93BB-E8A3E1FC96A5}"/>
              </a:ext>
            </a:extLst>
          </p:cNvPr>
          <p:cNvGrpSpPr/>
          <p:nvPr/>
        </p:nvGrpSpPr>
        <p:grpSpPr>
          <a:xfrm>
            <a:off x="4808161" y="2277298"/>
            <a:ext cx="5943399" cy="939551"/>
            <a:chOff x="4611907" y="2344496"/>
            <a:chExt cx="5943399" cy="93955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50C0F8B-0761-4801-1D56-3FB709D54B59}"/>
                </a:ext>
              </a:extLst>
            </p:cNvPr>
            <p:cNvSpPr txBox="1"/>
            <p:nvPr/>
          </p:nvSpPr>
          <p:spPr>
            <a:xfrm>
              <a:off x="5921782" y="2344496"/>
              <a:ext cx="3520431" cy="461665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r>
                <a:rPr lang="ko-KR" altLang="en-US" sz="2400" dirty="0">
                  <a:solidFill>
                    <a:srgbClr val="222222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핵심 기능 </a:t>
              </a:r>
              <a:r>
                <a:rPr lang="en-US" altLang="ko-KR" sz="2400" dirty="0">
                  <a:solidFill>
                    <a:srgbClr val="222222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&amp; </a:t>
              </a:r>
              <a:r>
                <a:rPr lang="ko-KR" altLang="en-US" sz="2400" dirty="0">
                  <a:solidFill>
                    <a:srgbClr val="222222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시스템 설계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40DA147-2B6C-05B2-1A38-89E104107BD4}"/>
                </a:ext>
              </a:extLst>
            </p:cNvPr>
            <p:cNvSpPr/>
            <p:nvPr/>
          </p:nvSpPr>
          <p:spPr>
            <a:xfrm>
              <a:off x="4611907" y="2347338"/>
              <a:ext cx="936709" cy="936709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03A70F2-CC5E-ACD3-9D48-BE239F35BDBB}"/>
                </a:ext>
              </a:extLst>
            </p:cNvPr>
            <p:cNvSpPr txBox="1"/>
            <p:nvPr/>
          </p:nvSpPr>
          <p:spPr>
            <a:xfrm>
              <a:off x="5915239" y="2750530"/>
              <a:ext cx="2434034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주요 서비스 프로세스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CD6A1D-3986-EF8C-122D-6C2996A96843}"/>
                </a:ext>
              </a:extLst>
            </p:cNvPr>
            <p:cNvSpPr txBox="1"/>
            <p:nvPr/>
          </p:nvSpPr>
          <p:spPr>
            <a:xfrm>
              <a:off x="8121272" y="2742722"/>
              <a:ext cx="2434034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사용자별 권한 매트릭스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pic>
          <p:nvPicPr>
            <p:cNvPr id="76" name="그래픽 75" descr="팔레트 단색으로 채워진">
              <a:extLst>
                <a:ext uri="{FF2B5EF4-FFF2-40B4-BE49-F238E27FC236}">
                  <a16:creationId xmlns:a16="http://schemas.microsoft.com/office/drawing/2014/main" id="{4185D4D3-9AD9-284C-DC14-7C1F3D820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71300" y="2506731"/>
              <a:ext cx="617923" cy="617923"/>
            </a:xfrm>
            <a:prstGeom prst="rect">
              <a:avLst/>
            </a:prstGeom>
          </p:spPr>
        </p:pic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B681C93-39B2-F36C-8F6F-8B0F0B0BBCE6}"/>
              </a:ext>
            </a:extLst>
          </p:cNvPr>
          <p:cNvGrpSpPr/>
          <p:nvPr/>
        </p:nvGrpSpPr>
        <p:grpSpPr>
          <a:xfrm>
            <a:off x="4808161" y="716672"/>
            <a:ext cx="6395617" cy="939551"/>
            <a:chOff x="4611907" y="716672"/>
            <a:chExt cx="6395617" cy="93955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744BEE-93DA-D7AD-2ED5-91D66CC9D662}"/>
                </a:ext>
              </a:extLst>
            </p:cNvPr>
            <p:cNvSpPr txBox="1"/>
            <p:nvPr/>
          </p:nvSpPr>
          <p:spPr>
            <a:xfrm>
              <a:off x="5921782" y="716672"/>
              <a:ext cx="2238687" cy="461665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r>
                <a:rPr lang="ko-KR" altLang="en-US" sz="2400" dirty="0">
                  <a:solidFill>
                    <a:srgbClr val="222222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프로젝트 개요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59629EC-2484-C89D-BB99-449BC39E7DED}"/>
                </a:ext>
              </a:extLst>
            </p:cNvPr>
            <p:cNvSpPr/>
            <p:nvPr/>
          </p:nvSpPr>
          <p:spPr>
            <a:xfrm>
              <a:off x="4611907" y="719514"/>
              <a:ext cx="936709" cy="936709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ABB2D9-9916-0A7B-9FED-833F1AAFCBCD}"/>
                </a:ext>
              </a:extLst>
            </p:cNvPr>
            <p:cNvSpPr txBox="1"/>
            <p:nvPr/>
          </p:nvSpPr>
          <p:spPr>
            <a:xfrm>
              <a:off x="5915239" y="1122706"/>
              <a:ext cx="914953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서비스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4FF04A1-3ABC-CF35-4CBB-E5E4E8D40A5F}"/>
                </a:ext>
              </a:extLst>
            </p:cNvPr>
            <p:cNvSpPr txBox="1"/>
            <p:nvPr/>
          </p:nvSpPr>
          <p:spPr>
            <a:xfrm>
              <a:off x="6880529" y="1122706"/>
              <a:ext cx="1238436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기획 배경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250807-57EC-85FB-2DA9-495C1534846F}"/>
                </a:ext>
              </a:extLst>
            </p:cNvPr>
            <p:cNvSpPr txBox="1"/>
            <p:nvPr/>
          </p:nvSpPr>
          <p:spPr>
            <a:xfrm>
              <a:off x="8103979" y="1118373"/>
              <a:ext cx="1238436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기획 목적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C47F86E-9DBA-6741-DC83-51AB7A140ED4}"/>
                </a:ext>
              </a:extLst>
            </p:cNvPr>
            <p:cNvSpPr txBox="1"/>
            <p:nvPr/>
          </p:nvSpPr>
          <p:spPr>
            <a:xfrm>
              <a:off x="9327430" y="1114039"/>
              <a:ext cx="1680094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팀원 역할 소개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pic>
          <p:nvPicPr>
            <p:cNvPr id="78" name="그래픽 77" descr="문서 단색으로 채워진">
              <a:extLst>
                <a:ext uri="{FF2B5EF4-FFF2-40B4-BE49-F238E27FC236}">
                  <a16:creationId xmlns:a16="http://schemas.microsoft.com/office/drawing/2014/main" id="{D515F44A-AC6C-E677-D3C4-CAD7B61FB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92414" y="900021"/>
              <a:ext cx="575693" cy="575693"/>
            </a:xfrm>
            <a:prstGeom prst="rect">
              <a:avLst/>
            </a:prstGeom>
          </p:spPr>
        </p:pic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6DDA8F9-DB6B-2A88-D830-2BF4F1A356C7}"/>
              </a:ext>
            </a:extLst>
          </p:cNvPr>
          <p:cNvGrpSpPr/>
          <p:nvPr/>
        </p:nvGrpSpPr>
        <p:grpSpPr>
          <a:xfrm>
            <a:off x="4808161" y="5398549"/>
            <a:ext cx="5621544" cy="939551"/>
            <a:chOff x="4611907" y="5600145"/>
            <a:chExt cx="5621544" cy="939551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5EF9FE-08CD-5084-853F-9E8639FB9535}"/>
                </a:ext>
              </a:extLst>
            </p:cNvPr>
            <p:cNvSpPr txBox="1"/>
            <p:nvPr/>
          </p:nvSpPr>
          <p:spPr>
            <a:xfrm>
              <a:off x="5921781" y="5600145"/>
              <a:ext cx="3941284" cy="461665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r>
                <a:rPr lang="ko-KR" altLang="en-US" sz="2400" dirty="0">
                  <a:solidFill>
                    <a:srgbClr val="222222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서비스 시연 </a:t>
              </a:r>
              <a:r>
                <a:rPr lang="en-US" altLang="ko-KR" sz="2400" dirty="0">
                  <a:solidFill>
                    <a:srgbClr val="222222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&amp; </a:t>
              </a:r>
              <a:r>
                <a:rPr lang="ko-KR" altLang="en-US" sz="2400" dirty="0">
                  <a:solidFill>
                    <a:srgbClr val="222222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향후 계획</a:t>
              </a: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BBF19D0-80A8-EEE6-9045-BCFF78953D13}"/>
                </a:ext>
              </a:extLst>
            </p:cNvPr>
            <p:cNvSpPr/>
            <p:nvPr/>
          </p:nvSpPr>
          <p:spPr>
            <a:xfrm>
              <a:off x="4611907" y="5602987"/>
              <a:ext cx="936709" cy="936709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6EBBAF1-0814-2BA6-2E17-8D4E798B21C9}"/>
                </a:ext>
              </a:extLst>
            </p:cNvPr>
            <p:cNvSpPr txBox="1"/>
            <p:nvPr/>
          </p:nvSpPr>
          <p:spPr>
            <a:xfrm>
              <a:off x="5915239" y="6006179"/>
              <a:ext cx="2246791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실제 구동 화면 시연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697243A-8E31-3181-0E6B-2BF9FC29D4B7}"/>
                </a:ext>
              </a:extLst>
            </p:cNvPr>
            <p:cNvSpPr txBox="1"/>
            <p:nvPr/>
          </p:nvSpPr>
          <p:spPr>
            <a:xfrm>
              <a:off x="7986660" y="6003559"/>
              <a:ext cx="2246791" cy="430887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444444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Light" panose="02000403000000020004" pitchFamily="2" charset="-127"/>
                </a:rPr>
                <a:t>서비스 확장성 제시</a:t>
              </a:r>
              <a:endPara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endParaRPr>
            </a:p>
          </p:txBody>
        </p:sp>
        <p:pic>
          <p:nvPicPr>
            <p:cNvPr id="80" name="그래픽 79" descr="과녁 단색으로 채워진">
              <a:extLst>
                <a:ext uri="{FF2B5EF4-FFF2-40B4-BE49-F238E27FC236}">
                  <a16:creationId xmlns:a16="http://schemas.microsoft.com/office/drawing/2014/main" id="{6282B66F-32A7-1E6A-0DE4-2B472C1F5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63418" y="5754499"/>
              <a:ext cx="633687" cy="633684"/>
            </a:xfrm>
            <a:prstGeom prst="rect">
              <a:avLst/>
            </a:prstGeom>
          </p:spPr>
        </p:pic>
      </p:grpSp>
      <p:sp>
        <p:nvSpPr>
          <p:cNvPr id="95" name="화살표: 오각형 94">
            <a:extLst>
              <a:ext uri="{FF2B5EF4-FFF2-40B4-BE49-F238E27FC236}">
                <a16:creationId xmlns:a16="http://schemas.microsoft.com/office/drawing/2014/main" id="{BCCBD114-C882-A60A-22D1-C9766D1F67FC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D9812E-DCDD-7C52-CC2E-C29B5CA7D9CB}"/>
              </a:ext>
            </a:extLst>
          </p:cNvPr>
          <p:cNvSpPr txBox="1"/>
          <p:nvPr/>
        </p:nvSpPr>
        <p:spPr>
          <a:xfrm>
            <a:off x="1352242" y="716672"/>
            <a:ext cx="112367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목차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3DDD9C0-13C0-5692-287C-D6B664D271E4}"/>
              </a:ext>
            </a:extLst>
          </p:cNvPr>
          <p:cNvSpPr txBox="1"/>
          <p:nvPr/>
        </p:nvSpPr>
        <p:spPr>
          <a:xfrm>
            <a:off x="1352242" y="1318328"/>
            <a:ext cx="2143471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PROJECT INDEX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276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EE27D-30E1-3300-5395-E4F8EE21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hidden="1">
            <a:extLst>
              <a:ext uri="{FF2B5EF4-FFF2-40B4-BE49-F238E27FC236}">
                <a16:creationId xmlns:a16="http://schemas.microsoft.com/office/drawing/2014/main" id="{C7004837-E9B7-C7B2-380F-8004DD75F7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D9022EE-8A58-D8AE-3F89-86FC88A968A9}"/>
              </a:ext>
            </a:extLst>
          </p:cNvPr>
          <p:cNvSpPr/>
          <p:nvPr/>
        </p:nvSpPr>
        <p:spPr>
          <a:xfrm>
            <a:off x="760717" y="2289551"/>
            <a:ext cx="4748464" cy="1731839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F7F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EC430-DD1B-620C-86B4-AB868692CAFE}"/>
              </a:ext>
            </a:extLst>
          </p:cNvPr>
          <p:cNvSpPr txBox="1"/>
          <p:nvPr/>
        </p:nvSpPr>
        <p:spPr>
          <a:xfrm>
            <a:off x="768281" y="3615215"/>
            <a:ext cx="1508338" cy="3231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5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임동현 </a:t>
            </a:r>
            <a:r>
              <a:rPr lang="en-US" altLang="ko-KR" sz="15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| </a:t>
            </a:r>
            <a:r>
              <a:rPr lang="ko-KR" altLang="en-US" sz="1500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팀장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CC52CA3-CAF5-9287-24A7-73D4FC3609EB}"/>
              </a:ext>
            </a:extLst>
          </p:cNvPr>
          <p:cNvSpPr/>
          <p:nvPr/>
        </p:nvSpPr>
        <p:spPr>
          <a:xfrm>
            <a:off x="517995" y="1919746"/>
            <a:ext cx="1327355" cy="1327355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57AE361-A693-086E-7894-7D5BFE479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25" y="1932251"/>
            <a:ext cx="1551988" cy="1750164"/>
          </a:xfrm>
          <a:prstGeom prst="rect">
            <a:avLst/>
          </a:prstGeom>
        </p:spPr>
      </p:pic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EB04D39-0A14-1FB4-9F08-D4480E589528}"/>
              </a:ext>
            </a:extLst>
          </p:cNvPr>
          <p:cNvSpPr/>
          <p:nvPr/>
        </p:nvSpPr>
        <p:spPr>
          <a:xfrm>
            <a:off x="5957065" y="2289551"/>
            <a:ext cx="4748464" cy="1731839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F7F7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7E1992-0F3A-541F-E958-C0CD06C866EF}"/>
              </a:ext>
            </a:extLst>
          </p:cNvPr>
          <p:cNvSpPr txBox="1"/>
          <p:nvPr/>
        </p:nvSpPr>
        <p:spPr>
          <a:xfrm>
            <a:off x="5964629" y="3615215"/>
            <a:ext cx="1508338" cy="3231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500" dirty="0" err="1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임소리</a:t>
            </a:r>
            <a:endParaRPr lang="ko-KR" altLang="en-US" sz="15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E37BD06-A64F-2AC6-EA07-980CCC8E91B7}"/>
              </a:ext>
            </a:extLst>
          </p:cNvPr>
          <p:cNvSpPr/>
          <p:nvPr/>
        </p:nvSpPr>
        <p:spPr>
          <a:xfrm>
            <a:off x="5714343" y="1919746"/>
            <a:ext cx="1327355" cy="1327355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208D8051-4A0C-358E-6F7D-CC055B919E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4573" y="1932251"/>
            <a:ext cx="1608449" cy="1813836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6D51047-ECDA-9072-B757-91EBF4233124}"/>
              </a:ext>
            </a:extLst>
          </p:cNvPr>
          <p:cNvSpPr/>
          <p:nvPr/>
        </p:nvSpPr>
        <p:spPr>
          <a:xfrm>
            <a:off x="1729194" y="4537447"/>
            <a:ext cx="4748464" cy="1731839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F7F7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F261C0-1347-61EC-43E8-2A109CEDA094}"/>
              </a:ext>
            </a:extLst>
          </p:cNvPr>
          <p:cNvSpPr txBox="1"/>
          <p:nvPr/>
        </p:nvSpPr>
        <p:spPr>
          <a:xfrm>
            <a:off x="1736758" y="5891392"/>
            <a:ext cx="1508338" cy="3231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5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하재영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A60CFFF-52D0-4405-C75E-2EA9B6E6D736}"/>
              </a:ext>
            </a:extLst>
          </p:cNvPr>
          <p:cNvSpPr/>
          <p:nvPr/>
        </p:nvSpPr>
        <p:spPr>
          <a:xfrm>
            <a:off x="1486472" y="4167642"/>
            <a:ext cx="1327355" cy="1327355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351781C-C711-27D4-7FEB-E232439079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6702" y="4229308"/>
            <a:ext cx="1641850" cy="1851502"/>
          </a:xfrm>
          <a:prstGeom prst="rect">
            <a:avLst/>
          </a:prstGeom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81B7254-FA73-F82E-D77B-3A49D8CCAD2A}"/>
              </a:ext>
            </a:extLst>
          </p:cNvPr>
          <p:cNvSpPr/>
          <p:nvPr/>
        </p:nvSpPr>
        <p:spPr>
          <a:xfrm>
            <a:off x="6925542" y="4537447"/>
            <a:ext cx="4748464" cy="1731839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F7F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B951D7-8527-82A9-7D26-E839E11C1707}"/>
              </a:ext>
            </a:extLst>
          </p:cNvPr>
          <p:cNvSpPr txBox="1"/>
          <p:nvPr/>
        </p:nvSpPr>
        <p:spPr>
          <a:xfrm>
            <a:off x="6933106" y="5891392"/>
            <a:ext cx="1508338" cy="3231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50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오종석</a:t>
            </a:r>
            <a:endParaRPr lang="ko-KR" altLang="en-US" sz="15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088FDDF-7531-DDAE-7B43-A3E0B89494CF}"/>
              </a:ext>
            </a:extLst>
          </p:cNvPr>
          <p:cNvSpPr/>
          <p:nvPr/>
        </p:nvSpPr>
        <p:spPr>
          <a:xfrm>
            <a:off x="6682820" y="4167642"/>
            <a:ext cx="1327355" cy="1327355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4C28E18-ACCA-35E1-4AC8-CB0726B7FC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3106" y="4299809"/>
            <a:ext cx="1508338" cy="1700940"/>
          </a:xfrm>
          <a:prstGeom prst="rect">
            <a:avLst/>
          </a:prstGeom>
        </p:spPr>
      </p:pic>
      <p:sp>
        <p:nvSpPr>
          <p:cNvPr id="54" name="화살표: 오각형 53">
            <a:extLst>
              <a:ext uri="{FF2B5EF4-FFF2-40B4-BE49-F238E27FC236}">
                <a16:creationId xmlns:a16="http://schemas.microsoft.com/office/drawing/2014/main" id="{FFEF4DE7-F5E7-8C7C-E7F6-33708FDDC94D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A74ACB-D4C7-5677-D987-BF1173153230}"/>
              </a:ext>
            </a:extLst>
          </p:cNvPr>
          <p:cNvSpPr txBox="1"/>
          <p:nvPr/>
        </p:nvSpPr>
        <p:spPr>
          <a:xfrm>
            <a:off x="1395362" y="1318328"/>
            <a:ext cx="2143471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팀원 개인 담당 업무 소개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78C58B-6255-527F-43C2-8E1CBC66F83A}"/>
              </a:ext>
            </a:extLst>
          </p:cNvPr>
          <p:cNvSpPr txBox="1"/>
          <p:nvPr/>
        </p:nvSpPr>
        <p:spPr>
          <a:xfrm>
            <a:off x="1352243" y="716672"/>
            <a:ext cx="1976310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팀원 역할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30F774-49A6-470C-EB8E-38B97706D417}"/>
              </a:ext>
            </a:extLst>
          </p:cNvPr>
          <p:cNvSpPr txBox="1"/>
          <p:nvPr/>
        </p:nvSpPr>
        <p:spPr>
          <a:xfrm>
            <a:off x="9317703" y="1967484"/>
            <a:ext cx="1406480" cy="369332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프론트 엔드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40F97-6F75-9A63-6944-54412C35F712}"/>
              </a:ext>
            </a:extLst>
          </p:cNvPr>
          <p:cNvSpPr txBox="1"/>
          <p:nvPr/>
        </p:nvSpPr>
        <p:spPr>
          <a:xfrm>
            <a:off x="7569968" y="3062850"/>
            <a:ext cx="3104001" cy="83099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통합 플랫폼 프론트 엔드 개발 및 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UI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디자인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OCR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키오스크 인터페이스 및 반응형 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CSS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구현</a:t>
            </a:r>
            <a:endParaRPr lang="ko-KR" altLang="en-US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90DC70-8D56-9B1A-1D34-B29227F50B3F}"/>
              </a:ext>
            </a:extLst>
          </p:cNvPr>
          <p:cNvSpPr txBox="1"/>
          <p:nvPr/>
        </p:nvSpPr>
        <p:spPr>
          <a:xfrm>
            <a:off x="2326674" y="2415284"/>
            <a:ext cx="2544349" cy="1077218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DB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아키텍처 설계 및 통합 백 엔드 구축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자바 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OCR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엔진 연동 및 번호판 판독 로직 개발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CE9D4-1750-744A-639D-B4907011AF0C}"/>
              </a:ext>
            </a:extLst>
          </p:cNvPr>
          <p:cNvSpPr txBox="1"/>
          <p:nvPr/>
        </p:nvSpPr>
        <p:spPr>
          <a:xfrm>
            <a:off x="4376269" y="1974914"/>
            <a:ext cx="856750" cy="369332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백 엔드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E5ACEA-195F-A754-9E65-57EAE7847065}"/>
              </a:ext>
            </a:extLst>
          </p:cNvPr>
          <p:cNvSpPr txBox="1"/>
          <p:nvPr/>
        </p:nvSpPr>
        <p:spPr>
          <a:xfrm>
            <a:off x="3064113" y="4830377"/>
            <a:ext cx="3255185" cy="83099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실시간 주차 </a:t>
            </a:r>
            <a:r>
              <a:rPr lang="ko-KR" altLang="en-US" sz="1600" dirty="0" err="1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현황판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UI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설계 및 차량 위치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•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이용 요금 정보 시각화 인터페이스 개발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D68BE-FA01-2363-8A2A-0B2A8EBCF62A}"/>
              </a:ext>
            </a:extLst>
          </p:cNvPr>
          <p:cNvSpPr txBox="1"/>
          <p:nvPr/>
        </p:nvSpPr>
        <p:spPr>
          <a:xfrm>
            <a:off x="217843" y="5536720"/>
            <a:ext cx="1406480" cy="369332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프론트 엔드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F2C0F8-6BD7-EBD2-F6DF-3C51A8F8F5D7}"/>
              </a:ext>
            </a:extLst>
          </p:cNvPr>
          <p:cNvSpPr txBox="1"/>
          <p:nvPr/>
        </p:nvSpPr>
        <p:spPr>
          <a:xfrm>
            <a:off x="8460953" y="5169752"/>
            <a:ext cx="2574912" cy="83099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최단 거리 주차 자동 매핑 알고리즘 설계 및 진료 연동 실시간 요금 산출 로직 구축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33C43-DCA4-7AB1-1F87-DCD254AA0E66}"/>
              </a:ext>
            </a:extLst>
          </p:cNvPr>
          <p:cNvSpPr txBox="1"/>
          <p:nvPr/>
        </p:nvSpPr>
        <p:spPr>
          <a:xfrm>
            <a:off x="11035865" y="4443334"/>
            <a:ext cx="856750" cy="369332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백 엔드</a:t>
            </a:r>
          </a:p>
        </p:txBody>
      </p:sp>
    </p:spTree>
    <p:extLst>
      <p:ext uri="{BB962C8B-B14F-4D97-AF65-F5344CB8AC3E}">
        <p14:creationId xmlns:p14="http://schemas.microsoft.com/office/powerpoint/2010/main" val="379125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BE511-BC92-5332-A863-52FA9EF7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hidden="1">
            <a:extLst>
              <a:ext uri="{FF2B5EF4-FFF2-40B4-BE49-F238E27FC236}">
                <a16:creationId xmlns:a16="http://schemas.microsoft.com/office/drawing/2014/main" id="{1B5B2B97-896A-A0A0-3D3F-5CAA8EEE13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45A2321-F0D4-19EC-6E68-2A19AA46E503}"/>
              </a:ext>
            </a:extLst>
          </p:cNvPr>
          <p:cNvSpPr txBox="1"/>
          <p:nvPr/>
        </p:nvSpPr>
        <p:spPr>
          <a:xfrm>
            <a:off x="1395362" y="1050095"/>
            <a:ext cx="3176261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프로젝트명</a:t>
            </a:r>
            <a:r>
              <a:rPr lang="en-US" altLang="ko-KR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400" dirty="0" err="1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서울에스병원</a:t>
            </a:r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 시스템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2B4DD4-BCBC-546D-E3BB-404EA6ADD81F}"/>
              </a:ext>
            </a:extLst>
          </p:cNvPr>
          <p:cNvSpPr txBox="1"/>
          <p:nvPr/>
        </p:nvSpPr>
        <p:spPr>
          <a:xfrm>
            <a:off x="1395361" y="1328271"/>
            <a:ext cx="2853983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개발 기간</a:t>
            </a:r>
            <a:r>
              <a:rPr lang="en-US" altLang="ko-KR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: 26.01.26 ~ 02.20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1AC71EF-F1B1-57EA-1360-146F9A9ACD48}"/>
              </a:ext>
            </a:extLst>
          </p:cNvPr>
          <p:cNvSpPr/>
          <p:nvPr/>
        </p:nvSpPr>
        <p:spPr>
          <a:xfrm>
            <a:off x="760167" y="2051202"/>
            <a:ext cx="3284728" cy="2246764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93700116-DB1F-19A9-6894-C83B187065CE}"/>
              </a:ext>
            </a:extLst>
          </p:cNvPr>
          <p:cNvSpPr/>
          <p:nvPr/>
        </p:nvSpPr>
        <p:spPr>
          <a:xfrm flipV="1">
            <a:off x="983396" y="2051201"/>
            <a:ext cx="1319708" cy="369332"/>
          </a:xfrm>
          <a:prstGeom prst="round2Same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557890-C581-A09C-499C-71E3B62BA097}"/>
              </a:ext>
            </a:extLst>
          </p:cNvPr>
          <p:cNvSpPr txBox="1"/>
          <p:nvPr/>
        </p:nvSpPr>
        <p:spPr>
          <a:xfrm>
            <a:off x="1013099" y="2066590"/>
            <a:ext cx="1260302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개요 </a:t>
            </a:r>
            <a:r>
              <a:rPr lang="en-US" altLang="ko-KR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252839-EFD1-AB37-6733-00BC7D4890FF}"/>
              </a:ext>
            </a:extLst>
          </p:cNvPr>
          <p:cNvSpPr txBox="1"/>
          <p:nvPr/>
        </p:nvSpPr>
        <p:spPr>
          <a:xfrm>
            <a:off x="983396" y="2659165"/>
            <a:ext cx="851599" cy="40011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000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서비스</a:t>
            </a:r>
            <a:endParaRPr lang="en-US" altLang="ko-KR" sz="20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5A7480F-A9A1-9695-113D-44FDC5EC6B6A}"/>
              </a:ext>
            </a:extLst>
          </p:cNvPr>
          <p:cNvCxnSpPr>
            <a:cxnSpLocks/>
          </p:cNvCxnSpPr>
          <p:nvPr/>
        </p:nvCxnSpPr>
        <p:spPr>
          <a:xfrm>
            <a:off x="1055539" y="3178591"/>
            <a:ext cx="2693985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8795C16-F817-203E-4AF3-D54041BF34CC}"/>
              </a:ext>
            </a:extLst>
          </p:cNvPr>
          <p:cNvSpPr txBox="1"/>
          <p:nvPr/>
        </p:nvSpPr>
        <p:spPr>
          <a:xfrm>
            <a:off x="1013098" y="3297907"/>
            <a:ext cx="2736425" cy="83099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/>
              <a:t>OCR </a:t>
            </a:r>
            <a:r>
              <a:rPr lang="ko-KR" altLang="en-US" dirty="0"/>
              <a:t>기반 지능형 </a:t>
            </a:r>
            <a:r>
              <a:rPr lang="ko-KR" altLang="en-US" dirty="0" err="1"/>
              <a:t>모빌리티와</a:t>
            </a:r>
            <a:r>
              <a:rPr lang="ko-KR" altLang="en-US" dirty="0"/>
              <a:t> 예약</a:t>
            </a:r>
            <a:r>
              <a:rPr lang="en-US" altLang="ko-KR" dirty="0"/>
              <a:t>·</a:t>
            </a:r>
            <a:r>
              <a:rPr lang="ko-KR" altLang="en-US" dirty="0"/>
              <a:t>민원 통합 관리를 지원하는 스마트 병원 솔루션</a:t>
            </a:r>
            <a:endParaRPr lang="en-US" altLang="ko-KR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B421E87-4C26-2E2F-D43B-E18F9508256D}"/>
              </a:ext>
            </a:extLst>
          </p:cNvPr>
          <p:cNvSpPr/>
          <p:nvPr/>
        </p:nvSpPr>
        <p:spPr>
          <a:xfrm>
            <a:off x="4453636" y="2046726"/>
            <a:ext cx="3284728" cy="2246764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위쪽 모서리 44">
            <a:extLst>
              <a:ext uri="{FF2B5EF4-FFF2-40B4-BE49-F238E27FC236}">
                <a16:creationId xmlns:a16="http://schemas.microsoft.com/office/drawing/2014/main" id="{01464198-2883-63CE-E5F3-F569131B0665}"/>
              </a:ext>
            </a:extLst>
          </p:cNvPr>
          <p:cNvSpPr/>
          <p:nvPr/>
        </p:nvSpPr>
        <p:spPr>
          <a:xfrm flipV="1">
            <a:off x="4676865" y="2046725"/>
            <a:ext cx="1319708" cy="369332"/>
          </a:xfrm>
          <a:prstGeom prst="round2Same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47AD1C-76C3-D480-A580-31C258C79D43}"/>
              </a:ext>
            </a:extLst>
          </p:cNvPr>
          <p:cNvSpPr txBox="1"/>
          <p:nvPr/>
        </p:nvSpPr>
        <p:spPr>
          <a:xfrm>
            <a:off x="4706568" y="2062114"/>
            <a:ext cx="1260302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개요 </a:t>
            </a:r>
            <a:r>
              <a:rPr lang="en-US" altLang="ko-KR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A69C65-32A2-2AC8-0BF7-96D4F0BBE6CA}"/>
              </a:ext>
            </a:extLst>
          </p:cNvPr>
          <p:cNvSpPr txBox="1"/>
          <p:nvPr/>
        </p:nvSpPr>
        <p:spPr>
          <a:xfrm>
            <a:off x="4676865" y="2654689"/>
            <a:ext cx="1674774" cy="40011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00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기획 배경</a:t>
            </a:r>
            <a:endParaRPr lang="en-US" altLang="ko-KR" sz="20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F6B03B0-B8E4-F2B4-8E20-DB0E3026A4B9}"/>
              </a:ext>
            </a:extLst>
          </p:cNvPr>
          <p:cNvCxnSpPr>
            <a:cxnSpLocks/>
          </p:cNvCxnSpPr>
          <p:nvPr/>
        </p:nvCxnSpPr>
        <p:spPr>
          <a:xfrm>
            <a:off x="4749008" y="3174115"/>
            <a:ext cx="2693985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32D914A-AC93-A653-AC1F-5204A9F6C8BE}"/>
              </a:ext>
            </a:extLst>
          </p:cNvPr>
          <p:cNvSpPr txBox="1"/>
          <p:nvPr/>
        </p:nvSpPr>
        <p:spPr>
          <a:xfrm>
            <a:off x="4706567" y="3293431"/>
            <a:ext cx="2736425" cy="78483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5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프로세스 자동화를 통한 운영 병목 현상 해소 및 보안 중심의 전문 민원 응대 체계 요구</a:t>
            </a:r>
            <a:endParaRPr lang="en-US" altLang="ko-KR" sz="15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B24364E-7E89-875B-8AC7-2471D5558600}"/>
              </a:ext>
            </a:extLst>
          </p:cNvPr>
          <p:cNvSpPr/>
          <p:nvPr/>
        </p:nvSpPr>
        <p:spPr>
          <a:xfrm>
            <a:off x="8147105" y="2042250"/>
            <a:ext cx="3284728" cy="2246764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위쪽 모서리 51">
            <a:extLst>
              <a:ext uri="{FF2B5EF4-FFF2-40B4-BE49-F238E27FC236}">
                <a16:creationId xmlns:a16="http://schemas.microsoft.com/office/drawing/2014/main" id="{0286EDA2-F084-EA1E-A722-667ADDB1B070}"/>
              </a:ext>
            </a:extLst>
          </p:cNvPr>
          <p:cNvSpPr/>
          <p:nvPr/>
        </p:nvSpPr>
        <p:spPr>
          <a:xfrm flipV="1">
            <a:off x="8370334" y="2042249"/>
            <a:ext cx="1319708" cy="369332"/>
          </a:xfrm>
          <a:prstGeom prst="round2Same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F01101-1D60-823A-882F-24A07E181D7F}"/>
              </a:ext>
            </a:extLst>
          </p:cNvPr>
          <p:cNvSpPr txBox="1"/>
          <p:nvPr/>
        </p:nvSpPr>
        <p:spPr>
          <a:xfrm>
            <a:off x="8400037" y="2057638"/>
            <a:ext cx="1260302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개요 </a:t>
            </a:r>
            <a:r>
              <a:rPr lang="en-US" altLang="ko-KR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95AB37-5C18-C5F2-C2BE-2DCC8B183FA4}"/>
              </a:ext>
            </a:extLst>
          </p:cNvPr>
          <p:cNvSpPr txBox="1"/>
          <p:nvPr/>
        </p:nvSpPr>
        <p:spPr>
          <a:xfrm>
            <a:off x="8370334" y="2650213"/>
            <a:ext cx="1756892" cy="40011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00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기획 목적</a:t>
            </a:r>
            <a:endParaRPr lang="en-US" altLang="ko-KR" sz="20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5883D8A-8C1D-EE66-51E6-7F0D5EB5FF13}"/>
              </a:ext>
            </a:extLst>
          </p:cNvPr>
          <p:cNvCxnSpPr>
            <a:cxnSpLocks/>
          </p:cNvCxnSpPr>
          <p:nvPr/>
        </p:nvCxnSpPr>
        <p:spPr>
          <a:xfrm>
            <a:off x="8442477" y="3169639"/>
            <a:ext cx="2693985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43735B0-7A5F-095B-8E26-43F710B00F70}"/>
              </a:ext>
            </a:extLst>
          </p:cNvPr>
          <p:cNvSpPr txBox="1"/>
          <p:nvPr/>
        </p:nvSpPr>
        <p:spPr>
          <a:xfrm>
            <a:off x="8400036" y="3288955"/>
            <a:ext cx="2736425" cy="78483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ko-KR" altLang="en-US" dirty="0"/>
              <a:t>환자 중심 서비스 접근성</a:t>
            </a:r>
            <a:r>
              <a:rPr lang="en-US" altLang="ko-KR" dirty="0"/>
              <a:t>•</a:t>
            </a:r>
            <a:r>
              <a:rPr lang="ko-KR" altLang="en-US" dirty="0"/>
              <a:t>편의성 강화 및 고도화된 보안 기반 행정 최적화</a:t>
            </a:r>
            <a:endParaRPr lang="en-US" altLang="ko-KR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92224246-64F2-58E8-75F3-B99DCB747CD6}"/>
              </a:ext>
            </a:extLst>
          </p:cNvPr>
          <p:cNvSpPr/>
          <p:nvPr/>
        </p:nvSpPr>
        <p:spPr>
          <a:xfrm>
            <a:off x="760167" y="4933202"/>
            <a:ext cx="10671666" cy="1352517"/>
          </a:xfrm>
          <a:prstGeom prst="roundRect">
            <a:avLst>
              <a:gd name="adj" fmla="val 5993"/>
            </a:avLst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5BAA"/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0FD0557-94A2-57EE-27B5-73E2CF8823A6}"/>
              </a:ext>
            </a:extLst>
          </p:cNvPr>
          <p:cNvGrpSpPr/>
          <p:nvPr/>
        </p:nvGrpSpPr>
        <p:grpSpPr>
          <a:xfrm>
            <a:off x="2213406" y="4176652"/>
            <a:ext cx="234000" cy="234000"/>
            <a:chOff x="2213406" y="4380547"/>
            <a:chExt cx="234000" cy="234000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D10AF507-7A1F-8F08-DDDB-CEA944725F11}"/>
                </a:ext>
              </a:extLst>
            </p:cNvPr>
            <p:cNvSpPr/>
            <p:nvPr/>
          </p:nvSpPr>
          <p:spPr>
            <a:xfrm>
              <a:off x="2213406" y="4380547"/>
              <a:ext cx="234000" cy="234000"/>
            </a:xfrm>
            <a:prstGeom prst="ellipse">
              <a:avLst/>
            </a:prstGeom>
            <a:solidFill>
              <a:srgbClr val="005BA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D6FD5E72-4657-81B8-2D10-03437327C4B6}"/>
                </a:ext>
              </a:extLst>
            </p:cNvPr>
            <p:cNvSpPr/>
            <p:nvPr/>
          </p:nvSpPr>
          <p:spPr>
            <a:xfrm>
              <a:off x="2294406" y="4461547"/>
              <a:ext cx="72000" cy="72000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0A6544D-4B08-07DA-C028-1480EF075CEE}"/>
              </a:ext>
            </a:extLst>
          </p:cNvPr>
          <p:cNvGrpSpPr/>
          <p:nvPr/>
        </p:nvGrpSpPr>
        <p:grpSpPr>
          <a:xfrm>
            <a:off x="5979000" y="4176652"/>
            <a:ext cx="234000" cy="234000"/>
            <a:chOff x="2213406" y="4380547"/>
            <a:chExt cx="234000" cy="234000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7723DBAE-3CFF-8B1E-9A8F-71AF80BB823C}"/>
                </a:ext>
              </a:extLst>
            </p:cNvPr>
            <p:cNvSpPr/>
            <p:nvPr/>
          </p:nvSpPr>
          <p:spPr>
            <a:xfrm>
              <a:off x="2213406" y="4380547"/>
              <a:ext cx="234000" cy="234000"/>
            </a:xfrm>
            <a:prstGeom prst="ellipse">
              <a:avLst/>
            </a:prstGeom>
            <a:solidFill>
              <a:srgbClr val="005BA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0BD783AA-01DE-E410-BBC9-2E83D83BCAE2}"/>
                </a:ext>
              </a:extLst>
            </p:cNvPr>
            <p:cNvSpPr/>
            <p:nvPr/>
          </p:nvSpPr>
          <p:spPr>
            <a:xfrm>
              <a:off x="2294406" y="4461547"/>
              <a:ext cx="72000" cy="72000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BF39AFE-A166-E0A6-9692-13E32933492D}"/>
              </a:ext>
            </a:extLst>
          </p:cNvPr>
          <p:cNvGrpSpPr/>
          <p:nvPr/>
        </p:nvGrpSpPr>
        <p:grpSpPr>
          <a:xfrm>
            <a:off x="9738346" y="4176652"/>
            <a:ext cx="234000" cy="234000"/>
            <a:chOff x="2213406" y="4380547"/>
            <a:chExt cx="234000" cy="234000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5888573E-8318-67F2-8AD2-043E46FF6BF0}"/>
                </a:ext>
              </a:extLst>
            </p:cNvPr>
            <p:cNvSpPr/>
            <p:nvPr/>
          </p:nvSpPr>
          <p:spPr>
            <a:xfrm>
              <a:off x="2213406" y="4380547"/>
              <a:ext cx="234000" cy="234000"/>
            </a:xfrm>
            <a:prstGeom prst="ellipse">
              <a:avLst/>
            </a:prstGeom>
            <a:solidFill>
              <a:srgbClr val="005BA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B866DEF-02BF-5911-6182-F65BACFF4CA9}"/>
                </a:ext>
              </a:extLst>
            </p:cNvPr>
            <p:cNvSpPr/>
            <p:nvPr/>
          </p:nvSpPr>
          <p:spPr>
            <a:xfrm>
              <a:off x="2294406" y="4461547"/>
              <a:ext cx="72000" cy="72000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0" name="왼쪽 대괄호 69">
            <a:extLst>
              <a:ext uri="{FF2B5EF4-FFF2-40B4-BE49-F238E27FC236}">
                <a16:creationId xmlns:a16="http://schemas.microsoft.com/office/drawing/2014/main" id="{DFFA6799-4BB2-BC4F-6C06-5FCA8F059E95}"/>
              </a:ext>
            </a:extLst>
          </p:cNvPr>
          <p:cNvSpPr/>
          <p:nvPr/>
        </p:nvSpPr>
        <p:spPr>
          <a:xfrm rot="16200000">
            <a:off x="5995095" y="625135"/>
            <a:ext cx="194623" cy="7524000"/>
          </a:xfrm>
          <a:prstGeom prst="leftBracket">
            <a:avLst>
              <a:gd name="adj" fmla="val 210622"/>
            </a:avLst>
          </a:prstGeom>
          <a:ln>
            <a:solidFill>
              <a:srgbClr val="00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8E1EA30-7015-F37A-F85E-AE133FFE16D7}"/>
              </a:ext>
            </a:extLst>
          </p:cNvPr>
          <p:cNvCxnSpPr>
            <a:cxnSpLocks/>
            <a:stCxn id="66" idx="0"/>
          </p:cNvCxnSpPr>
          <p:nvPr/>
        </p:nvCxnSpPr>
        <p:spPr>
          <a:xfrm>
            <a:off x="6096000" y="4257652"/>
            <a:ext cx="0" cy="1072692"/>
          </a:xfrm>
          <a:prstGeom prst="line">
            <a:avLst/>
          </a:prstGeom>
          <a:ln>
            <a:solidFill>
              <a:srgbClr val="00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6E70110-7FE9-DEF0-DF2B-6DC3FE6572F4}"/>
              </a:ext>
            </a:extLst>
          </p:cNvPr>
          <p:cNvSpPr txBox="1"/>
          <p:nvPr/>
        </p:nvSpPr>
        <p:spPr>
          <a:xfrm>
            <a:off x="910944" y="5424794"/>
            <a:ext cx="1037014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1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“ OCR </a:t>
            </a:r>
            <a:r>
              <a:rPr lang="ko-KR" altLang="en-US" sz="21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기반 지능형 </a:t>
            </a:r>
            <a:r>
              <a:rPr lang="ko-KR" altLang="en-US" sz="2100" dirty="0" err="1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모빌리티와</a:t>
            </a:r>
            <a:r>
              <a:rPr lang="ko-KR" altLang="en-US" sz="21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체계적인 권한 보안이 조화된 통합 스마트 병원 시스템</a:t>
            </a:r>
            <a:r>
              <a:rPr lang="en-US" altLang="ko-KR" sz="21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”</a:t>
            </a:r>
            <a:endParaRPr lang="ko-KR" altLang="en-US" sz="21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CA4DFE-B420-E103-E231-BC5473D9DEA9}"/>
              </a:ext>
            </a:extLst>
          </p:cNvPr>
          <p:cNvSpPr txBox="1"/>
          <p:nvPr/>
        </p:nvSpPr>
        <p:spPr>
          <a:xfrm>
            <a:off x="1352242" y="440494"/>
            <a:ext cx="2853983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프로젝트 개요 </a:t>
            </a:r>
          </a:p>
        </p:txBody>
      </p:sp>
      <p:sp>
        <p:nvSpPr>
          <p:cNvPr id="79" name="화살표: 오각형 78">
            <a:extLst>
              <a:ext uri="{FF2B5EF4-FFF2-40B4-BE49-F238E27FC236}">
                <a16:creationId xmlns:a16="http://schemas.microsoft.com/office/drawing/2014/main" id="{31689ED6-24CC-23A1-1E7A-2E3738DD3EE7}"/>
              </a:ext>
            </a:extLst>
          </p:cNvPr>
          <p:cNvSpPr/>
          <p:nvPr/>
        </p:nvSpPr>
        <p:spPr>
          <a:xfrm rot="5400000">
            <a:off x="181862" y="583565"/>
            <a:ext cx="1543662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14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화살표: 오각형 56">
            <a:extLst>
              <a:ext uri="{FF2B5EF4-FFF2-40B4-BE49-F238E27FC236}">
                <a16:creationId xmlns:a16="http://schemas.microsoft.com/office/drawing/2014/main" id="{18ED55FE-27F4-5718-7A58-7DB0FA576B45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F73035-99FB-8F6E-C8A0-F7FB72B67B1F}"/>
              </a:ext>
            </a:extLst>
          </p:cNvPr>
          <p:cNvSpPr txBox="1"/>
          <p:nvPr/>
        </p:nvSpPr>
        <p:spPr>
          <a:xfrm>
            <a:off x="1395362" y="1318328"/>
            <a:ext cx="2143471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주요 기능 및 운영 로직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8EF729-3948-983C-AF70-BFC02C59D88F}"/>
              </a:ext>
            </a:extLst>
          </p:cNvPr>
          <p:cNvSpPr txBox="1"/>
          <p:nvPr/>
        </p:nvSpPr>
        <p:spPr>
          <a:xfrm>
            <a:off x="1352242" y="716672"/>
            <a:ext cx="3967009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프로젝트 주요 기능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A922D-FBA4-9A62-2114-0D8CF0B84F2B}"/>
              </a:ext>
            </a:extLst>
          </p:cNvPr>
          <p:cNvSpPr txBox="1"/>
          <p:nvPr/>
        </p:nvSpPr>
        <p:spPr>
          <a:xfrm>
            <a:off x="212489" y="4121089"/>
            <a:ext cx="2789911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OCR </a:t>
            </a:r>
            <a:r>
              <a:rPr lang="ko-KR" altLang="en-US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엔진 기반의</a:t>
            </a:r>
            <a:endParaRPr lang="en-US" altLang="ko-KR" dirty="0">
              <a:solidFill>
                <a:srgbClr val="333333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  <a:p>
            <a:pPr algn="ctr"/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실시간 차량 번호 자동 판독</a:t>
            </a:r>
            <a:endParaRPr lang="en-US" altLang="ko-KR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44F8119-7849-6D71-1BCD-45FDCCD7A65C}"/>
              </a:ext>
            </a:extLst>
          </p:cNvPr>
          <p:cNvSpPr/>
          <p:nvPr/>
        </p:nvSpPr>
        <p:spPr>
          <a:xfrm>
            <a:off x="307669" y="4981031"/>
            <a:ext cx="2604696" cy="1177863"/>
          </a:xfrm>
          <a:prstGeom prst="roundRect">
            <a:avLst>
              <a:gd name="adj" fmla="val 5993"/>
            </a:avLst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AE7245-A799-57C9-DB7F-3ADCBA1D4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13" b="6822"/>
          <a:stretch/>
        </p:blipFill>
        <p:spPr>
          <a:xfrm>
            <a:off x="750527" y="2297395"/>
            <a:ext cx="1718979" cy="1276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00226-DD14-9D76-03CE-178AEF62D434}"/>
              </a:ext>
            </a:extLst>
          </p:cNvPr>
          <p:cNvSpPr txBox="1"/>
          <p:nvPr/>
        </p:nvSpPr>
        <p:spPr>
          <a:xfrm>
            <a:off x="602151" y="3843922"/>
            <a:ext cx="2015733" cy="27716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LICENSE PLATE OCR</a:t>
            </a:r>
            <a:endParaRPr lang="en-US" altLang="ko-KR" sz="1000" dirty="0">
              <a:solidFill>
                <a:srgbClr val="33333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8E9D8-0542-DE60-9363-2A05430ECBF6}"/>
              </a:ext>
            </a:extLst>
          </p:cNvPr>
          <p:cNvSpPr txBox="1"/>
          <p:nvPr/>
        </p:nvSpPr>
        <p:spPr>
          <a:xfrm>
            <a:off x="441990" y="5212172"/>
            <a:ext cx="2330907" cy="715581"/>
          </a:xfrm>
          <a:prstGeom prst="rect">
            <a:avLst/>
          </a:prstGeom>
          <a:noFill/>
        </p:spPr>
        <p:txBody>
          <a:bodyPr wrap="square" lIns="72000" rIns="0" spcCol="216000" rtlCol="0" anchor="ctr" anchorCtr="0">
            <a:spAutoFit/>
          </a:bodyPr>
          <a:lstStyle/>
          <a:p>
            <a:pPr algn="ctr"/>
            <a:r>
              <a:rPr lang="en-US" altLang="ko-KR" sz="135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Java OCR </a:t>
            </a:r>
            <a:r>
              <a:rPr lang="ko-KR" altLang="en-US" sz="135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라이브러리를 활용한 </a:t>
            </a:r>
            <a:r>
              <a:rPr lang="ko-KR" altLang="en-US" sz="1350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고정밀</a:t>
            </a:r>
            <a:r>
              <a:rPr lang="ko-KR" altLang="en-US" sz="135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이미지 분석으로 입</a:t>
            </a:r>
            <a:r>
              <a:rPr lang="en-US" altLang="ko-KR" sz="135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•</a:t>
            </a:r>
            <a:r>
              <a:rPr lang="ko-KR" altLang="en-US" sz="1350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출차</a:t>
            </a:r>
            <a:r>
              <a:rPr lang="ko-KR" altLang="en-US" sz="135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완전 자동화 실현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38B0B8-DB6D-A40E-BDFD-225963157620}"/>
              </a:ext>
            </a:extLst>
          </p:cNvPr>
          <p:cNvSpPr txBox="1"/>
          <p:nvPr/>
        </p:nvSpPr>
        <p:spPr>
          <a:xfrm>
            <a:off x="3463816" y="4121089"/>
            <a:ext cx="2399541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알고리즘 기반 지능형 주차 구역 </a:t>
            </a:r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자동 매핑</a:t>
            </a:r>
            <a:endParaRPr lang="en-US" altLang="ko-KR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6448F6D-0260-9EC9-9A1D-2DC848343B5D}"/>
              </a:ext>
            </a:extLst>
          </p:cNvPr>
          <p:cNvSpPr/>
          <p:nvPr/>
        </p:nvSpPr>
        <p:spPr>
          <a:xfrm>
            <a:off x="3239675" y="4981031"/>
            <a:ext cx="2604696" cy="1177863"/>
          </a:xfrm>
          <a:prstGeom prst="roundRect">
            <a:avLst>
              <a:gd name="adj" fmla="val 5993"/>
            </a:avLst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6BEBA66-3B9E-70AF-F40E-DB148E5EF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47" b="18447"/>
          <a:stretch/>
        </p:blipFill>
        <p:spPr>
          <a:xfrm>
            <a:off x="3682534" y="2160152"/>
            <a:ext cx="1718979" cy="127691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BA7751C-E91C-9EEB-0FE3-240AE94BDC05}"/>
              </a:ext>
            </a:extLst>
          </p:cNvPr>
          <p:cNvSpPr txBox="1"/>
          <p:nvPr/>
        </p:nvSpPr>
        <p:spPr>
          <a:xfrm>
            <a:off x="3386916" y="3843922"/>
            <a:ext cx="2310215" cy="27716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AUTO PARKING MAPPING</a:t>
            </a:r>
            <a:endParaRPr lang="en-US" altLang="ko-KR" sz="1000" dirty="0">
              <a:solidFill>
                <a:srgbClr val="33333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8FA4BF-42AA-AACB-ABBD-0D63A05C5023}"/>
              </a:ext>
            </a:extLst>
          </p:cNvPr>
          <p:cNvSpPr txBox="1"/>
          <p:nvPr/>
        </p:nvSpPr>
        <p:spPr>
          <a:xfrm>
            <a:off x="3376550" y="5212172"/>
            <a:ext cx="2330946" cy="715581"/>
          </a:xfrm>
          <a:prstGeom prst="rect">
            <a:avLst/>
          </a:prstGeom>
          <a:noFill/>
        </p:spPr>
        <p:txBody>
          <a:bodyPr wrap="square" lIns="72000" rIns="0" spcCol="216000" rtlCol="0" anchor="ctr" anchorCtr="0">
            <a:spAutoFit/>
          </a:bodyPr>
          <a:lstStyle/>
          <a:p>
            <a:pPr algn="ctr"/>
            <a:r>
              <a:rPr lang="ko-KR" altLang="en-US" sz="135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입구 최단 거리 및 실시간 잔여 구역 데이터를 분석하여 이용객별 최적 주차 위치 자동 배정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644D796-2033-A811-04C6-83CDC418D8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1" b="4541"/>
          <a:stretch/>
        </p:blipFill>
        <p:spPr>
          <a:xfrm>
            <a:off x="9657149" y="1778558"/>
            <a:ext cx="1652182" cy="17681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267E3FE-22E5-B977-0879-39983424648A}"/>
              </a:ext>
            </a:extLst>
          </p:cNvPr>
          <p:cNvSpPr txBox="1"/>
          <p:nvPr/>
        </p:nvSpPr>
        <p:spPr>
          <a:xfrm>
            <a:off x="9130787" y="4219129"/>
            <a:ext cx="2786967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계층별 접근 제어</a:t>
            </a:r>
            <a:r>
              <a:rPr lang="ko-KR" altLang="en-US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를 적용한 </a:t>
            </a:r>
            <a:r>
              <a:rPr lang="en-US" altLang="ko-KR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VOC </a:t>
            </a:r>
            <a:r>
              <a:rPr lang="ko-KR" altLang="en-US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통합 관리</a:t>
            </a:r>
            <a:endParaRPr lang="en-US" altLang="ko-KR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3F2DE43-F24E-508A-ADBB-9F4725B25C74}"/>
              </a:ext>
            </a:extLst>
          </p:cNvPr>
          <p:cNvSpPr/>
          <p:nvPr/>
        </p:nvSpPr>
        <p:spPr>
          <a:xfrm>
            <a:off x="9180892" y="4981031"/>
            <a:ext cx="2604696" cy="1177863"/>
          </a:xfrm>
          <a:prstGeom prst="roundRect">
            <a:avLst>
              <a:gd name="adj" fmla="val 5993"/>
            </a:avLst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9E9D52-9A52-FCBE-9049-CAC0D82476E9}"/>
              </a:ext>
            </a:extLst>
          </p:cNvPr>
          <p:cNvSpPr txBox="1"/>
          <p:nvPr/>
        </p:nvSpPr>
        <p:spPr>
          <a:xfrm>
            <a:off x="9082149" y="3843922"/>
            <a:ext cx="2802182" cy="27716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ROLE-BASED VOC MANAGEMENT</a:t>
            </a:r>
            <a:endParaRPr lang="en-US" altLang="ko-KR" sz="1000" dirty="0">
              <a:solidFill>
                <a:srgbClr val="33333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96CC033-36C1-9AD3-0860-7AB741A323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" t="12390" r="2338" b="21001"/>
          <a:stretch/>
        </p:blipFill>
        <p:spPr>
          <a:xfrm>
            <a:off x="6795723" y="2266517"/>
            <a:ext cx="1308956" cy="107665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9ADC2C8-12CA-76F9-CCDB-728BC26BF80C}"/>
              </a:ext>
            </a:extLst>
          </p:cNvPr>
          <p:cNvSpPr txBox="1"/>
          <p:nvPr/>
        </p:nvSpPr>
        <p:spPr>
          <a:xfrm>
            <a:off x="6284046" y="4121089"/>
            <a:ext cx="2487490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진료 데이터 연동 기반의 </a:t>
            </a:r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통합 예약 시스템</a:t>
            </a:r>
            <a:endParaRPr lang="en-US" altLang="ko-KR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190AD81-1A01-9AB4-7BE0-A9C9A5104E22}"/>
              </a:ext>
            </a:extLst>
          </p:cNvPr>
          <p:cNvSpPr/>
          <p:nvPr/>
        </p:nvSpPr>
        <p:spPr>
          <a:xfrm>
            <a:off x="6147852" y="4981031"/>
            <a:ext cx="2604696" cy="1177863"/>
          </a:xfrm>
          <a:prstGeom prst="roundRect">
            <a:avLst>
              <a:gd name="adj" fmla="val 5993"/>
            </a:avLst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E94AF4-794A-F0D6-6A59-C1421CFF0798}"/>
              </a:ext>
            </a:extLst>
          </p:cNvPr>
          <p:cNvSpPr txBox="1"/>
          <p:nvPr/>
        </p:nvSpPr>
        <p:spPr>
          <a:xfrm>
            <a:off x="6442334" y="3843922"/>
            <a:ext cx="2015733" cy="27716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RESERVATION SYSTEM</a:t>
            </a:r>
            <a:endParaRPr lang="en-US" altLang="ko-KR" sz="1000" dirty="0">
              <a:solidFill>
                <a:srgbClr val="33333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B8C37F-B343-3172-7C84-337E9BA006D0}"/>
              </a:ext>
            </a:extLst>
          </p:cNvPr>
          <p:cNvSpPr txBox="1"/>
          <p:nvPr/>
        </p:nvSpPr>
        <p:spPr>
          <a:xfrm>
            <a:off x="6171681" y="5242104"/>
            <a:ext cx="2329202" cy="715581"/>
          </a:xfrm>
          <a:prstGeom prst="rect">
            <a:avLst/>
          </a:prstGeom>
          <a:noFill/>
        </p:spPr>
        <p:txBody>
          <a:bodyPr wrap="square" lIns="72000" rIns="0" spcCol="216000" rtlCol="0" anchor="ctr" anchorCtr="0">
            <a:spAutoFit/>
          </a:bodyPr>
          <a:lstStyle/>
          <a:p>
            <a:pPr algn="ctr"/>
            <a:r>
              <a:rPr lang="ko-KR" altLang="en-US" sz="135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중복 예약 방지 및 예약 상태에 따른 정산 요금 세분화 체계</a:t>
            </a:r>
            <a:endParaRPr lang="en-US" altLang="ko-KR" sz="135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35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구축으로 진료 환경 최적화</a:t>
            </a:r>
            <a:endParaRPr lang="en-US" altLang="ko-KR" sz="135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8AAF21-EEFB-9234-FD05-B3E551D7963B}"/>
              </a:ext>
            </a:extLst>
          </p:cNvPr>
          <p:cNvSpPr txBox="1"/>
          <p:nvPr/>
        </p:nvSpPr>
        <p:spPr>
          <a:xfrm>
            <a:off x="9180892" y="5234506"/>
            <a:ext cx="2604696" cy="715581"/>
          </a:xfrm>
          <a:prstGeom prst="rect">
            <a:avLst/>
          </a:prstGeom>
          <a:noFill/>
        </p:spPr>
        <p:txBody>
          <a:bodyPr wrap="square" lIns="72000" rIns="0" spcCol="216000" rtlCol="0" anchor="ctr" anchorCtr="0">
            <a:spAutoFit/>
          </a:bodyPr>
          <a:lstStyle/>
          <a:p>
            <a:pPr algn="ctr"/>
            <a:r>
              <a:rPr lang="ko-KR" altLang="en-US" sz="135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직무별 권한 매트릭스 설계로 환자 개인정보 보호 및 전문 답변 체계 기반의 운영 효율성 강화</a:t>
            </a:r>
            <a:endParaRPr lang="en-US" altLang="ko-KR" sz="135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61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1603-F54F-7AED-1475-F3C0FA01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EC2E9C90-6F34-4D9F-508E-207FA9653D75}"/>
              </a:ext>
            </a:extLst>
          </p:cNvPr>
          <p:cNvSpPr txBox="1"/>
          <p:nvPr/>
        </p:nvSpPr>
        <p:spPr>
          <a:xfrm>
            <a:off x="1395362" y="1318328"/>
            <a:ext cx="4879314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사용자 그룹별 권한 할당을 통한 데이터 보안 및 </a:t>
            </a:r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업무 최적화</a:t>
            </a:r>
            <a:endParaRPr lang="en-US" altLang="ko-KR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3509F3-0C67-075D-7DF4-8AEA96548FAD}"/>
              </a:ext>
            </a:extLst>
          </p:cNvPr>
          <p:cNvSpPr txBox="1"/>
          <p:nvPr/>
        </p:nvSpPr>
        <p:spPr>
          <a:xfrm>
            <a:off x="1352242" y="716672"/>
            <a:ext cx="5080089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사용자별 핵심 기능 권한</a:t>
            </a: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51DC187B-A42F-C447-5CCC-15CE95D92F66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BE36D4F-4890-159D-6EE5-56DD53ED8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590894"/>
              </p:ext>
            </p:extLst>
          </p:nvPr>
        </p:nvGraphicFramePr>
        <p:xfrm>
          <a:off x="769475" y="1952467"/>
          <a:ext cx="10653051" cy="439956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96527">
                  <a:extLst>
                    <a:ext uri="{9D8B030D-6E8A-4147-A177-3AD203B41FA5}">
                      <a16:colId xmlns:a16="http://schemas.microsoft.com/office/drawing/2014/main" val="1767049689"/>
                    </a:ext>
                  </a:extLst>
                </a:gridCol>
                <a:gridCol w="1989131">
                  <a:extLst>
                    <a:ext uri="{9D8B030D-6E8A-4147-A177-3AD203B41FA5}">
                      <a16:colId xmlns:a16="http://schemas.microsoft.com/office/drawing/2014/main" val="1152785699"/>
                    </a:ext>
                  </a:extLst>
                </a:gridCol>
                <a:gridCol w="1989131">
                  <a:extLst>
                    <a:ext uri="{9D8B030D-6E8A-4147-A177-3AD203B41FA5}">
                      <a16:colId xmlns:a16="http://schemas.microsoft.com/office/drawing/2014/main" val="270163099"/>
                    </a:ext>
                  </a:extLst>
                </a:gridCol>
                <a:gridCol w="1989131">
                  <a:extLst>
                    <a:ext uri="{9D8B030D-6E8A-4147-A177-3AD203B41FA5}">
                      <a16:colId xmlns:a16="http://schemas.microsoft.com/office/drawing/2014/main" val="3655236872"/>
                    </a:ext>
                  </a:extLst>
                </a:gridCol>
                <a:gridCol w="1989131">
                  <a:extLst>
                    <a:ext uri="{9D8B030D-6E8A-4147-A177-3AD203B41FA5}">
                      <a16:colId xmlns:a16="http://schemas.microsoft.com/office/drawing/2014/main" val="551503763"/>
                    </a:ext>
                  </a:extLst>
                </a:gridCol>
              </a:tblGrid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기능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일반회원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의료진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행정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-</a:t>
                      </a:r>
                      <a:r>
                        <a:rPr lang="ko-KR" altLang="en-US" sz="20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원무팀</a:t>
                      </a:r>
                      <a:endParaRPr lang="ko-KR" altLang="en-US" sz="20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행정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-</a:t>
                      </a:r>
                      <a:r>
                        <a:rPr lang="ko-KR" altLang="en-US" sz="20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홍보팀</a:t>
                      </a:r>
                      <a:endParaRPr lang="ko-KR" altLang="en-US" sz="20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148256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차량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CRUD</a:t>
                      </a:r>
                      <a:endParaRPr lang="ko-KR" altLang="en-US" sz="1800" b="1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302638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진료예약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CRUD</a:t>
                      </a:r>
                      <a:endParaRPr lang="ko-KR" altLang="en-US" sz="1800" b="1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112450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진료예약 강제삭제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446988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VOC </a:t>
                      </a:r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작성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O</a:t>
                      </a:r>
                      <a:endParaRPr lang="ko-KR" altLang="en-US" sz="2000" kern="12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425716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VOC </a:t>
                      </a:r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답변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| </a:t>
                      </a:r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강제삭제 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52974"/>
                  </a:ext>
                </a:extLst>
              </a:tr>
              <a:tr h="730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공지사항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|  FAQ</a:t>
                      </a:r>
                    </a:p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CRUD</a:t>
                      </a:r>
                      <a:endParaRPr lang="ko-KR" altLang="en-US" sz="1800" b="1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065497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건강이야기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CRUD</a:t>
                      </a:r>
                      <a:endParaRPr lang="ko-KR" altLang="en-US" sz="1800" b="1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361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28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5FA5-E28D-1725-DAF3-1578B16C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D4234F4-9EA0-14D8-EA7D-4EC98318E8E7}"/>
              </a:ext>
            </a:extLst>
          </p:cNvPr>
          <p:cNvSpPr/>
          <p:nvPr/>
        </p:nvSpPr>
        <p:spPr>
          <a:xfrm>
            <a:off x="747629" y="1919171"/>
            <a:ext cx="2518758" cy="2489671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B4882B-6E95-5313-E733-D3ECE26DBD16}"/>
              </a:ext>
            </a:extLst>
          </p:cNvPr>
          <p:cNvSpPr/>
          <p:nvPr/>
        </p:nvSpPr>
        <p:spPr>
          <a:xfrm>
            <a:off x="4744619" y="1919171"/>
            <a:ext cx="2518758" cy="1665951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AF2A13-F3A7-C51F-3D4F-7A64CA0E7839}"/>
              </a:ext>
            </a:extLst>
          </p:cNvPr>
          <p:cNvSpPr/>
          <p:nvPr/>
        </p:nvSpPr>
        <p:spPr>
          <a:xfrm>
            <a:off x="8534219" y="1919170"/>
            <a:ext cx="2518758" cy="1665949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0806E75-16D6-BE76-EC6F-7BF4F9396581}"/>
              </a:ext>
            </a:extLst>
          </p:cNvPr>
          <p:cNvSpPr/>
          <p:nvPr/>
        </p:nvSpPr>
        <p:spPr>
          <a:xfrm>
            <a:off x="4744619" y="4091442"/>
            <a:ext cx="2518758" cy="2489671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2D7E4CA-2A9F-A530-554E-72FED70D42D8}"/>
              </a:ext>
            </a:extLst>
          </p:cNvPr>
          <p:cNvSpPr/>
          <p:nvPr/>
        </p:nvSpPr>
        <p:spPr>
          <a:xfrm>
            <a:off x="8534219" y="4536207"/>
            <a:ext cx="2518758" cy="1437096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20040-ADC7-A092-9FF3-CA0FE4C6F112}"/>
              </a:ext>
            </a:extLst>
          </p:cNvPr>
          <p:cNvSpPr txBox="1"/>
          <p:nvPr/>
        </p:nvSpPr>
        <p:spPr>
          <a:xfrm>
            <a:off x="8604457" y="4306424"/>
            <a:ext cx="2378281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OCR Test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030" name="Picture 6" descr="Spring Boot (symbol) logo">
            <a:extLst>
              <a:ext uri="{FF2B5EF4-FFF2-40B4-BE49-F238E27FC236}">
                <a16:creationId xmlns:a16="http://schemas.microsoft.com/office/drawing/2014/main" id="{1DDFCEEB-8A95-D45E-9C4A-F0414A861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872" y="2545893"/>
            <a:ext cx="617273" cy="61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D282E50-47E1-78DE-C80F-148C0BB16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176" y="3669275"/>
            <a:ext cx="551958" cy="54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666213D-BE25-784F-875D-2244E62A8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400" y="3109393"/>
            <a:ext cx="1228691" cy="31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7C21305-3E6A-946A-315E-B6E4E6AA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043" y="2356698"/>
            <a:ext cx="620078" cy="63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5BDBEFF8-648D-8DAD-416E-647787AED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539" y="4854125"/>
            <a:ext cx="1228690" cy="37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8768799F-3FC3-4ED3-D5C0-18FF66B93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458" y="5385335"/>
            <a:ext cx="1428853" cy="40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EBB9203-F39F-6FC0-EE71-74C8E3020CBA}"/>
              </a:ext>
            </a:extLst>
          </p:cNvPr>
          <p:cNvCxnSpPr>
            <a:cxnSpLocks/>
          </p:cNvCxnSpPr>
          <p:nvPr/>
        </p:nvCxnSpPr>
        <p:spPr>
          <a:xfrm>
            <a:off x="3528638" y="2898712"/>
            <a:ext cx="9537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B4ABFC-5039-AA9A-7626-03B75A16E251}"/>
              </a:ext>
            </a:extLst>
          </p:cNvPr>
          <p:cNvCxnSpPr>
            <a:cxnSpLocks/>
          </p:cNvCxnSpPr>
          <p:nvPr/>
        </p:nvCxnSpPr>
        <p:spPr>
          <a:xfrm>
            <a:off x="7415797" y="2849561"/>
            <a:ext cx="9537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F80BC14-CC2A-803B-C337-2145F1B46674}"/>
              </a:ext>
            </a:extLst>
          </p:cNvPr>
          <p:cNvCxnSpPr>
            <a:cxnSpLocks/>
          </p:cNvCxnSpPr>
          <p:nvPr/>
        </p:nvCxnSpPr>
        <p:spPr>
          <a:xfrm>
            <a:off x="5997916" y="3636004"/>
            <a:ext cx="0" cy="4281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11D1514-6BFD-A1A7-E98D-71414092A5A2}"/>
              </a:ext>
            </a:extLst>
          </p:cNvPr>
          <p:cNvSpPr txBox="1"/>
          <p:nvPr/>
        </p:nvSpPr>
        <p:spPr>
          <a:xfrm>
            <a:off x="3318328" y="2437598"/>
            <a:ext cx="137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REST API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3E9544-A518-3A54-AD02-C059D6223C72}"/>
              </a:ext>
            </a:extLst>
          </p:cNvPr>
          <p:cNvSpPr txBox="1"/>
          <p:nvPr/>
        </p:nvSpPr>
        <p:spPr>
          <a:xfrm>
            <a:off x="7428070" y="2464472"/>
            <a:ext cx="961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JDBC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5BC43-C30C-A633-8155-A696939D7587}"/>
              </a:ext>
            </a:extLst>
          </p:cNvPr>
          <p:cNvSpPr txBox="1"/>
          <p:nvPr/>
        </p:nvSpPr>
        <p:spPr>
          <a:xfrm>
            <a:off x="6013911" y="3668156"/>
            <a:ext cx="77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JNA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FF8315E-A64B-A823-F23D-C503EF95AD2D}"/>
              </a:ext>
            </a:extLst>
          </p:cNvPr>
          <p:cNvCxnSpPr>
            <a:cxnSpLocks/>
          </p:cNvCxnSpPr>
          <p:nvPr/>
        </p:nvCxnSpPr>
        <p:spPr>
          <a:xfrm flipH="1">
            <a:off x="7252525" y="5392385"/>
            <a:ext cx="1117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505F80-91E7-13E8-3581-AE910CCB04B1}"/>
              </a:ext>
            </a:extLst>
          </p:cNvPr>
          <p:cNvSpPr txBox="1"/>
          <p:nvPr/>
        </p:nvSpPr>
        <p:spPr>
          <a:xfrm>
            <a:off x="7380285" y="5016003"/>
            <a:ext cx="77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JNA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F743E-53DF-68FB-AA62-63B3F848C72F}"/>
              </a:ext>
            </a:extLst>
          </p:cNvPr>
          <p:cNvSpPr txBox="1"/>
          <p:nvPr/>
        </p:nvSpPr>
        <p:spPr>
          <a:xfrm>
            <a:off x="1395362" y="1318328"/>
            <a:ext cx="3388060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시스템 아키텍처 및 모듈별 연동 기술 사양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26339-D5C3-B58D-595D-C939273E98C4}"/>
              </a:ext>
            </a:extLst>
          </p:cNvPr>
          <p:cNvSpPr txBox="1"/>
          <p:nvPr/>
        </p:nvSpPr>
        <p:spPr>
          <a:xfrm>
            <a:off x="1352242" y="716672"/>
            <a:ext cx="5227234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개발 스택</a:t>
            </a:r>
            <a:r>
              <a:rPr lang="en-US" altLang="ko-KR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(Tech Stack)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00CA0326-D1CA-7E3E-3529-AD39553E2A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919" y="2399565"/>
            <a:ext cx="1665902" cy="49914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93D8C88-32BB-08D5-E714-804C5F42A4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659" y="3618303"/>
            <a:ext cx="646174" cy="64617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365FB7F-5F6C-6CF9-6D65-36AA3DEBED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599" y="2365659"/>
            <a:ext cx="1004905" cy="100490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BBA525E-9F6E-FC3E-8DE8-8CB7A503E1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46" y="5463153"/>
            <a:ext cx="1471641" cy="65172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CBC9F35-9791-E9E1-9828-A7AB2A4929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39" b="34152"/>
          <a:stretch/>
        </p:blipFill>
        <p:spPr>
          <a:xfrm>
            <a:off x="4908823" y="4910462"/>
            <a:ext cx="1325995" cy="32539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9D89DA-C0AA-9787-2EB8-84A84B75C2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253" y="3040070"/>
            <a:ext cx="1653656" cy="41577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A970744-B9E4-6E75-4877-9A3FCE240B48}"/>
              </a:ext>
            </a:extLst>
          </p:cNvPr>
          <p:cNvSpPr txBox="1"/>
          <p:nvPr/>
        </p:nvSpPr>
        <p:spPr>
          <a:xfrm>
            <a:off x="5184659" y="4191786"/>
            <a:ext cx="1638677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OCR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C4C1F8-39E1-16AA-513F-B121B58AB3CF}"/>
              </a:ext>
            </a:extLst>
          </p:cNvPr>
          <p:cNvSpPr txBox="1"/>
          <p:nvPr/>
        </p:nvSpPr>
        <p:spPr>
          <a:xfrm>
            <a:off x="1096719" y="1810102"/>
            <a:ext cx="1820577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Front-end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E930F5-4384-9509-62B9-82A3B8575326}"/>
              </a:ext>
            </a:extLst>
          </p:cNvPr>
          <p:cNvSpPr txBox="1"/>
          <p:nvPr/>
        </p:nvSpPr>
        <p:spPr>
          <a:xfrm>
            <a:off x="5180407" y="1810102"/>
            <a:ext cx="1638676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Back-end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443C2E-2455-E806-DC0D-3EA66B295B72}"/>
              </a:ext>
            </a:extLst>
          </p:cNvPr>
          <p:cNvSpPr txBox="1"/>
          <p:nvPr/>
        </p:nvSpPr>
        <p:spPr>
          <a:xfrm>
            <a:off x="9114660" y="1810102"/>
            <a:ext cx="1541332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49" name="그래픽 48">
            <a:extLst>
              <a:ext uri="{FF2B5EF4-FFF2-40B4-BE49-F238E27FC236}">
                <a16:creationId xmlns:a16="http://schemas.microsoft.com/office/drawing/2014/main" id="{7549DA1D-3282-B2A3-6D3F-566BA475EDA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89591" y="4910462"/>
            <a:ext cx="624109" cy="1163287"/>
          </a:xfrm>
          <a:prstGeom prst="rect">
            <a:avLst/>
          </a:prstGeom>
        </p:spPr>
      </p:pic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05869D1C-9F6A-7EAD-84AD-AC9A7F712650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85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4B725-5AC5-1A6A-EBD5-C99972C042D3}"/>
              </a:ext>
            </a:extLst>
          </p:cNvPr>
          <p:cNvSpPr txBox="1"/>
          <p:nvPr/>
        </p:nvSpPr>
        <p:spPr>
          <a:xfrm>
            <a:off x="1352243" y="716672"/>
            <a:ext cx="127919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ERD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B8BDE-641F-51A3-2294-0993C238D06C}"/>
              </a:ext>
            </a:extLst>
          </p:cNvPr>
          <p:cNvSpPr txBox="1"/>
          <p:nvPr/>
        </p:nvSpPr>
        <p:spPr>
          <a:xfrm>
            <a:off x="1395362" y="1318328"/>
            <a:ext cx="3723176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유기적 서비스 연동을 위한 </a:t>
            </a:r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통합 데이터 모델링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40E072BB-7C92-9FC8-B9CB-FE9BA1A89FD6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A805270-0599-701C-A871-82200438F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32" y="1628510"/>
            <a:ext cx="11460735" cy="499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1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3F3909F-397D-EB89-AFD9-00AF46377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2" y="2115059"/>
            <a:ext cx="7105762" cy="33851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5239DA-2C31-F400-45F9-07AB74149884}"/>
              </a:ext>
            </a:extLst>
          </p:cNvPr>
          <p:cNvSpPr txBox="1"/>
          <p:nvPr/>
        </p:nvSpPr>
        <p:spPr>
          <a:xfrm>
            <a:off x="1352242" y="716672"/>
            <a:ext cx="313847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프로그램 시연</a:t>
            </a: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6FA38222-33B9-23AF-00E4-2EF8D515BD82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852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455DC8-BF25-57FB-B05A-3CCBA3CBEA1B}"/>
              </a:ext>
            </a:extLst>
          </p:cNvPr>
          <p:cNvSpPr txBox="1"/>
          <p:nvPr/>
        </p:nvSpPr>
        <p:spPr>
          <a:xfrm>
            <a:off x="1395362" y="1318328"/>
            <a:ext cx="5562486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기술 고도화 및 사업 영역 확대를 통한 스마트 시티 인프라 구축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D8096-8265-2F47-F7AC-385D16D7CFBA}"/>
              </a:ext>
            </a:extLst>
          </p:cNvPr>
          <p:cNvSpPr txBox="1"/>
          <p:nvPr/>
        </p:nvSpPr>
        <p:spPr>
          <a:xfrm>
            <a:off x="1352243" y="716672"/>
            <a:ext cx="358551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서비스 확장 계획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5163041-BAB8-F822-967E-FC373D188992}"/>
              </a:ext>
            </a:extLst>
          </p:cNvPr>
          <p:cNvSpPr/>
          <p:nvPr/>
        </p:nvSpPr>
        <p:spPr>
          <a:xfrm>
            <a:off x="13040470" y="1039837"/>
            <a:ext cx="2718937" cy="2729074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3AD40-821B-09CB-1948-9725A50487BC}"/>
              </a:ext>
            </a:extLst>
          </p:cNvPr>
          <p:cNvSpPr txBox="1"/>
          <p:nvPr/>
        </p:nvSpPr>
        <p:spPr>
          <a:xfrm>
            <a:off x="13040470" y="2250485"/>
            <a:ext cx="2615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기반 지능형 의료 행정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CE657-3AC6-660E-877F-08B4FB4D4890}"/>
              </a:ext>
            </a:extLst>
          </p:cNvPr>
          <p:cNvSpPr txBox="1"/>
          <p:nvPr/>
        </p:nvSpPr>
        <p:spPr>
          <a:xfrm>
            <a:off x="765423" y="2373596"/>
            <a:ext cx="2758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AI </a:t>
            </a:r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기</a:t>
            </a:r>
            <a:r>
              <a:rPr lang="ko-KR" altLang="en-US" sz="1800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반 차량 인식 고도화</a:t>
            </a:r>
            <a:endParaRPr lang="ko-KR" altLang="en-US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0E9F1F-865A-40FF-2AAA-CB7A517E3677}"/>
              </a:ext>
            </a:extLst>
          </p:cNvPr>
          <p:cNvSpPr txBox="1"/>
          <p:nvPr/>
        </p:nvSpPr>
        <p:spPr>
          <a:xfrm>
            <a:off x="837348" y="2742928"/>
            <a:ext cx="51095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Python YOLO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기반의 딥러닝 객체 탐지 모델 도입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기상 악화 및 야간 환경에서의 </a:t>
            </a:r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OCR 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인식 정밀도 개선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차량 궤적 추적</a:t>
            </a:r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(Object Tracking)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통한 주차 유도 자동화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678F2-9261-FFC7-5DC1-1ADC98E6A7DF}"/>
              </a:ext>
            </a:extLst>
          </p:cNvPr>
          <p:cNvSpPr txBox="1"/>
          <p:nvPr/>
        </p:nvSpPr>
        <p:spPr>
          <a:xfrm>
            <a:off x="503134" y="4186187"/>
            <a:ext cx="4043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E-Mobility </a:t>
            </a:r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연동형 스마트 파킹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752BB8-F7C2-2B7E-AD3B-6C74FC5F0A9C}"/>
              </a:ext>
            </a:extLst>
          </p:cNvPr>
          <p:cNvSpPr txBox="1"/>
          <p:nvPr/>
        </p:nvSpPr>
        <p:spPr>
          <a:xfrm>
            <a:off x="503134" y="4890782"/>
            <a:ext cx="44966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전기차</a:t>
            </a:r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(EV) 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충전 구역 자동 배정 및 점유 현황 관제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충전 시간과 주차 요금을 결합한 통합 정산 시스템 확장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IoT 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센서 연동을 통한 실시간 주차 시각화 대시보드 구축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75E317-8717-BE09-34F6-67FDAC6C887F}"/>
              </a:ext>
            </a:extLst>
          </p:cNvPr>
          <p:cNvSpPr txBox="1"/>
          <p:nvPr/>
        </p:nvSpPr>
        <p:spPr>
          <a:xfrm>
            <a:off x="12431342" y="3916035"/>
            <a:ext cx="4165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</a:t>
            </a:r>
            <a:r>
              <a:rPr lang="en-US" altLang="ko-KR" sz="12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•</a:t>
            </a:r>
            <a:r>
              <a:rPr lang="ko-KR" altLang="en-US" sz="12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퇴원 관리 시스템 통합을 통한 원스톱 병원 서비스 구현</a:t>
            </a:r>
            <a:endParaRPr lang="en-US" altLang="ko-KR" sz="12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응대 우선순위 및 응급 환자 최적 경로 예약 로직 고도화</a:t>
            </a:r>
            <a:endParaRPr lang="en-US" altLang="ko-KR" sz="12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환자 방문 이력 빅데이터 분석을 통한 맞춤형 헬스케어 제공</a:t>
            </a:r>
            <a:endParaRPr lang="en-US" altLang="ko-KR" sz="12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C0B1573-A3F7-8E7A-3738-C7D6B97A8BC9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385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6AD5759-CDAB-2FB6-FB11-7A3E8C8C2402}"/>
              </a:ext>
            </a:extLst>
          </p:cNvPr>
          <p:cNvGrpSpPr/>
          <p:nvPr/>
        </p:nvGrpSpPr>
        <p:grpSpPr>
          <a:xfrm>
            <a:off x="3221182" y="2522959"/>
            <a:ext cx="5749631" cy="1812083"/>
            <a:chOff x="3221182" y="2644170"/>
            <a:chExt cx="5749631" cy="181208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AD8207C-DAEB-8A27-C4CF-FEC4AA4681E2}"/>
                </a:ext>
              </a:extLst>
            </p:cNvPr>
            <p:cNvSpPr txBox="1"/>
            <p:nvPr/>
          </p:nvSpPr>
          <p:spPr>
            <a:xfrm>
              <a:off x="3221182" y="2644170"/>
              <a:ext cx="5749631" cy="1569659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 algn="ctr"/>
              <a:r>
                <a:rPr lang="en-US" altLang="ko-KR" sz="96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Q &amp; A</a:t>
              </a:r>
              <a:endParaRPr lang="ko-KR" altLang="en-US" sz="9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789B9FE-AAB5-3733-E507-E46F9B98BA31}"/>
                </a:ext>
              </a:extLst>
            </p:cNvPr>
            <p:cNvSpPr/>
            <p:nvPr/>
          </p:nvSpPr>
          <p:spPr>
            <a:xfrm>
              <a:off x="3578504" y="4213829"/>
              <a:ext cx="5034987" cy="242424"/>
            </a:xfrm>
            <a:prstGeom prst="rect">
              <a:avLst/>
            </a:prstGeom>
            <a:solidFill>
              <a:srgbClr val="FBB9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1571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563B8-2B14-2771-F290-75727C76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8C2AF975-B0CF-DF6B-33F5-500C21AE5827}"/>
              </a:ext>
            </a:extLst>
          </p:cNvPr>
          <p:cNvGrpSpPr/>
          <p:nvPr/>
        </p:nvGrpSpPr>
        <p:grpSpPr>
          <a:xfrm>
            <a:off x="2856501" y="2522959"/>
            <a:ext cx="6478999" cy="1812083"/>
            <a:chOff x="2856501" y="2644170"/>
            <a:chExt cx="6478999" cy="181208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3721DBE-280E-06F5-3542-E016FEE54D30}"/>
                </a:ext>
              </a:extLst>
            </p:cNvPr>
            <p:cNvSpPr txBox="1"/>
            <p:nvPr/>
          </p:nvSpPr>
          <p:spPr>
            <a:xfrm>
              <a:off x="2856501" y="2644170"/>
              <a:ext cx="6478999" cy="1569660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 algn="ctr"/>
              <a:r>
                <a:rPr lang="ko-KR" altLang="en-US" sz="9600" b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감사합니다</a:t>
              </a:r>
              <a:endParaRPr lang="ko-KR" altLang="en-US" sz="9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1FC04AB-A90A-B332-B365-AA5E53F459E5}"/>
                </a:ext>
              </a:extLst>
            </p:cNvPr>
            <p:cNvSpPr/>
            <p:nvPr/>
          </p:nvSpPr>
          <p:spPr>
            <a:xfrm>
              <a:off x="3578504" y="4213829"/>
              <a:ext cx="5034987" cy="242424"/>
            </a:xfrm>
            <a:prstGeom prst="rect">
              <a:avLst/>
            </a:prstGeom>
            <a:solidFill>
              <a:srgbClr val="FBB9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175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5BAA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5316</TotalTime>
  <Words>854</Words>
  <Application>Microsoft Office PowerPoint</Application>
  <PresentationFormat>와이드스크린</PresentationFormat>
  <Paragraphs>158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Google Sans Text</vt:lpstr>
      <vt:lpstr>G마켓 산스 TTF Bold</vt:lpstr>
      <vt:lpstr>G마켓 산스 TTF Light</vt:lpstr>
      <vt:lpstr>G마켓 산스 TTF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동현 임</dc:creator>
  <cp:lastModifiedBy>User</cp:lastModifiedBy>
  <cp:revision>211</cp:revision>
  <dcterms:created xsi:type="dcterms:W3CDTF">2026-02-13T09:15:51Z</dcterms:created>
  <dcterms:modified xsi:type="dcterms:W3CDTF">2026-02-20T01:27:11Z</dcterms:modified>
</cp:coreProperties>
</file>