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71" r:id="rId2"/>
    <p:sldId id="279" r:id="rId3"/>
    <p:sldId id="280" r:id="rId4"/>
    <p:sldId id="275" r:id="rId5"/>
    <p:sldId id="266" r:id="rId6"/>
    <p:sldId id="268" r:id="rId7"/>
    <p:sldId id="263" r:id="rId8"/>
    <p:sldId id="290" r:id="rId9"/>
    <p:sldId id="287" r:id="rId10"/>
    <p:sldId id="288" r:id="rId11"/>
    <p:sldId id="286" r:id="rId12"/>
    <p:sldId id="289" r:id="rId13"/>
    <p:sldId id="260" r:id="rId14"/>
    <p:sldId id="262" r:id="rId15"/>
    <p:sldId id="264" r:id="rId16"/>
    <p:sldId id="285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9E4F4"/>
    <a:srgbClr val="FBB900"/>
    <a:srgbClr val="005BAA"/>
    <a:srgbClr val="84C2E6"/>
    <a:srgbClr val="222222"/>
    <a:srgbClr val="D9F3FF"/>
    <a:srgbClr val="F7F7F7"/>
    <a:srgbClr val="555555"/>
    <a:srgbClr val="E9F8FF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8C131C-CF48-4014-97DD-DD6736A6C487}" v="41" dt="2026-02-15T09:32:50.7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B9631B5-78F2-41C9-869B-9F39066F8104}" styleName="보통 스타일 3 - 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920" autoAdjust="0"/>
    <p:restoredTop sz="95026" autoAdjust="0"/>
  </p:normalViewPr>
  <p:slideViewPr>
    <p:cSldViewPr snapToGrid="0">
      <p:cViewPr varScale="1">
        <p:scale>
          <a:sx n="78" d="100"/>
          <a:sy n="78" d="100"/>
        </p:scale>
        <p:origin x="106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동현 임" userId="bfd0dec5d22372d9" providerId="LiveId" clId="{F2D5EDD2-1DF9-4194-8BFE-0FE246D3B9F2}"/>
    <pc:docChg chg="custSel addSld delSld modSld sldOrd">
      <pc:chgData name="동현 임" userId="bfd0dec5d22372d9" providerId="LiveId" clId="{F2D5EDD2-1DF9-4194-8BFE-0FE246D3B9F2}" dt="2026-02-15T09:32:54.516" v="486" actId="1076"/>
      <pc:docMkLst>
        <pc:docMk/>
      </pc:docMkLst>
      <pc:sldChg chg="modSp mod">
        <pc:chgData name="동현 임" userId="bfd0dec5d22372d9" providerId="LiveId" clId="{F2D5EDD2-1DF9-4194-8BFE-0FE246D3B9F2}" dt="2026-02-13T09:26:42.964" v="72" actId="20577"/>
        <pc:sldMkLst>
          <pc:docMk/>
          <pc:sldMk cId="2378888442" sldId="256"/>
        </pc:sldMkLst>
        <pc:spChg chg="mod">
          <ac:chgData name="동현 임" userId="bfd0dec5d22372d9" providerId="LiveId" clId="{F2D5EDD2-1DF9-4194-8BFE-0FE246D3B9F2}" dt="2026-02-13T09:26:42.964" v="72" actId="20577"/>
          <ac:spMkLst>
            <pc:docMk/>
            <pc:sldMk cId="2378888442" sldId="256"/>
            <ac:spMk id="2" creationId="{AB394C6C-5EDD-8BD5-678E-F894E7A37153}"/>
          </ac:spMkLst>
        </pc:spChg>
      </pc:sldChg>
      <pc:sldChg chg="addSp delSp modSp new del mod">
        <pc:chgData name="동현 임" userId="bfd0dec5d22372d9" providerId="LiveId" clId="{F2D5EDD2-1DF9-4194-8BFE-0FE246D3B9F2}" dt="2026-02-15T09:32:45.268" v="484" actId="47"/>
        <pc:sldMkLst>
          <pc:docMk/>
          <pc:sldMk cId="1550544180" sldId="259"/>
        </pc:sldMkLst>
      </pc:sldChg>
      <pc:sldChg chg="modSp new mod">
        <pc:chgData name="동현 임" userId="bfd0dec5d22372d9" providerId="LiveId" clId="{F2D5EDD2-1DF9-4194-8BFE-0FE246D3B9F2}" dt="2026-02-13T09:18:46.029" v="36" actId="20577"/>
        <pc:sldMkLst>
          <pc:docMk/>
          <pc:sldMk cId="2438852705" sldId="260"/>
        </pc:sldMkLst>
        <pc:spChg chg="mod">
          <ac:chgData name="동현 임" userId="bfd0dec5d22372d9" providerId="LiveId" clId="{F2D5EDD2-1DF9-4194-8BFE-0FE246D3B9F2}" dt="2026-02-13T09:18:46.029" v="36" actId="20577"/>
          <ac:spMkLst>
            <pc:docMk/>
            <pc:sldMk cId="2438852705" sldId="260"/>
            <ac:spMk id="2" creationId="{43B13596-3057-7122-89D9-9526DE051053}"/>
          </ac:spMkLst>
        </pc:spChg>
      </pc:sldChg>
      <pc:sldChg chg="modSp new mod">
        <pc:chgData name="동현 임" userId="bfd0dec5d22372d9" providerId="LiveId" clId="{F2D5EDD2-1DF9-4194-8BFE-0FE246D3B9F2}" dt="2026-02-13T09:32:40.882" v="207" actId="20577"/>
        <pc:sldMkLst>
          <pc:docMk/>
          <pc:sldMk cId="1399677907" sldId="261"/>
        </pc:sldMkLst>
        <pc:spChg chg="mod">
          <ac:chgData name="동현 임" userId="bfd0dec5d22372d9" providerId="LiveId" clId="{F2D5EDD2-1DF9-4194-8BFE-0FE246D3B9F2}" dt="2026-02-13T09:32:40.882" v="207" actId="20577"/>
          <ac:spMkLst>
            <pc:docMk/>
            <pc:sldMk cId="1399677907" sldId="261"/>
            <ac:spMk id="2" creationId="{FC90ED56-9C29-4926-1DEA-65809AF4E635}"/>
          </ac:spMkLst>
        </pc:spChg>
        <pc:spChg chg="mod">
          <ac:chgData name="동현 임" userId="bfd0dec5d22372d9" providerId="LiveId" clId="{F2D5EDD2-1DF9-4194-8BFE-0FE246D3B9F2}" dt="2026-02-13T09:29:45.010" v="199" actId="20577"/>
          <ac:spMkLst>
            <pc:docMk/>
            <pc:sldMk cId="1399677907" sldId="261"/>
            <ac:spMk id="3" creationId="{FE8C6DF4-ECB8-2924-392E-B359ED717C0A}"/>
          </ac:spMkLst>
        </pc:spChg>
      </pc:sldChg>
      <pc:sldChg chg="modSp new mod">
        <pc:chgData name="동현 임" userId="bfd0dec5d22372d9" providerId="LiveId" clId="{F2D5EDD2-1DF9-4194-8BFE-0FE246D3B9F2}" dt="2026-02-13T09:42:54.279" v="438" actId="20577"/>
        <pc:sldMkLst>
          <pc:docMk/>
          <pc:sldMk cId="2452385403" sldId="262"/>
        </pc:sldMkLst>
        <pc:spChg chg="mod">
          <ac:chgData name="동현 임" userId="bfd0dec5d22372d9" providerId="LiveId" clId="{F2D5EDD2-1DF9-4194-8BFE-0FE246D3B9F2}" dt="2026-02-13T09:36:28.445" v="403" actId="20577"/>
          <ac:spMkLst>
            <pc:docMk/>
            <pc:sldMk cId="2452385403" sldId="262"/>
            <ac:spMk id="2" creationId="{E66B6C3E-C791-DDAD-16F5-A0BE9DDB04E1}"/>
          </ac:spMkLst>
        </pc:spChg>
        <pc:spChg chg="mod">
          <ac:chgData name="동현 임" userId="bfd0dec5d22372d9" providerId="LiveId" clId="{F2D5EDD2-1DF9-4194-8BFE-0FE246D3B9F2}" dt="2026-02-13T09:42:54.279" v="438" actId="20577"/>
          <ac:spMkLst>
            <pc:docMk/>
            <pc:sldMk cId="2452385403" sldId="262"/>
            <ac:spMk id="3" creationId="{A4BDD89D-DD72-1F8C-E763-51A29E113000}"/>
          </ac:spMkLst>
        </pc:spChg>
      </pc:sldChg>
      <pc:sldChg chg="addSp delSp modSp new mod">
        <pc:chgData name="동현 임" userId="bfd0dec5d22372d9" providerId="LiveId" clId="{F2D5EDD2-1DF9-4194-8BFE-0FE246D3B9F2}" dt="2026-02-13T10:25:41.597" v="442" actId="962"/>
        <pc:sldMkLst>
          <pc:docMk/>
          <pc:sldMk cId="2942114968" sldId="263"/>
        </pc:sldMkLst>
        <pc:spChg chg="mod">
          <ac:chgData name="동현 임" userId="bfd0dec5d22372d9" providerId="LiveId" clId="{F2D5EDD2-1DF9-4194-8BFE-0FE246D3B9F2}" dt="2026-02-13T09:25:54.082" v="58" actId="20577"/>
          <ac:spMkLst>
            <pc:docMk/>
            <pc:sldMk cId="2942114968" sldId="263"/>
            <ac:spMk id="2" creationId="{DD19D4FD-FB44-603F-3436-4A9A9C6A3E01}"/>
          </ac:spMkLst>
        </pc:spChg>
        <pc:picChg chg="add mod ord">
          <ac:chgData name="동현 임" userId="bfd0dec5d22372d9" providerId="LiveId" clId="{F2D5EDD2-1DF9-4194-8BFE-0FE246D3B9F2}" dt="2026-02-13T10:25:41.597" v="442" actId="962"/>
          <ac:picMkLst>
            <pc:docMk/>
            <pc:sldMk cId="2942114968" sldId="263"/>
            <ac:picMk id="5" creationId="{64DD1A14-8C53-3AC7-DD35-8F75DC41AAEB}"/>
          </ac:picMkLst>
        </pc:picChg>
      </pc:sldChg>
      <pc:sldChg chg="modSp new mod">
        <pc:chgData name="동현 임" userId="bfd0dec5d22372d9" providerId="LiveId" clId="{F2D5EDD2-1DF9-4194-8BFE-0FE246D3B9F2}" dt="2026-02-13T09:37:11.568" v="405" actId="20577"/>
        <pc:sldMkLst>
          <pc:docMk/>
          <pc:sldMk cId="2351571111" sldId="264"/>
        </pc:sldMkLst>
        <pc:spChg chg="mod">
          <ac:chgData name="동현 임" userId="bfd0dec5d22372d9" providerId="LiveId" clId="{F2D5EDD2-1DF9-4194-8BFE-0FE246D3B9F2}" dt="2026-02-13T09:37:11.568" v="405" actId="20577"/>
          <ac:spMkLst>
            <pc:docMk/>
            <pc:sldMk cId="2351571111" sldId="264"/>
            <ac:spMk id="2" creationId="{5216A149-741F-F144-81C1-81F53235EF94}"/>
          </ac:spMkLst>
        </pc:spChg>
      </pc:sldChg>
      <pc:sldChg chg="modSp new mod">
        <pc:chgData name="동현 임" userId="bfd0dec5d22372d9" providerId="LiveId" clId="{F2D5EDD2-1DF9-4194-8BFE-0FE246D3B9F2}" dt="2026-02-13T09:29:11.034" v="118" actId="20577"/>
        <pc:sldMkLst>
          <pc:docMk/>
          <pc:sldMk cId="926187128" sldId="265"/>
        </pc:sldMkLst>
        <pc:spChg chg="mod">
          <ac:chgData name="동현 임" userId="bfd0dec5d22372d9" providerId="LiveId" clId="{F2D5EDD2-1DF9-4194-8BFE-0FE246D3B9F2}" dt="2026-02-13T09:29:11.034" v="118" actId="20577"/>
          <ac:spMkLst>
            <pc:docMk/>
            <pc:sldMk cId="926187128" sldId="265"/>
            <ac:spMk id="2" creationId="{B58B0DE7-5E3A-CA22-999A-B05BC0DBCB30}"/>
          </ac:spMkLst>
        </pc:spChg>
      </pc:sldChg>
      <pc:sldChg chg="modSp new mod">
        <pc:chgData name="동현 임" userId="bfd0dec5d22372d9" providerId="LiveId" clId="{F2D5EDD2-1DF9-4194-8BFE-0FE246D3B9F2}" dt="2026-02-13T09:34:16.163" v="332" actId="20577"/>
        <pc:sldMkLst>
          <pc:docMk/>
          <pc:sldMk cId="2318613653" sldId="266"/>
        </pc:sldMkLst>
        <pc:spChg chg="mod">
          <ac:chgData name="동현 임" userId="bfd0dec5d22372d9" providerId="LiveId" clId="{F2D5EDD2-1DF9-4194-8BFE-0FE246D3B9F2}" dt="2026-02-13T09:32:49.712" v="238" actId="20577"/>
          <ac:spMkLst>
            <pc:docMk/>
            <pc:sldMk cId="2318613653" sldId="266"/>
            <ac:spMk id="2" creationId="{97152DDE-CD3C-A6B4-142D-593D750FA4C9}"/>
          </ac:spMkLst>
        </pc:spChg>
        <pc:spChg chg="mod">
          <ac:chgData name="동현 임" userId="bfd0dec5d22372d9" providerId="LiveId" clId="{F2D5EDD2-1DF9-4194-8BFE-0FE246D3B9F2}" dt="2026-02-13T09:34:16.163" v="332" actId="20577"/>
          <ac:spMkLst>
            <pc:docMk/>
            <pc:sldMk cId="2318613653" sldId="266"/>
            <ac:spMk id="3" creationId="{31D54D74-E755-A389-BADA-086A527239B7}"/>
          </ac:spMkLst>
        </pc:spChg>
      </pc:sldChg>
      <pc:sldChg chg="modSp new mod ord">
        <pc:chgData name="동현 임" userId="bfd0dec5d22372d9" providerId="LiveId" clId="{F2D5EDD2-1DF9-4194-8BFE-0FE246D3B9F2}" dt="2026-02-13T09:40:10.271" v="407"/>
        <pc:sldMkLst>
          <pc:docMk/>
          <pc:sldMk cId="3882659255" sldId="267"/>
        </pc:sldMkLst>
        <pc:spChg chg="mod">
          <ac:chgData name="동현 임" userId="bfd0dec5d22372d9" providerId="LiveId" clId="{F2D5EDD2-1DF9-4194-8BFE-0FE246D3B9F2}" dt="2026-02-13T09:36:11.289" v="396" actId="20577"/>
          <ac:spMkLst>
            <pc:docMk/>
            <pc:sldMk cId="3882659255" sldId="267"/>
            <ac:spMk id="2" creationId="{8AEE3CCD-E787-CFFE-4FFC-48E31384DA4A}"/>
          </ac:spMkLst>
        </pc:spChg>
      </pc:sldChg>
      <pc:sldChg chg="addSp modSp mod">
        <pc:chgData name="동현 임" userId="bfd0dec5d22372d9" providerId="LiveId" clId="{F2D5EDD2-1DF9-4194-8BFE-0FE246D3B9F2}" dt="2026-02-15T09:32:54.516" v="486" actId="1076"/>
        <pc:sldMkLst>
          <pc:docMk/>
          <pc:sldMk cId="3726856799" sldId="268"/>
        </pc:sldMkLst>
        <pc:spChg chg="add mod">
          <ac:chgData name="동현 임" userId="bfd0dec5d22372d9" providerId="LiveId" clId="{F2D5EDD2-1DF9-4194-8BFE-0FE246D3B9F2}" dt="2026-02-15T09:32:54.516" v="486" actId="1076"/>
          <ac:spMkLst>
            <pc:docMk/>
            <pc:sldMk cId="3726856799" sldId="268"/>
            <ac:spMk id="3" creationId="{F3505F80-91E7-13E8-3581-AE910CCB04B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EE5050-B506-4CB7-B3F3-1DE654A50863}" type="datetimeFigureOut">
              <a:rPr lang="ko-KR" altLang="en-US" smtClean="0"/>
              <a:t>2026-02-21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6AC8CF-0D47-458D-9159-C7F8CBC444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8573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6AC8CF-0D47-458D-9159-C7F8CBC444D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76140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756D5-41B9-37ED-A8BB-1F70356BD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AB8623-A89B-1D82-EE50-55E394B49E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B4D3F88-094E-F221-FC79-749EB5153F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766AB1-21DF-8F3E-7F64-8F7778CD86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6AC8CF-0D47-458D-9159-C7F8CBC444D6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98950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5CC56-679E-944D-44A5-A95BA7DB7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699F98-AE37-80A8-937B-3DDD762CBD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425789D-CEA7-DE4F-6E46-064C27ECBF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dirty="0">
              <a:solidFill>
                <a:srgbClr val="1F1F1F"/>
              </a:solidFill>
              <a:effectLst/>
              <a:latin typeface="Google Sans Tex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8946C5-15CC-7D72-9A43-CCE143D2E6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6AC8CF-0D47-458D-9159-C7F8CBC444D6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59239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8CBD3-B156-05FF-9BD1-D7C9D1459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3A2766-E9CC-2C61-1929-748A0B2F7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EC1857-84F6-5F74-3E85-A601DA6DFF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dirty="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Medium" panose="02000603000000020004" pitchFamily="2" charset="-127"/>
              </a:rPr>
              <a:t>수업 때 배운 거 복습 및 </a:t>
            </a:r>
            <a:r>
              <a:rPr lang="en-US" altLang="ko-KR" sz="1200" dirty="0" err="1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Medium" panose="02000603000000020004" pitchFamily="2" charset="-127"/>
              </a:rPr>
              <a:t>ocr</a:t>
            </a:r>
            <a:r>
              <a:rPr lang="en-US" altLang="ko-KR" sz="1200" dirty="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Medium" panose="02000603000000020004" pitchFamily="2" charset="-127"/>
              </a:rPr>
              <a:t> </a:t>
            </a:r>
            <a:r>
              <a:rPr lang="ko-KR" altLang="en-US" sz="1200" dirty="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Medium" panose="02000603000000020004" pitchFamily="2" charset="-127"/>
              </a:rPr>
              <a:t>예습 </a:t>
            </a:r>
            <a:r>
              <a:rPr lang="en-US" altLang="ko-KR" sz="1200" dirty="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Medium" panose="02000603000000020004" pitchFamily="2" charset="-127"/>
              </a:rPr>
              <a:t>&gt;&gt; </a:t>
            </a:r>
            <a:r>
              <a:rPr lang="ko-KR" altLang="en-US" sz="1200" dirty="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Medium" panose="02000603000000020004" pitchFamily="2" charset="-127"/>
              </a:rPr>
              <a:t>대본에 넣어도 좋을 것 같아요</a:t>
            </a:r>
            <a:endParaRPr lang="en-US" altLang="ko-KR" sz="1200" dirty="0">
              <a:solidFill>
                <a:srgbClr val="444444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Pretendard Medium" panose="02000603000000020004" pitchFamily="2" charset="-127"/>
            </a:endParaRPr>
          </a:p>
          <a:p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추가 참고내용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기획 배경</a:t>
            </a:r>
            <a:r>
              <a:rPr lang="en-US" altLang="ko-KR" dirty="0"/>
              <a:t>: </a:t>
            </a:r>
            <a:r>
              <a:rPr lang="ko-KR" altLang="en-US" dirty="0"/>
              <a:t>주차 및 예약 과정의 병목 현상을 해소하고</a:t>
            </a:r>
            <a:r>
              <a:rPr lang="en-US" altLang="ko-KR" dirty="0"/>
              <a:t>, </a:t>
            </a:r>
            <a:r>
              <a:rPr lang="ko-KR" altLang="en-US" dirty="0"/>
              <a:t>환자의 민감 정보를 보호하기 위한 </a:t>
            </a:r>
            <a:r>
              <a:rPr lang="ko-KR" altLang="en-US" b="1" dirty="0"/>
              <a:t>계층별 접근 제어 시스템</a:t>
            </a:r>
            <a:r>
              <a:rPr lang="ko-KR" altLang="en-US" dirty="0"/>
              <a:t>과 </a:t>
            </a:r>
            <a:r>
              <a:rPr lang="ko-KR" altLang="en-US" dirty="0" err="1"/>
              <a:t>원무팀</a:t>
            </a:r>
            <a:r>
              <a:rPr lang="ko-KR" altLang="en-US" dirty="0"/>
              <a:t> 중심의 </a:t>
            </a:r>
            <a:r>
              <a:rPr lang="ko-KR" altLang="en-US" b="1" dirty="0"/>
              <a:t>전문적인 고객 응대 체계</a:t>
            </a:r>
            <a:r>
              <a:rPr lang="ko-KR" altLang="en-US" dirty="0"/>
              <a:t>를 구축하여 운영 프로세스의 투명성 및 보안성 강화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기획 목적</a:t>
            </a:r>
            <a:r>
              <a:rPr lang="en-US" altLang="ko-KR" dirty="0"/>
              <a:t>: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환자 중심의 의료 서비스 접근성 향상과 병원 행정 운영의 최적화를 실현하고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고도화된 권한 제어 기반의 보안 설계를 통해 시스템 안전성 및 데이터 신뢰성 확보</a:t>
            </a:r>
            <a:endParaRPr lang="en-US" altLang="ko-KR" sz="1200" dirty="0">
              <a:solidFill>
                <a:srgbClr val="444444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52D5F6-9BF8-46F1-8C96-888DC932BA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6AC8CF-0D47-458D-9159-C7F8CBC444D6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80015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6AC8CF-0D47-458D-9159-C7F8CBC444D6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37225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6AC8CF-0D47-458D-9159-C7F8CBC444D6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0851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6AC8CF-0D47-458D-9159-C7F8CBC444D6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78467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B7D5E-6F87-C514-32EE-D06BEC474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9DADD6B-F743-1A36-8E28-BDF20E7E04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08D419C-E480-4FA0-FF81-9D0E9984EF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8A3D87-1E35-42FD-B2EE-327499FD7D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6AC8CF-0D47-458D-9159-C7F8CBC444D6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0916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E1FED-86FC-33D5-C112-9FC553859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65C3177-B333-1201-0A25-E14EDDAB56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03ADA5B-DF67-0FEE-EDA5-DC798FD22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23F72F-170B-89CA-7B8C-4EF459CB39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6AC8CF-0D47-458D-9159-C7F8CBC444D6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05337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70AD1-6D7A-ED0E-A32F-75E98595E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31FC7C4-A62D-38E6-C300-E037AB825A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83F3BDE-C4CF-739F-0032-3DD278C0B4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3278D5-5CC8-7888-59F3-D0B34C054B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6AC8CF-0D47-458D-9159-C7F8CBC444D6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10366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49453-8124-DB00-BB2C-A227F9B2C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302EE24-ADB6-F1E9-232C-5128B287F1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04D5EC7-1B32-60DE-E246-F30B83210B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대본 참고</a:t>
            </a:r>
            <a:endParaRPr lang="en-US" altLang="ko-KR" dirty="0"/>
          </a:p>
          <a:p>
            <a:r>
              <a:rPr lang="ko-KR" altLang="en-US" dirty="0"/>
              <a:t>다음은 사용자 권한에 따른 화면 구성입니다</a:t>
            </a:r>
            <a:r>
              <a:rPr lang="en-US" altLang="ko-KR" dirty="0"/>
              <a:t>. </a:t>
            </a:r>
            <a:r>
              <a:rPr lang="ko-KR" altLang="en-US" dirty="0"/>
              <a:t>먼저 일반회원은 마이페이지를 통해 차량 등록</a:t>
            </a:r>
            <a:r>
              <a:rPr lang="en-US" altLang="ko-KR" dirty="0"/>
              <a:t>, </a:t>
            </a:r>
            <a:r>
              <a:rPr lang="ko-KR" altLang="en-US" dirty="0"/>
              <a:t>개인 정보 수정</a:t>
            </a:r>
            <a:r>
              <a:rPr lang="en-US" altLang="ko-KR" dirty="0"/>
              <a:t>, </a:t>
            </a:r>
            <a:r>
              <a:rPr lang="ko-KR" altLang="en-US" dirty="0"/>
              <a:t>진료 예약 및 내역 조회가 가능합니다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또한 고객의 소리 메뉴에서는 본인이 작성한 문의만 확인할 수 있도록 제한했습니다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반면 의료진은 진료 일정과 예약 내역을 확인할 수 있으며</a:t>
            </a:r>
            <a:r>
              <a:rPr lang="en-US" altLang="ko-KR" dirty="0"/>
              <a:t>, </a:t>
            </a:r>
            <a:r>
              <a:rPr lang="ko-KR" altLang="en-US" dirty="0"/>
              <a:t>환자 관리 중심의 화면으로 구성했습니다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특히 고객의 소리 페이지는 의료진에게는 아예 노출되지 않도록 설정했습니다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이는 문의 내용 중 일부가 감정적인 표현을 포함할 수 있기 때문에 의료진이 진료 업무에만 집중할 수 있도록 역할을 명확히 분리한 설계입니다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대신 해당 문의는 원무팀에서 전담 처리하도록 구성하여 조직 구조에 맞는 업무 흐름을 반영했습니다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00E89C-56EA-0BB5-CC8A-1F4F316382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6AC8CF-0D47-458D-9159-C7F8CBC444D6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04582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F81EE-54F6-1A64-4A5F-A4D94FD05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B9E6AA8-A564-9524-8BB2-522E8F7082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2D81CF5-6FAE-45F7-8F9A-0EDE6A8175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대본 참고</a:t>
            </a:r>
            <a:endParaRPr lang="en-US" altLang="ko-KR" dirty="0"/>
          </a:p>
          <a:p>
            <a:r>
              <a:rPr lang="ko-KR" altLang="en-US" dirty="0"/>
              <a:t>다음은 사용자 권한에 따른 화면 구성입니다</a:t>
            </a:r>
            <a:r>
              <a:rPr lang="en-US" altLang="ko-KR" dirty="0"/>
              <a:t>. </a:t>
            </a:r>
            <a:r>
              <a:rPr lang="ko-KR" altLang="en-US" dirty="0"/>
              <a:t>먼저 일반회원은 마이페이지를 통해 차량 등록</a:t>
            </a:r>
            <a:r>
              <a:rPr lang="en-US" altLang="ko-KR" dirty="0"/>
              <a:t>, </a:t>
            </a:r>
            <a:r>
              <a:rPr lang="ko-KR" altLang="en-US" dirty="0"/>
              <a:t>개인 정보 수정</a:t>
            </a:r>
            <a:r>
              <a:rPr lang="en-US" altLang="ko-KR" dirty="0"/>
              <a:t>, </a:t>
            </a:r>
            <a:r>
              <a:rPr lang="ko-KR" altLang="en-US" dirty="0"/>
              <a:t>진료 예약 및 내역 조회가 가능합니다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또한 고객의 소리 메뉴에서는 본인이 작성한 문의만 확인할 수 있도록 제한했습니다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반면 의료진은 진료 일정과 예약 내역을 확인할 수 있으며</a:t>
            </a:r>
            <a:r>
              <a:rPr lang="en-US" altLang="ko-KR" dirty="0"/>
              <a:t>, </a:t>
            </a:r>
            <a:r>
              <a:rPr lang="ko-KR" altLang="en-US" dirty="0"/>
              <a:t>환자 관리 중심의 화면으로 구성했습니다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특히 고객의 소리 페이지는 의료진에게는 아예 노출되지 않도록 설정했습니다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이는 문의 내용 중 일부가 감정적인 표현을 포함할 수 있기 때문에 의료진이 진료 업무에만 집중할 수 있도록 역할을 명확히 분리한 설계입니다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대신 해당 문의는 원무팀에서 전담 처리하도록 구성하여 조직 구조에 맞는 업무 흐름을 반영했습니다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E6584D-FF6B-6C6B-903C-138FB9826E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6AC8CF-0D47-458D-9159-C7F8CBC444D6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71322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endParaRPr lang="ko-KR" altLang="en-US" sz="1050" b="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6AC8CF-0D47-458D-9159-C7F8CBC444D6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00461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C0BAF8-A3E1-97BA-5798-C76F22F3F8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899B761-6AB7-42FB-A019-3BC2C3B326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2493A0-5AD3-9E57-05E4-7B13343E4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97760-439D-4DDF-87BC-9953330ED46A}" type="datetimeFigureOut">
              <a:rPr lang="ko-KR" altLang="en-US" smtClean="0"/>
              <a:t>2026-02-21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5B805F-4155-EBB9-201E-70604ACCB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CE0CA2-738E-9821-2EC4-66EEC006B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14FE7-9963-40DA-9500-6961BB68E0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6682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095429-A8A1-F1BB-F076-03C133EBA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1CA7DE-44C5-7D14-FD3B-B63CBBB68A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A63728-87A1-F516-AE74-5F5F95EA6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97760-439D-4DDF-87BC-9953330ED46A}" type="datetimeFigureOut">
              <a:rPr lang="ko-KR" altLang="en-US" smtClean="0"/>
              <a:t>2026-02-21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0F53BF-8659-5210-C460-A65F38247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935381-333D-45BD-1766-7BD409F17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14FE7-9963-40DA-9500-6961BB68E0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5693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62DE32-F742-055B-431C-227046F41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156E848-F45D-B69B-B516-FD7E7BF5F5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3DF0AF-8C04-EE74-B329-7F750AE15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97760-439D-4DDF-87BC-9953330ED46A}" type="datetimeFigureOut">
              <a:rPr lang="ko-KR" altLang="en-US" smtClean="0"/>
              <a:t>2026-02-21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663276-7D0C-3306-2C6A-1F66A6759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32C795-6880-049C-4CE7-3A907CCEE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14FE7-9963-40DA-9500-6961BB68E0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7791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D39DE0-1CB1-A92F-D071-720EA3491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E458A8-862F-ED5D-86E8-7B36C7492F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C6E22E4-514F-A4E3-5A7C-6B76AE95EC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F696917-3A57-E7D5-DAC4-A5E72115A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97760-439D-4DDF-87BC-9953330ED46A}" type="datetimeFigureOut">
              <a:rPr lang="ko-KR" altLang="en-US" smtClean="0"/>
              <a:t>2026-02-21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F605F5-5050-C089-4162-2858A0C78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F22F21A-8F93-00B6-FC08-DB56EC91F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14FE7-9963-40DA-9500-6961BB68E0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289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C1A9C9-ED98-838C-83A7-762E8DDB5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ACDD53-FD02-D45E-583A-DD0559E5CC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56B27CB-29BE-4040-CE9B-9A6EDF330D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CE86C15-7E83-5653-8E2F-301B7BCC19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660488F-8C27-276B-A1CE-250EF66770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791777F-BBC5-6B38-2DAE-63B5F822F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97760-439D-4DDF-87BC-9953330ED46A}" type="datetimeFigureOut">
              <a:rPr lang="ko-KR" altLang="en-US" smtClean="0"/>
              <a:t>2026-02-21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5DF02F7-165A-2FB7-9B18-E061DF285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88CF0B8-9032-B85C-D6DA-658A0E1B3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14FE7-9963-40DA-9500-6961BB68E0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3968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3A6C13-8B1C-45B4-4D0F-86B4C1072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7858E08-D8A7-EFCD-3F30-D9122F83B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97760-439D-4DDF-87BC-9953330ED46A}" type="datetimeFigureOut">
              <a:rPr lang="ko-KR" altLang="en-US" smtClean="0"/>
              <a:t>2026-02-21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948F560-9781-6A15-BB60-D4C4AC404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3A81A96-BD17-852F-E2AA-25E3E22D4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14FE7-9963-40DA-9500-6961BB68E0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8741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85D7240-849A-4A75-C1AD-EE4A568F2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97760-439D-4DDF-87BC-9953330ED46A}" type="datetimeFigureOut">
              <a:rPr lang="ko-KR" altLang="en-US" smtClean="0"/>
              <a:t>2026-02-21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F65F436-3723-3D55-C366-A88D85D8D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BEFF4F-A88D-CF73-CCAD-2862FB7EE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14FE7-9963-40DA-9500-6961BB68E0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6521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72B2FE-429D-7948-B97D-62135C56A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4BE13B-449D-9C07-80D6-62CB4B906F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05A42B7-8992-A9EB-D73B-C90BC209DC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96FDD84-35F9-2B85-552B-E1BD50C50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97760-439D-4DDF-87BC-9953330ED46A}" type="datetimeFigureOut">
              <a:rPr lang="ko-KR" altLang="en-US" smtClean="0"/>
              <a:t>2026-02-21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84372BC-0D18-B7A4-0E19-CA294BFA4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1AF4CE7-062D-45D5-69A9-2EC6BC68D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14FE7-9963-40DA-9500-6961BB68E0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4882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36E9A5-737F-30C4-BED9-410ACF2ED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58EC146-B2C7-53B6-9D75-3B545C6E75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BA682C2-BC9E-900C-E8F6-5F62BA4E39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FC4D52E-0752-1B61-9BF5-01F3B26B6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97760-439D-4DDF-87BC-9953330ED46A}" type="datetimeFigureOut">
              <a:rPr lang="ko-KR" altLang="en-US" smtClean="0"/>
              <a:t>2026-02-21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DC45B4A-BFA6-A502-EE5E-99394B918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F33A9A5-A0D1-DCB4-271F-B2C0BD239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14FE7-9963-40DA-9500-6961BB68E0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5707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35B5E7-D290-0377-407D-2F6FC7424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8D4D51-AF6A-AAAF-C1F5-28447C1E85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253970-5003-A9ED-27A1-5C899AF5C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97760-439D-4DDF-87BC-9953330ED46A}" type="datetimeFigureOut">
              <a:rPr lang="ko-KR" altLang="en-US" smtClean="0"/>
              <a:t>2026-02-21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213175-A271-28EC-E349-26FF2D547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E012D3-1314-C133-C3DE-FAF1FE98B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14FE7-9963-40DA-9500-6961BB68E0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070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B2EAD24-CCCC-694D-5E9A-07BE9A7531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66FEDCE-01BC-404B-C76C-4EB715F4AD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3B8C3C-FED7-71D1-395C-F491171A6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97760-439D-4DDF-87BC-9953330ED46A}" type="datetimeFigureOut">
              <a:rPr lang="ko-KR" altLang="en-US" smtClean="0"/>
              <a:t>2026-02-21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6F3DE5-1C11-2EEC-4723-24BA624FB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FA729E-D082-ED0E-79E4-F4B6CC55E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14FE7-9963-40DA-9500-6961BB68E0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1152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9A08788-2CB6-D05F-1B81-32C7D159E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65210A9-BCB2-03DC-56E9-9879B2FCA2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619A8E-997A-5DE9-FF7C-CBA2A3151C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697760-439D-4DDF-87BC-9953330ED46A}" type="datetimeFigureOut">
              <a:rPr lang="ko-KR" altLang="en-US" smtClean="0"/>
              <a:t>2026-02-21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F9924F-87AB-FCF9-4751-68D997243E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9F8B42-41E5-1F05-88CA-97499EB0E8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E14FE7-9963-40DA-9500-6961BB68E0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559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sv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7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9E4CDB-D5B3-E261-3F5C-2BD8029C2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hidden="1">
            <a:extLst>
              <a:ext uri="{FF2B5EF4-FFF2-40B4-BE49-F238E27FC236}">
                <a16:creationId xmlns:a16="http://schemas.microsoft.com/office/drawing/2014/main" id="{A4F97080-2C18-5230-C300-18CAE0DCD03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림 2" descr="파란색 유리 건물">
            <a:extLst>
              <a:ext uri="{FF2B5EF4-FFF2-40B4-BE49-F238E27FC236}">
                <a16:creationId xmlns:a16="http://schemas.microsoft.com/office/drawing/2014/main" id="{AB1664D0-CF86-8CE2-975F-E7E9832765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0" b="7870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3C226B12-09B9-7460-F9F8-F7FBB57DEA3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2423554-4C9D-CF05-AA57-A49A63424CF0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09" y="1591291"/>
            <a:ext cx="1442301" cy="1626471"/>
          </a:xfrm>
          <a:prstGeom prst="rect">
            <a:avLst/>
          </a:prstGeom>
          <a:effectLst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DE8625-97E6-960E-3D23-73E46BC67ECD}"/>
              </a:ext>
            </a:extLst>
          </p:cNvPr>
          <p:cNvSpPr txBox="1"/>
          <p:nvPr/>
        </p:nvSpPr>
        <p:spPr>
          <a:xfrm>
            <a:off x="2374454" y="1456715"/>
            <a:ext cx="4292563" cy="1939701"/>
          </a:xfrm>
          <a:prstGeom prst="rect">
            <a:avLst/>
          </a:prstGeom>
          <a:noFill/>
        </p:spPr>
        <p:txBody>
          <a:bodyPr wrap="square" lIns="72000" rIns="0" spcCol="216000" rtlCol="0" anchor="ctr" anchorCtr="0">
            <a:normAutofit/>
          </a:bodyPr>
          <a:lstStyle/>
          <a:p>
            <a:r>
              <a:rPr lang="ko-KR" altLang="en-US" sz="4800" spc="-150" dirty="0" err="1">
                <a:solidFill>
                  <a:srgbClr val="FBB9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ExtraBold" panose="02000903000000020004" pitchFamily="2" charset="-127"/>
              </a:rPr>
              <a:t>서울에스병원</a:t>
            </a:r>
            <a:endParaRPr lang="en-US" altLang="ko-KR" sz="4800" spc="-150" dirty="0">
              <a:solidFill>
                <a:srgbClr val="FBB9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ExtraBold" panose="02000903000000020004" pitchFamily="2" charset="-127"/>
            </a:endParaRPr>
          </a:p>
          <a:p>
            <a:r>
              <a:rPr lang="ko-KR" altLang="en-US" sz="4800" spc="-150" dirty="0"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ExtraBold" panose="02000903000000020004" pitchFamily="2" charset="-127"/>
              </a:rPr>
              <a:t>종합 시스템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1F5C07-1D5A-9A6B-6CAE-F11909AD0645}"/>
              </a:ext>
            </a:extLst>
          </p:cNvPr>
          <p:cNvSpPr txBox="1"/>
          <p:nvPr/>
        </p:nvSpPr>
        <p:spPr>
          <a:xfrm>
            <a:off x="2374454" y="3307696"/>
            <a:ext cx="40726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ko-KR" altLang="en-US" sz="140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" panose="02000503000000020004" pitchFamily="2" charset="-127"/>
              </a:rPr>
              <a:t>임동현  </a:t>
            </a:r>
            <a:r>
              <a:rPr lang="en-US" altLang="ko-KR" sz="140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" panose="02000503000000020004" pitchFamily="2" charset="-127"/>
              </a:rPr>
              <a:t>|  </a:t>
            </a:r>
            <a:r>
              <a:rPr lang="ko-KR" altLang="en-US" sz="1400" dirty="0" err="1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" panose="02000503000000020004" pitchFamily="2" charset="-127"/>
              </a:rPr>
              <a:t>임소리</a:t>
            </a:r>
            <a:r>
              <a:rPr lang="ko-KR" altLang="en-US" sz="140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" panose="02000503000000020004" pitchFamily="2" charset="-127"/>
              </a:rPr>
              <a:t>  </a:t>
            </a:r>
            <a:r>
              <a:rPr lang="en-US" altLang="ko-KR" sz="140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" panose="02000503000000020004" pitchFamily="2" charset="-127"/>
              </a:rPr>
              <a:t>|  </a:t>
            </a:r>
            <a:r>
              <a:rPr lang="ko-KR" altLang="en-US" sz="140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" panose="02000503000000020004" pitchFamily="2" charset="-127"/>
              </a:rPr>
              <a:t>오종석  </a:t>
            </a:r>
            <a:r>
              <a:rPr lang="en-US" altLang="ko-KR" sz="140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" panose="02000503000000020004" pitchFamily="2" charset="-127"/>
              </a:rPr>
              <a:t>|  </a:t>
            </a:r>
            <a:r>
              <a:rPr lang="ko-KR" altLang="en-US" sz="140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" panose="02000503000000020004" pitchFamily="2" charset="-127"/>
              </a:rPr>
              <a:t>하재영</a:t>
            </a:r>
          </a:p>
        </p:txBody>
      </p:sp>
    </p:spTree>
    <p:extLst>
      <p:ext uri="{BB962C8B-B14F-4D97-AF65-F5344CB8AC3E}">
        <p14:creationId xmlns:p14="http://schemas.microsoft.com/office/powerpoint/2010/main" val="2113714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E207A5-0A5C-0584-FE01-FDB8DDC1D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hidden="1">
            <a:extLst>
              <a:ext uri="{FF2B5EF4-FFF2-40B4-BE49-F238E27FC236}">
                <a16:creationId xmlns:a16="http://schemas.microsoft.com/office/drawing/2014/main" id="{AE91FAA6-F822-78F1-F865-D9BC0D89424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78305042-497C-8E69-709E-D5D7A0903766}"/>
              </a:ext>
            </a:extLst>
          </p:cNvPr>
          <p:cNvSpPr txBox="1"/>
          <p:nvPr/>
        </p:nvSpPr>
        <p:spPr>
          <a:xfrm>
            <a:off x="6197368" y="2081522"/>
            <a:ext cx="3094115" cy="461665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ko-KR" altLang="en-US" sz="2400" dirty="0">
                <a:solidFill>
                  <a:srgbClr val="22222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기술 및 데이터 설계</a:t>
            </a:r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06640220-505C-366E-1076-E98FDEC1C9E6}"/>
              </a:ext>
            </a:extLst>
          </p:cNvPr>
          <p:cNvSpPr/>
          <p:nvPr/>
        </p:nvSpPr>
        <p:spPr>
          <a:xfrm>
            <a:off x="4887494" y="2084364"/>
            <a:ext cx="936709" cy="936709"/>
          </a:xfrm>
          <a:prstGeom prst="ellipse">
            <a:avLst/>
          </a:prstGeom>
          <a:solidFill>
            <a:srgbClr val="005BA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BA68BCC-DE1E-245C-195B-FF984EA07992}"/>
              </a:ext>
            </a:extLst>
          </p:cNvPr>
          <p:cNvSpPr txBox="1"/>
          <p:nvPr/>
        </p:nvSpPr>
        <p:spPr>
          <a:xfrm>
            <a:off x="6190824" y="2487556"/>
            <a:ext cx="3447643" cy="430887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err="1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Light" panose="02000403000000020004" pitchFamily="2" charset="-127"/>
              </a:rPr>
              <a:t>개발스택</a:t>
            </a:r>
            <a:r>
              <a:rPr lang="ko-KR" altLang="en-US" sz="1600" dirty="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Light" panose="02000403000000020004" pitchFamily="2" charset="-127"/>
              </a:rPr>
              <a:t>   </a:t>
            </a:r>
            <a:r>
              <a:rPr lang="en-US" altLang="ko-KR" sz="1600" dirty="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Light" panose="02000403000000020004" pitchFamily="2" charset="-127"/>
              </a:rPr>
              <a:t>|   </a:t>
            </a:r>
            <a:r>
              <a:rPr lang="ko-KR" altLang="en-US" sz="1600" dirty="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Light" panose="02000403000000020004" pitchFamily="2" charset="-127"/>
              </a:rPr>
              <a:t>데이터 구조 설계</a:t>
            </a:r>
            <a:r>
              <a:rPr lang="en-US" altLang="ko-KR" sz="1600" dirty="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Light" panose="02000403000000020004" pitchFamily="2" charset="-127"/>
              </a:rPr>
              <a:t>(ERD)</a:t>
            </a:r>
          </a:p>
        </p:txBody>
      </p:sp>
      <p:pic>
        <p:nvPicPr>
          <p:cNvPr id="74" name="그래픽 73" descr="클라우드 컴퓨팅 단색으로 채워진">
            <a:extLst>
              <a:ext uri="{FF2B5EF4-FFF2-40B4-BE49-F238E27FC236}">
                <a16:creationId xmlns:a16="http://schemas.microsoft.com/office/drawing/2014/main" id="{33CBFA86-4E59-BD02-2262-32CAE85D48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35161" y="2232031"/>
            <a:ext cx="641373" cy="641373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F50C0F8B-0761-4801-1D56-3FB709D54B59}"/>
              </a:ext>
            </a:extLst>
          </p:cNvPr>
          <p:cNvSpPr txBox="1"/>
          <p:nvPr/>
        </p:nvSpPr>
        <p:spPr>
          <a:xfrm>
            <a:off x="6118036" y="3554687"/>
            <a:ext cx="3520431" cy="461665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ko-KR" altLang="en-US" sz="2400" dirty="0">
                <a:solidFill>
                  <a:srgbClr val="22222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핵심 기술 로직</a:t>
            </a:r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240DA147-2B6C-05B2-1A38-89E104107BD4}"/>
              </a:ext>
            </a:extLst>
          </p:cNvPr>
          <p:cNvSpPr/>
          <p:nvPr/>
        </p:nvSpPr>
        <p:spPr>
          <a:xfrm>
            <a:off x="4808161" y="3557529"/>
            <a:ext cx="936709" cy="936709"/>
          </a:xfrm>
          <a:prstGeom prst="ellipse">
            <a:avLst/>
          </a:prstGeom>
          <a:solidFill>
            <a:srgbClr val="005BA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03A70F2-CC5E-ACD3-9D48-BE239F35BDBB}"/>
              </a:ext>
            </a:extLst>
          </p:cNvPr>
          <p:cNvSpPr txBox="1"/>
          <p:nvPr/>
        </p:nvSpPr>
        <p:spPr>
          <a:xfrm>
            <a:off x="6111493" y="3960721"/>
            <a:ext cx="5520068" cy="430887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Light" panose="02000403000000020004" pitchFamily="2" charset="-127"/>
              </a:rPr>
              <a:t>사용자별 권한 매트릭스   </a:t>
            </a:r>
            <a:r>
              <a:rPr lang="en-US" altLang="ko-KR" sz="1600" dirty="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Light" panose="02000403000000020004" pitchFamily="2" charset="-127"/>
              </a:rPr>
              <a:t>|   </a:t>
            </a:r>
            <a:r>
              <a:rPr lang="ko-KR" altLang="en-US" sz="1600" dirty="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Light" panose="02000403000000020004" pitchFamily="2" charset="-127"/>
              </a:rPr>
              <a:t>차량 번호판 인식</a:t>
            </a:r>
            <a:r>
              <a:rPr lang="en-US" altLang="ko-KR" sz="1600" dirty="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Light" panose="02000403000000020004" pitchFamily="2" charset="-127"/>
              </a:rPr>
              <a:t> OCR </a:t>
            </a:r>
            <a:r>
              <a:rPr lang="ko-KR" altLang="en-US" sz="1600" dirty="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Light" panose="02000403000000020004" pitchFamily="2" charset="-127"/>
              </a:rPr>
              <a:t>프로세스</a:t>
            </a:r>
            <a:endParaRPr lang="en-US" altLang="ko-KR" sz="1600" dirty="0">
              <a:solidFill>
                <a:srgbClr val="444444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76" name="그래픽 75" descr="팔레트 단색으로 채워진">
            <a:extLst>
              <a:ext uri="{FF2B5EF4-FFF2-40B4-BE49-F238E27FC236}">
                <a16:creationId xmlns:a16="http://schemas.microsoft.com/office/drawing/2014/main" id="{4185D4D3-9AD9-284C-DC14-7C1F3D8206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7554" y="3716922"/>
            <a:ext cx="617923" cy="61792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C744BEE-93DA-D7AD-2ED5-91D66CC9D662}"/>
              </a:ext>
            </a:extLst>
          </p:cNvPr>
          <p:cNvSpPr txBox="1"/>
          <p:nvPr/>
        </p:nvSpPr>
        <p:spPr>
          <a:xfrm>
            <a:off x="6118036" y="716672"/>
            <a:ext cx="2238687" cy="461665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ko-KR" altLang="en-US" sz="2400" dirty="0">
                <a:solidFill>
                  <a:srgbClr val="22222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프로젝트 기획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B59629EC-2484-C89D-BB99-449BC39E7DED}"/>
              </a:ext>
            </a:extLst>
          </p:cNvPr>
          <p:cNvSpPr/>
          <p:nvPr/>
        </p:nvSpPr>
        <p:spPr>
          <a:xfrm>
            <a:off x="4808161" y="719514"/>
            <a:ext cx="936709" cy="936709"/>
          </a:xfrm>
          <a:prstGeom prst="ellipse">
            <a:avLst/>
          </a:prstGeom>
          <a:solidFill>
            <a:srgbClr val="005BA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ABB2D9-9916-0A7B-9FED-833F1AAFCBCD}"/>
              </a:ext>
            </a:extLst>
          </p:cNvPr>
          <p:cNvSpPr txBox="1"/>
          <p:nvPr/>
        </p:nvSpPr>
        <p:spPr>
          <a:xfrm>
            <a:off x="6111493" y="1122706"/>
            <a:ext cx="5315084" cy="430887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Light" panose="02000403000000020004" pitchFamily="2" charset="-127"/>
              </a:rPr>
              <a:t>팀원 역할 정의   </a:t>
            </a:r>
            <a:r>
              <a:rPr lang="en-US" altLang="ko-KR" sz="1600" dirty="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Light" panose="02000403000000020004" pitchFamily="2" charset="-127"/>
              </a:rPr>
              <a:t>|   </a:t>
            </a:r>
            <a:r>
              <a:rPr lang="ko-KR" altLang="en-US" sz="1600" dirty="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Light" panose="02000403000000020004" pitchFamily="2" charset="-127"/>
              </a:rPr>
              <a:t>프로젝트 개요 </a:t>
            </a:r>
            <a:r>
              <a:rPr lang="en-US" altLang="ko-KR" sz="1600" dirty="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Light" panose="02000403000000020004" pitchFamily="2" charset="-127"/>
              </a:rPr>
              <a:t>  |   </a:t>
            </a:r>
            <a:r>
              <a:rPr lang="ko-KR" altLang="en-US" sz="1600" dirty="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Light" panose="02000403000000020004" pitchFamily="2" charset="-127"/>
              </a:rPr>
              <a:t>프로젝트 주요 기능</a:t>
            </a:r>
            <a:endParaRPr lang="en-US" altLang="ko-KR" sz="1600" dirty="0">
              <a:solidFill>
                <a:srgbClr val="444444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78" name="그래픽 77" descr="문서 단색으로 채워진">
            <a:extLst>
              <a:ext uri="{FF2B5EF4-FFF2-40B4-BE49-F238E27FC236}">
                <a16:creationId xmlns:a16="http://schemas.microsoft.com/office/drawing/2014/main" id="{D515F44A-AC6C-E677-D3C4-CAD7B61FBA4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88668" y="900021"/>
            <a:ext cx="575693" cy="575693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025EF9FE-08CD-5084-853F-9E8639FB9535}"/>
              </a:ext>
            </a:extLst>
          </p:cNvPr>
          <p:cNvSpPr txBox="1"/>
          <p:nvPr/>
        </p:nvSpPr>
        <p:spPr>
          <a:xfrm>
            <a:off x="6118035" y="5398549"/>
            <a:ext cx="3941284" cy="461665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ko-KR" altLang="en-US" sz="2400" dirty="0">
                <a:solidFill>
                  <a:srgbClr val="22222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서비스 시연 </a:t>
            </a:r>
            <a:r>
              <a:rPr lang="en-US" altLang="ko-KR" sz="2400" dirty="0">
                <a:solidFill>
                  <a:srgbClr val="22222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&amp; </a:t>
            </a:r>
            <a:r>
              <a:rPr lang="ko-KR" altLang="en-US" sz="2400" dirty="0">
                <a:solidFill>
                  <a:srgbClr val="22222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향후 계획</a:t>
            </a:r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CBBF19D0-80A8-EEE6-9045-BCFF78953D13}"/>
              </a:ext>
            </a:extLst>
          </p:cNvPr>
          <p:cNvSpPr/>
          <p:nvPr/>
        </p:nvSpPr>
        <p:spPr>
          <a:xfrm>
            <a:off x="4808161" y="5401391"/>
            <a:ext cx="936709" cy="936709"/>
          </a:xfrm>
          <a:prstGeom prst="ellipse">
            <a:avLst/>
          </a:prstGeom>
          <a:solidFill>
            <a:srgbClr val="005BA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6EBBAF1-0814-2BA6-2E17-8D4E798B21C9}"/>
              </a:ext>
            </a:extLst>
          </p:cNvPr>
          <p:cNvSpPr txBox="1"/>
          <p:nvPr/>
        </p:nvSpPr>
        <p:spPr>
          <a:xfrm>
            <a:off x="6111493" y="5804583"/>
            <a:ext cx="2246791" cy="430887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Light" panose="02000403000000020004" pitchFamily="2" charset="-127"/>
              </a:rPr>
              <a:t>시스템 통합 시연</a:t>
            </a:r>
            <a:endParaRPr lang="en-US" altLang="ko-KR" sz="1600" dirty="0">
              <a:solidFill>
                <a:srgbClr val="444444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697243A-8E31-3181-0E6B-2BF9FC29D4B7}"/>
              </a:ext>
            </a:extLst>
          </p:cNvPr>
          <p:cNvSpPr txBox="1"/>
          <p:nvPr/>
        </p:nvSpPr>
        <p:spPr>
          <a:xfrm>
            <a:off x="8182914" y="5801963"/>
            <a:ext cx="2986531" cy="430887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Light" panose="02000403000000020004" pitchFamily="2" charset="-127"/>
              </a:rPr>
              <a:t>서비스 </a:t>
            </a:r>
            <a:r>
              <a:rPr lang="ko-KR" altLang="en-US" sz="160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Light" panose="02000403000000020004" pitchFamily="2" charset="-127"/>
              </a:rPr>
              <a:t>확장성 및 고도화 계획</a:t>
            </a:r>
            <a:endParaRPr lang="en-US" altLang="ko-KR" sz="1600" dirty="0">
              <a:solidFill>
                <a:srgbClr val="444444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80" name="그래픽 79" descr="과녁 단색으로 채워진">
            <a:extLst>
              <a:ext uri="{FF2B5EF4-FFF2-40B4-BE49-F238E27FC236}">
                <a16:creationId xmlns:a16="http://schemas.microsoft.com/office/drawing/2014/main" id="{6282B66F-32A7-1E6A-0DE4-2B472C1F5C0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959672" y="5552903"/>
            <a:ext cx="633687" cy="633684"/>
          </a:xfrm>
          <a:prstGeom prst="rect">
            <a:avLst/>
          </a:prstGeom>
        </p:spPr>
      </p:pic>
      <p:sp>
        <p:nvSpPr>
          <p:cNvPr id="95" name="화살표: 오각형 94">
            <a:extLst>
              <a:ext uri="{FF2B5EF4-FFF2-40B4-BE49-F238E27FC236}">
                <a16:creationId xmlns:a16="http://schemas.microsoft.com/office/drawing/2014/main" id="{BCCBD114-C882-A60A-22D1-C9766D1F67FC}"/>
              </a:ext>
            </a:extLst>
          </p:cNvPr>
          <p:cNvSpPr/>
          <p:nvPr/>
        </p:nvSpPr>
        <p:spPr>
          <a:xfrm rot="5400000">
            <a:off x="181861" y="583566"/>
            <a:ext cx="1543663" cy="376538"/>
          </a:xfrm>
          <a:prstGeom prst="homePlate">
            <a:avLst/>
          </a:prstGeom>
          <a:solidFill>
            <a:srgbClr val="005BA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7D9812E-DCDD-7C52-CC2E-C29B5CA7D9CB}"/>
              </a:ext>
            </a:extLst>
          </p:cNvPr>
          <p:cNvSpPr txBox="1"/>
          <p:nvPr/>
        </p:nvSpPr>
        <p:spPr>
          <a:xfrm>
            <a:off x="1352242" y="716672"/>
            <a:ext cx="1123678" cy="646331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ko-KR" altLang="en-US" sz="3600" b="1">
                <a:solidFill>
                  <a:srgbClr val="22222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목차</a:t>
            </a:r>
            <a:endParaRPr lang="ko-KR" altLang="en-US" sz="3600" b="1" dirty="0">
              <a:solidFill>
                <a:srgbClr val="22222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43DDD9C0-13C0-5692-287C-D6B664D271E4}"/>
              </a:ext>
            </a:extLst>
          </p:cNvPr>
          <p:cNvSpPr txBox="1"/>
          <p:nvPr/>
        </p:nvSpPr>
        <p:spPr>
          <a:xfrm>
            <a:off x="1352242" y="1318328"/>
            <a:ext cx="2143471" cy="307777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en-US" altLang="ko-KR" sz="1400" dirty="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Light" panose="02000403000000020004" pitchFamily="2" charset="-127"/>
              </a:rPr>
              <a:t>PROJECT INDEX</a:t>
            </a:r>
            <a:endParaRPr lang="ko-KR" altLang="en-US" sz="1400" dirty="0">
              <a:solidFill>
                <a:srgbClr val="444444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02761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4EE27D-30E1-3300-5395-E4F8EE219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hidden="1">
            <a:extLst>
              <a:ext uri="{FF2B5EF4-FFF2-40B4-BE49-F238E27FC236}">
                <a16:creationId xmlns:a16="http://schemas.microsoft.com/office/drawing/2014/main" id="{C7004837-E9B7-C7B2-380F-8004DD75F75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4BF60FC-8D55-73A7-DA9B-08E26518FE26}"/>
              </a:ext>
            </a:extLst>
          </p:cNvPr>
          <p:cNvSpPr/>
          <p:nvPr/>
        </p:nvSpPr>
        <p:spPr>
          <a:xfrm>
            <a:off x="1185590" y="2343340"/>
            <a:ext cx="4748464" cy="1731839"/>
          </a:xfrm>
          <a:prstGeom prst="roundRect">
            <a:avLst>
              <a:gd name="adj" fmla="val 5993"/>
            </a:avLst>
          </a:prstGeom>
          <a:solidFill>
            <a:srgbClr val="F5F5F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7F7F7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F9847C-79C0-FBE8-9D62-5DC000076F7F}"/>
              </a:ext>
            </a:extLst>
          </p:cNvPr>
          <p:cNvSpPr txBox="1"/>
          <p:nvPr/>
        </p:nvSpPr>
        <p:spPr>
          <a:xfrm>
            <a:off x="2087754" y="2505955"/>
            <a:ext cx="1508338" cy="323165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pPr algn="ctr"/>
            <a:r>
              <a:rPr lang="ko-KR" altLang="en-US" sz="1500" dirty="0">
                <a:solidFill>
                  <a:srgbClr val="22222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임동현 </a:t>
            </a:r>
            <a:r>
              <a:rPr lang="en-US" altLang="ko-KR" sz="1500" dirty="0">
                <a:solidFill>
                  <a:srgbClr val="22222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| </a:t>
            </a:r>
            <a:r>
              <a:rPr lang="ko-KR" altLang="en-US" sz="1500" dirty="0">
                <a:solidFill>
                  <a:srgbClr val="005BAA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팀장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9C88510B-28A7-4492-20CD-D601C242B54B}"/>
              </a:ext>
            </a:extLst>
          </p:cNvPr>
          <p:cNvSpPr/>
          <p:nvPr/>
        </p:nvSpPr>
        <p:spPr>
          <a:xfrm>
            <a:off x="647306" y="1770336"/>
            <a:ext cx="1327355" cy="1327355"/>
          </a:xfrm>
          <a:prstGeom prst="ellipse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3127BE03-0C1A-F208-06CB-517F6B0237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36" y="1782841"/>
            <a:ext cx="1551988" cy="1750164"/>
          </a:xfrm>
          <a:prstGeom prst="rect">
            <a:avLst/>
          </a:prstGeom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C7BE07D3-083A-6F24-7614-469E55DEE6AB}"/>
              </a:ext>
            </a:extLst>
          </p:cNvPr>
          <p:cNvSpPr/>
          <p:nvPr/>
        </p:nvSpPr>
        <p:spPr>
          <a:xfrm>
            <a:off x="1058502" y="4717583"/>
            <a:ext cx="4748464" cy="1731839"/>
          </a:xfrm>
          <a:prstGeom prst="roundRect">
            <a:avLst>
              <a:gd name="adj" fmla="val 5993"/>
            </a:avLst>
          </a:prstGeom>
          <a:solidFill>
            <a:srgbClr val="F5F5F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7F7F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8B94DA-138F-7190-A21B-A284B2170771}"/>
              </a:ext>
            </a:extLst>
          </p:cNvPr>
          <p:cNvSpPr txBox="1"/>
          <p:nvPr/>
        </p:nvSpPr>
        <p:spPr>
          <a:xfrm>
            <a:off x="2001830" y="5026010"/>
            <a:ext cx="1508338" cy="323165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pPr algn="ctr"/>
            <a:r>
              <a:rPr lang="ko-KR" altLang="en-US" sz="1500" dirty="0" err="1">
                <a:solidFill>
                  <a:srgbClr val="22222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임소리</a:t>
            </a:r>
            <a:endParaRPr lang="ko-KR" altLang="en-US" sz="1500" dirty="0">
              <a:solidFill>
                <a:srgbClr val="005BAA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3BD367B8-9983-177B-27FD-D41D1B9EE275}"/>
              </a:ext>
            </a:extLst>
          </p:cNvPr>
          <p:cNvSpPr/>
          <p:nvPr/>
        </p:nvSpPr>
        <p:spPr>
          <a:xfrm>
            <a:off x="520218" y="4144579"/>
            <a:ext cx="1327355" cy="1327355"/>
          </a:xfrm>
          <a:prstGeom prst="ellipse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F1BC8546-3A38-841E-7A7B-8A498A4D86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0448" y="4157084"/>
            <a:ext cx="1608449" cy="1813836"/>
          </a:xfrm>
          <a:prstGeom prst="rect">
            <a:avLst/>
          </a:prstGeom>
        </p:spPr>
      </p:pic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F78F1383-86AF-CE12-36ED-0650AB169FC4}"/>
              </a:ext>
            </a:extLst>
          </p:cNvPr>
          <p:cNvSpPr/>
          <p:nvPr/>
        </p:nvSpPr>
        <p:spPr>
          <a:xfrm>
            <a:off x="6499738" y="4497542"/>
            <a:ext cx="4748464" cy="1731839"/>
          </a:xfrm>
          <a:prstGeom prst="roundRect">
            <a:avLst>
              <a:gd name="adj" fmla="val 5993"/>
            </a:avLst>
          </a:prstGeom>
          <a:solidFill>
            <a:srgbClr val="F5F5F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7F7F7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8A5D5D-2396-DF6F-F41C-0E07EAC820E3}"/>
              </a:ext>
            </a:extLst>
          </p:cNvPr>
          <p:cNvSpPr txBox="1"/>
          <p:nvPr/>
        </p:nvSpPr>
        <p:spPr>
          <a:xfrm>
            <a:off x="7278269" y="4786565"/>
            <a:ext cx="1508338" cy="323165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pPr algn="ctr"/>
            <a:r>
              <a:rPr lang="ko-KR" altLang="en-US" sz="1500" dirty="0">
                <a:solidFill>
                  <a:srgbClr val="22222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하재영</a:t>
            </a: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7C28E70B-C955-2FE6-62B2-11B09D557DFE}"/>
              </a:ext>
            </a:extLst>
          </p:cNvPr>
          <p:cNvSpPr/>
          <p:nvPr/>
        </p:nvSpPr>
        <p:spPr>
          <a:xfrm>
            <a:off x="5961454" y="3924538"/>
            <a:ext cx="1327355" cy="1327355"/>
          </a:xfrm>
          <a:prstGeom prst="ellipse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9A9EAB8F-445A-71CE-8704-910E4C584B9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61684" y="3986204"/>
            <a:ext cx="1641850" cy="1851502"/>
          </a:xfrm>
          <a:prstGeom prst="rect">
            <a:avLst/>
          </a:prstGeom>
        </p:spPr>
      </p:pic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DBAE63C0-1F0A-135B-AA0B-36C134B6E864}"/>
              </a:ext>
            </a:extLst>
          </p:cNvPr>
          <p:cNvSpPr/>
          <p:nvPr/>
        </p:nvSpPr>
        <p:spPr>
          <a:xfrm>
            <a:off x="6430176" y="1965513"/>
            <a:ext cx="4748464" cy="1731839"/>
          </a:xfrm>
          <a:prstGeom prst="roundRect">
            <a:avLst>
              <a:gd name="adj" fmla="val 5993"/>
            </a:avLst>
          </a:prstGeom>
          <a:solidFill>
            <a:srgbClr val="F5F5F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7F7F7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86FB17-24C7-02E9-8B42-3ED105A4C22B}"/>
              </a:ext>
            </a:extLst>
          </p:cNvPr>
          <p:cNvSpPr txBox="1"/>
          <p:nvPr/>
        </p:nvSpPr>
        <p:spPr>
          <a:xfrm>
            <a:off x="7104471" y="2242180"/>
            <a:ext cx="1508338" cy="323165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pPr algn="ctr"/>
            <a:r>
              <a:rPr lang="ko-KR" altLang="en-US" sz="1500">
                <a:solidFill>
                  <a:srgbClr val="22222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오종석</a:t>
            </a:r>
            <a:endParaRPr lang="ko-KR" altLang="en-US" sz="1500" dirty="0">
              <a:solidFill>
                <a:srgbClr val="005BAA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3162A3C9-FEF2-E0C5-6300-2BA48500E779}"/>
              </a:ext>
            </a:extLst>
          </p:cNvPr>
          <p:cNvSpPr/>
          <p:nvPr/>
        </p:nvSpPr>
        <p:spPr>
          <a:xfrm>
            <a:off x="5891892" y="1392509"/>
            <a:ext cx="1327355" cy="1327355"/>
          </a:xfrm>
          <a:prstGeom prst="ellipse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B7E9E2F4-B185-F8EC-7A7F-F866ED65366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42178" y="1524676"/>
            <a:ext cx="1508338" cy="1700940"/>
          </a:xfrm>
          <a:prstGeom prst="rect">
            <a:avLst/>
          </a:prstGeom>
        </p:spPr>
      </p:pic>
      <p:sp>
        <p:nvSpPr>
          <p:cNvPr id="27" name="화살표: 오각형 26">
            <a:extLst>
              <a:ext uri="{FF2B5EF4-FFF2-40B4-BE49-F238E27FC236}">
                <a16:creationId xmlns:a16="http://schemas.microsoft.com/office/drawing/2014/main" id="{B1414956-A752-AD83-72C6-714EDE4398CF}"/>
              </a:ext>
            </a:extLst>
          </p:cNvPr>
          <p:cNvSpPr/>
          <p:nvPr/>
        </p:nvSpPr>
        <p:spPr>
          <a:xfrm rot="5400000">
            <a:off x="181861" y="583566"/>
            <a:ext cx="1543663" cy="376538"/>
          </a:xfrm>
          <a:prstGeom prst="homePlate">
            <a:avLst/>
          </a:prstGeom>
          <a:solidFill>
            <a:srgbClr val="005BA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4BBA82E-8E86-CEEA-E729-042A2057E8B4}"/>
              </a:ext>
            </a:extLst>
          </p:cNvPr>
          <p:cNvSpPr txBox="1"/>
          <p:nvPr/>
        </p:nvSpPr>
        <p:spPr>
          <a:xfrm>
            <a:off x="1395362" y="1318328"/>
            <a:ext cx="2143471" cy="307777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ko-KR" altLang="en-US" sz="1400" dirty="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Light" panose="02000403000000020004" pitchFamily="2" charset="-127"/>
              </a:rPr>
              <a:t>팀원 개인 담당 업무 소개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685C993-DFC5-5DD5-7088-CE5991DDCCA7}"/>
              </a:ext>
            </a:extLst>
          </p:cNvPr>
          <p:cNvSpPr txBox="1"/>
          <p:nvPr/>
        </p:nvSpPr>
        <p:spPr>
          <a:xfrm>
            <a:off x="1352243" y="716672"/>
            <a:ext cx="1976310" cy="646331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ko-KR" altLang="en-US" sz="3600" b="1" dirty="0">
                <a:solidFill>
                  <a:srgbClr val="22222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팀원 역할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3FAFF36-02CD-BE52-8476-5D792A7BEAB0}"/>
              </a:ext>
            </a:extLst>
          </p:cNvPr>
          <p:cNvSpPr txBox="1"/>
          <p:nvPr/>
        </p:nvSpPr>
        <p:spPr>
          <a:xfrm>
            <a:off x="4419140" y="4395516"/>
            <a:ext cx="1406480" cy="369332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ko-KR" altLang="en-US" dirty="0">
                <a:solidFill>
                  <a:srgbClr val="005BAA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프론트 엔드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A7E4330-D849-B67B-E874-9D24D2237753}"/>
              </a:ext>
            </a:extLst>
          </p:cNvPr>
          <p:cNvSpPr txBox="1"/>
          <p:nvPr/>
        </p:nvSpPr>
        <p:spPr>
          <a:xfrm>
            <a:off x="2310650" y="5386145"/>
            <a:ext cx="3448991" cy="584775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ko-KR" altLang="en-US" sz="16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사용자 접점 서비스</a:t>
            </a:r>
            <a:r>
              <a:rPr lang="en-US" altLang="ko-KR" sz="16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(Web / Kiosk)</a:t>
            </a:r>
          </a:p>
          <a:p>
            <a:r>
              <a:rPr lang="ko-KR" altLang="en-US" sz="16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통합 프론트 엔드 개발 및 </a:t>
            </a:r>
            <a:r>
              <a:rPr lang="en-US" altLang="ko-KR" sz="16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UI </a:t>
            </a:r>
            <a:r>
              <a:rPr lang="ko-KR" altLang="en-US" sz="16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설계</a:t>
            </a:r>
            <a:endParaRPr lang="en-US" altLang="ko-KR" sz="1600" dirty="0">
              <a:solidFill>
                <a:srgbClr val="222222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D80BEFF-52FD-2984-D1C4-0D595C62DAE3}"/>
              </a:ext>
            </a:extLst>
          </p:cNvPr>
          <p:cNvSpPr txBox="1"/>
          <p:nvPr/>
        </p:nvSpPr>
        <p:spPr>
          <a:xfrm>
            <a:off x="2312715" y="2958534"/>
            <a:ext cx="3049954" cy="830997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en-US" altLang="ko-KR" sz="16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Medium" panose="02000603000000020004" pitchFamily="2" charset="-127"/>
              </a:rPr>
              <a:t>DB </a:t>
            </a:r>
            <a:r>
              <a:rPr lang="ko-KR" altLang="en-US" sz="16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Medium" panose="02000603000000020004" pitchFamily="2" charset="-127"/>
              </a:rPr>
              <a:t>및 </a:t>
            </a:r>
            <a:r>
              <a:rPr lang="en-US" altLang="ko-KR" sz="16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Medium" panose="02000603000000020004" pitchFamily="2" charset="-127"/>
              </a:rPr>
              <a:t>ERD</a:t>
            </a:r>
            <a:r>
              <a:rPr lang="ko-KR" altLang="en-US" sz="16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Medium" panose="02000603000000020004" pitchFamily="2" charset="-127"/>
              </a:rPr>
              <a:t> 설계</a:t>
            </a:r>
            <a:endParaRPr lang="en-US" altLang="ko-KR" sz="1600" dirty="0">
              <a:solidFill>
                <a:srgbClr val="222222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Pretendard Medium" panose="02000603000000020004" pitchFamily="2" charset="-127"/>
            </a:endParaRPr>
          </a:p>
          <a:p>
            <a:r>
              <a:rPr lang="ko-KR" altLang="en-US" sz="16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Medium" panose="02000603000000020004" pitchFamily="2" charset="-127"/>
              </a:rPr>
              <a:t>시스템 통합 백 엔드 구축</a:t>
            </a:r>
            <a:endParaRPr lang="en-US" altLang="ko-KR" sz="1600" dirty="0">
              <a:solidFill>
                <a:srgbClr val="222222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Pretendard Medium" panose="02000603000000020004" pitchFamily="2" charset="-127"/>
            </a:endParaRPr>
          </a:p>
          <a:p>
            <a:r>
              <a:rPr lang="en-US" altLang="ko-KR" sz="16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Medium" panose="02000603000000020004" pitchFamily="2" charset="-127"/>
              </a:rPr>
              <a:t>OCR </a:t>
            </a:r>
            <a:r>
              <a:rPr lang="ko-KR" altLang="en-US" sz="16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Medium" panose="02000603000000020004" pitchFamily="2" charset="-127"/>
              </a:rPr>
              <a:t>연동 번호판 판독 로직 개발</a:t>
            </a:r>
            <a:endParaRPr lang="en-US" altLang="ko-KR" sz="1600" dirty="0">
              <a:solidFill>
                <a:srgbClr val="222222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450289D-EB1C-6FC9-C6D4-9A431D1BFB6E}"/>
              </a:ext>
            </a:extLst>
          </p:cNvPr>
          <p:cNvSpPr txBox="1"/>
          <p:nvPr/>
        </p:nvSpPr>
        <p:spPr>
          <a:xfrm>
            <a:off x="4801142" y="2028703"/>
            <a:ext cx="856750" cy="369332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ko-KR" altLang="en-US" dirty="0">
                <a:solidFill>
                  <a:srgbClr val="005BAA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백 엔드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51B236A-CC44-43D2-9907-D2B957B7961B}"/>
              </a:ext>
            </a:extLst>
          </p:cNvPr>
          <p:cNvSpPr txBox="1"/>
          <p:nvPr/>
        </p:nvSpPr>
        <p:spPr>
          <a:xfrm>
            <a:off x="7666181" y="5109730"/>
            <a:ext cx="3920075" cy="584775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ko-KR" altLang="en-US" sz="16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Medium" panose="02000603000000020004" pitchFamily="2" charset="-127"/>
              </a:rPr>
              <a:t>실시간 주차 </a:t>
            </a:r>
            <a:r>
              <a:rPr lang="ko-KR" altLang="en-US" sz="1600" dirty="0" err="1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Medium" panose="02000603000000020004" pitchFamily="2" charset="-127"/>
              </a:rPr>
              <a:t>현황판</a:t>
            </a:r>
            <a:r>
              <a:rPr lang="ko-KR" altLang="en-US" sz="16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Medium" panose="02000603000000020004" pitchFamily="2" charset="-127"/>
              </a:rPr>
              <a:t> </a:t>
            </a:r>
            <a:r>
              <a:rPr lang="en-US" altLang="ko-KR" sz="16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Medium" panose="02000603000000020004" pitchFamily="2" charset="-127"/>
              </a:rPr>
              <a:t>UI </a:t>
            </a:r>
            <a:r>
              <a:rPr lang="ko-KR" altLang="en-US" sz="16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Medium" panose="02000603000000020004" pitchFamily="2" charset="-127"/>
              </a:rPr>
              <a:t>설계</a:t>
            </a:r>
            <a:endParaRPr lang="en-US" altLang="ko-KR" sz="1600" dirty="0">
              <a:solidFill>
                <a:srgbClr val="222222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Pretendard Medium" panose="02000603000000020004" pitchFamily="2" charset="-127"/>
            </a:endParaRPr>
          </a:p>
          <a:p>
            <a:r>
              <a:rPr lang="ko-KR" altLang="en-US" sz="16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Medium" panose="02000603000000020004" pitchFamily="2" charset="-127"/>
              </a:rPr>
              <a:t>차량 위치</a:t>
            </a:r>
            <a:r>
              <a:rPr lang="en-US" altLang="ko-KR" sz="16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Medium" panose="02000603000000020004" pitchFamily="2" charset="-127"/>
              </a:rPr>
              <a:t>•</a:t>
            </a:r>
            <a:r>
              <a:rPr lang="ko-KR" altLang="en-US" sz="16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Medium" panose="02000603000000020004" pitchFamily="2" charset="-127"/>
              </a:rPr>
              <a:t>이용 요금 정보</a:t>
            </a:r>
            <a:r>
              <a:rPr lang="en-US" altLang="ko-KR" sz="16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Medium" panose="02000603000000020004" pitchFamily="2" charset="-127"/>
              </a:rPr>
              <a:t> UI </a:t>
            </a:r>
            <a:r>
              <a:rPr lang="ko-KR" altLang="en-US" sz="16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Medium" panose="02000603000000020004" pitchFamily="2" charset="-127"/>
              </a:rPr>
              <a:t>설계</a:t>
            </a:r>
            <a:endParaRPr lang="en-US" altLang="ko-KR" sz="1600" dirty="0">
              <a:solidFill>
                <a:srgbClr val="222222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426A25C-B467-5D35-5829-319A550EFE9E}"/>
              </a:ext>
            </a:extLst>
          </p:cNvPr>
          <p:cNvSpPr txBox="1"/>
          <p:nvPr/>
        </p:nvSpPr>
        <p:spPr>
          <a:xfrm>
            <a:off x="9930072" y="4075179"/>
            <a:ext cx="1406480" cy="369332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ko-KR" altLang="en-US" dirty="0">
                <a:solidFill>
                  <a:srgbClr val="005BAA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프론트 엔드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FDD8985-A515-E3AE-1C57-59112152E594}"/>
              </a:ext>
            </a:extLst>
          </p:cNvPr>
          <p:cNvSpPr txBox="1"/>
          <p:nvPr/>
        </p:nvSpPr>
        <p:spPr>
          <a:xfrm>
            <a:off x="7469533" y="2570977"/>
            <a:ext cx="3673852" cy="584775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ko-KR" altLang="en-US" sz="16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Medium" panose="02000603000000020004" pitchFamily="2" charset="-127"/>
              </a:rPr>
              <a:t>주차장 시스템 백 엔드 구축</a:t>
            </a:r>
            <a:endParaRPr lang="en-US" altLang="ko-KR" sz="1600" dirty="0">
              <a:solidFill>
                <a:srgbClr val="222222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Pretendard Medium" panose="02000603000000020004" pitchFamily="2" charset="-127"/>
            </a:endParaRPr>
          </a:p>
          <a:p>
            <a:r>
              <a:rPr lang="ko-KR" altLang="en-US" sz="16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Medium" panose="02000603000000020004" pitchFamily="2" charset="-127"/>
              </a:rPr>
              <a:t>진료 연동 정산 로직 구축</a:t>
            </a:r>
            <a:endParaRPr lang="en-US" altLang="ko-KR" sz="1600" dirty="0">
              <a:solidFill>
                <a:srgbClr val="222222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82E6F7F-9ED8-E514-7460-21D8FAFABCCD}"/>
              </a:ext>
            </a:extLst>
          </p:cNvPr>
          <p:cNvSpPr txBox="1"/>
          <p:nvPr/>
        </p:nvSpPr>
        <p:spPr>
          <a:xfrm>
            <a:off x="10112124" y="1585670"/>
            <a:ext cx="856750" cy="369332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ko-KR" altLang="en-US" dirty="0">
                <a:solidFill>
                  <a:srgbClr val="005BAA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백 엔드</a:t>
            </a:r>
          </a:p>
        </p:txBody>
      </p:sp>
    </p:spTree>
    <p:extLst>
      <p:ext uri="{BB962C8B-B14F-4D97-AF65-F5344CB8AC3E}">
        <p14:creationId xmlns:p14="http://schemas.microsoft.com/office/powerpoint/2010/main" val="3791254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EBE511-BC92-5332-A863-52FA9EF76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hidden="1">
            <a:extLst>
              <a:ext uri="{FF2B5EF4-FFF2-40B4-BE49-F238E27FC236}">
                <a16:creationId xmlns:a16="http://schemas.microsoft.com/office/drawing/2014/main" id="{1B5B2B97-896A-A0A0-3D3F-5CAA8EEE130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A08EC369-C93B-87FA-670F-D31933497D87}"/>
              </a:ext>
            </a:extLst>
          </p:cNvPr>
          <p:cNvSpPr txBox="1"/>
          <p:nvPr/>
        </p:nvSpPr>
        <p:spPr>
          <a:xfrm>
            <a:off x="1395362" y="1050095"/>
            <a:ext cx="3176261" cy="307777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ko-KR" altLang="en-US" sz="1400" dirty="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Light" panose="02000403000000020004" pitchFamily="2" charset="-127"/>
              </a:rPr>
              <a:t>프로젝트명</a:t>
            </a:r>
            <a:r>
              <a:rPr lang="en-US" altLang="ko-KR" sz="1400" dirty="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1400" dirty="0" err="1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Light" panose="02000403000000020004" pitchFamily="2" charset="-127"/>
              </a:rPr>
              <a:t>서울에스병원</a:t>
            </a:r>
            <a:r>
              <a:rPr lang="ko-KR" altLang="en-US" sz="1400" dirty="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Light" panose="02000403000000020004" pitchFamily="2" charset="-127"/>
              </a:rPr>
              <a:t> 시스템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7954E3F-00D0-86D5-AB0A-7DBF0374A6BD}"/>
              </a:ext>
            </a:extLst>
          </p:cNvPr>
          <p:cNvSpPr txBox="1"/>
          <p:nvPr/>
        </p:nvSpPr>
        <p:spPr>
          <a:xfrm>
            <a:off x="1395361" y="1328271"/>
            <a:ext cx="2853983" cy="307777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ko-KR" altLang="en-US" sz="1400" dirty="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Light" panose="02000403000000020004" pitchFamily="2" charset="-127"/>
              </a:rPr>
              <a:t>개발 기간</a:t>
            </a:r>
            <a:r>
              <a:rPr lang="en-US" altLang="ko-KR" sz="1400" dirty="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Light" panose="02000403000000020004" pitchFamily="2" charset="-127"/>
              </a:rPr>
              <a:t>: 26.01.26 ~ 02.20</a:t>
            </a:r>
            <a:endParaRPr lang="ko-KR" altLang="en-US" sz="1400" dirty="0">
              <a:solidFill>
                <a:srgbClr val="444444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B5788252-724D-8614-485D-9D9C82C75DA7}"/>
              </a:ext>
            </a:extLst>
          </p:cNvPr>
          <p:cNvSpPr/>
          <p:nvPr/>
        </p:nvSpPr>
        <p:spPr>
          <a:xfrm>
            <a:off x="760167" y="2051202"/>
            <a:ext cx="3284728" cy="2246764"/>
          </a:xfrm>
          <a:prstGeom prst="roundRect">
            <a:avLst>
              <a:gd name="adj" fmla="val 5993"/>
            </a:avLst>
          </a:prstGeom>
          <a:solidFill>
            <a:srgbClr val="F7F7F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사각형: 둥근 위쪽 모서리 72">
            <a:extLst>
              <a:ext uri="{FF2B5EF4-FFF2-40B4-BE49-F238E27FC236}">
                <a16:creationId xmlns:a16="http://schemas.microsoft.com/office/drawing/2014/main" id="{FA8953CD-5B97-39D5-2779-59EFC188468D}"/>
              </a:ext>
            </a:extLst>
          </p:cNvPr>
          <p:cNvSpPr/>
          <p:nvPr/>
        </p:nvSpPr>
        <p:spPr>
          <a:xfrm flipV="1">
            <a:off x="983396" y="2051201"/>
            <a:ext cx="1319708" cy="369332"/>
          </a:xfrm>
          <a:prstGeom prst="round2SameRect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769C23D-57B0-F2CA-D0BA-DFFCD371092D}"/>
              </a:ext>
            </a:extLst>
          </p:cNvPr>
          <p:cNvSpPr txBox="1"/>
          <p:nvPr/>
        </p:nvSpPr>
        <p:spPr>
          <a:xfrm>
            <a:off x="1013099" y="2066590"/>
            <a:ext cx="1260302" cy="3385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rIns="0" spcCol="216000" rtlCol="0">
            <a:spAutoFit/>
          </a:bodyPr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Medium" panose="02000603000000020004" pitchFamily="2" charset="-127"/>
              </a:rPr>
              <a:t>개요 </a:t>
            </a:r>
            <a:r>
              <a:rPr lang="en-US" altLang="ko-KR" sz="160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Medium" panose="02000603000000020004" pitchFamily="2" charset="-127"/>
              </a:rPr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F601923-B6E6-2CB8-7CA9-8CA677FA5865}"/>
              </a:ext>
            </a:extLst>
          </p:cNvPr>
          <p:cNvSpPr txBox="1"/>
          <p:nvPr/>
        </p:nvSpPr>
        <p:spPr>
          <a:xfrm>
            <a:off x="983396" y="2659165"/>
            <a:ext cx="851599" cy="400110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ko-KR" altLang="en-US" sz="2000" dirty="0">
                <a:solidFill>
                  <a:srgbClr val="005BAA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서비스</a:t>
            </a:r>
            <a:endParaRPr lang="en-US" altLang="ko-KR" sz="2000" dirty="0">
              <a:solidFill>
                <a:srgbClr val="005BAA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Medium" panose="02000603000000020004" pitchFamily="2" charset="-127"/>
            </a:endParaRPr>
          </a:p>
        </p:txBody>
      </p: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6C759794-81AA-8844-4505-18CC806E1454}"/>
              </a:ext>
            </a:extLst>
          </p:cNvPr>
          <p:cNvCxnSpPr>
            <a:cxnSpLocks/>
          </p:cNvCxnSpPr>
          <p:nvPr/>
        </p:nvCxnSpPr>
        <p:spPr>
          <a:xfrm>
            <a:off x="1055539" y="3178591"/>
            <a:ext cx="2693985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8A2C4E1C-5920-38EA-3C94-24D6B20C61BE}"/>
              </a:ext>
            </a:extLst>
          </p:cNvPr>
          <p:cNvSpPr txBox="1"/>
          <p:nvPr/>
        </p:nvSpPr>
        <p:spPr>
          <a:xfrm>
            <a:off x="1013098" y="3297907"/>
            <a:ext cx="2736425" cy="784830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>
            <a:defPPr>
              <a:defRPr lang="ko-KR"/>
            </a:defPPr>
            <a:lvl1pPr>
              <a:defRPr sz="150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Medium" panose="02000603000000020004" pitchFamily="2" charset="-127"/>
              </a:defRPr>
            </a:lvl1pPr>
          </a:lstStyle>
          <a:p>
            <a:r>
              <a:rPr lang="en-US" altLang="ko-KR" dirty="0"/>
              <a:t>OCR </a:t>
            </a:r>
            <a:r>
              <a:rPr lang="ko-KR" altLang="en-US" dirty="0"/>
              <a:t>기반 입</a:t>
            </a:r>
            <a:r>
              <a:rPr lang="en-US" altLang="ko-KR" dirty="0"/>
              <a:t>·</a:t>
            </a:r>
            <a:r>
              <a:rPr lang="ko-KR" altLang="en-US" dirty="0" err="1"/>
              <a:t>출차</a:t>
            </a:r>
            <a:r>
              <a:rPr lang="ko-KR" altLang="en-US" dirty="0"/>
              <a:t> 시스템 운영 및 예약</a:t>
            </a:r>
            <a:r>
              <a:rPr lang="en-US" altLang="ko-KR" dirty="0"/>
              <a:t>·</a:t>
            </a:r>
            <a:r>
              <a:rPr lang="ko-KR" altLang="en-US" dirty="0"/>
              <a:t>민원 통합 관리를 지원하는 스마트 병원 솔루션</a:t>
            </a:r>
            <a:endParaRPr lang="en-US" altLang="ko-KR" dirty="0"/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C7F6FB36-BB1C-DE41-4A15-BE80EA9A7DE5}"/>
              </a:ext>
            </a:extLst>
          </p:cNvPr>
          <p:cNvSpPr/>
          <p:nvPr/>
        </p:nvSpPr>
        <p:spPr>
          <a:xfrm>
            <a:off x="4453636" y="2046726"/>
            <a:ext cx="3284728" cy="2246764"/>
          </a:xfrm>
          <a:prstGeom prst="roundRect">
            <a:avLst>
              <a:gd name="adj" fmla="val 5993"/>
            </a:avLst>
          </a:prstGeom>
          <a:solidFill>
            <a:srgbClr val="F7F7F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사각형: 둥근 위쪽 모서리 81">
            <a:extLst>
              <a:ext uri="{FF2B5EF4-FFF2-40B4-BE49-F238E27FC236}">
                <a16:creationId xmlns:a16="http://schemas.microsoft.com/office/drawing/2014/main" id="{78B5BFBF-7B9E-6E2B-E62A-C211742FDD52}"/>
              </a:ext>
            </a:extLst>
          </p:cNvPr>
          <p:cNvSpPr/>
          <p:nvPr/>
        </p:nvSpPr>
        <p:spPr>
          <a:xfrm flipV="1">
            <a:off x="4676865" y="2046725"/>
            <a:ext cx="1319708" cy="369332"/>
          </a:xfrm>
          <a:prstGeom prst="round2SameRect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91AD789-8C81-90AD-D95B-89C6218B3D12}"/>
              </a:ext>
            </a:extLst>
          </p:cNvPr>
          <p:cNvSpPr txBox="1"/>
          <p:nvPr/>
        </p:nvSpPr>
        <p:spPr>
          <a:xfrm>
            <a:off x="4706568" y="2062114"/>
            <a:ext cx="1260302" cy="3385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rIns="0" spcCol="216000" rtlCol="0">
            <a:spAutoFit/>
          </a:bodyPr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Medium" panose="02000603000000020004" pitchFamily="2" charset="-127"/>
              </a:rPr>
              <a:t>개요 </a:t>
            </a:r>
            <a:r>
              <a:rPr lang="en-US" altLang="ko-KR" sz="160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Medium" panose="02000603000000020004" pitchFamily="2" charset="-127"/>
              </a:rPr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82BA775-21A0-48B6-F3CF-B8F10C2A9504}"/>
              </a:ext>
            </a:extLst>
          </p:cNvPr>
          <p:cNvSpPr txBox="1"/>
          <p:nvPr/>
        </p:nvSpPr>
        <p:spPr>
          <a:xfrm>
            <a:off x="4676865" y="2654689"/>
            <a:ext cx="1674774" cy="400110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ko-KR" altLang="en-US" sz="2000">
                <a:solidFill>
                  <a:srgbClr val="005BAA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기획 배경</a:t>
            </a:r>
            <a:endParaRPr lang="en-US" altLang="ko-KR" sz="2000" dirty="0">
              <a:solidFill>
                <a:srgbClr val="005BAA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Medium" panose="02000603000000020004" pitchFamily="2" charset="-127"/>
            </a:endParaRPr>
          </a:p>
        </p:txBody>
      </p: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B5FBB7FD-8ED3-C47E-9209-661D8FD82D71}"/>
              </a:ext>
            </a:extLst>
          </p:cNvPr>
          <p:cNvCxnSpPr>
            <a:cxnSpLocks/>
          </p:cNvCxnSpPr>
          <p:nvPr/>
        </p:nvCxnSpPr>
        <p:spPr>
          <a:xfrm>
            <a:off x="4749008" y="3174115"/>
            <a:ext cx="2693985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0281AA76-1D92-7C1E-48F2-583F74A34F4B}"/>
              </a:ext>
            </a:extLst>
          </p:cNvPr>
          <p:cNvSpPr txBox="1"/>
          <p:nvPr/>
        </p:nvSpPr>
        <p:spPr>
          <a:xfrm>
            <a:off x="4706567" y="3293431"/>
            <a:ext cx="2736425" cy="784830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ko-KR" altLang="en-US" sz="1500" dirty="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Medium" panose="02000603000000020004" pitchFamily="2" charset="-127"/>
              </a:rPr>
              <a:t>웹 기반 병원 통합 시스템 고도화 및 차량 인식 프로세스 선행 연구를 통한 스마트 병원 솔루션 구현</a:t>
            </a:r>
            <a:endParaRPr lang="en-US" altLang="ko-KR" sz="1500" dirty="0">
              <a:solidFill>
                <a:srgbClr val="444444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2BE21495-9982-CBF5-9EAE-CD181B34FEED}"/>
              </a:ext>
            </a:extLst>
          </p:cNvPr>
          <p:cNvSpPr/>
          <p:nvPr/>
        </p:nvSpPr>
        <p:spPr>
          <a:xfrm>
            <a:off x="8147105" y="2042250"/>
            <a:ext cx="3284728" cy="2246764"/>
          </a:xfrm>
          <a:prstGeom prst="roundRect">
            <a:avLst>
              <a:gd name="adj" fmla="val 5993"/>
            </a:avLst>
          </a:prstGeom>
          <a:solidFill>
            <a:srgbClr val="F7F7F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사각형: 둥근 위쪽 모서리 87">
            <a:extLst>
              <a:ext uri="{FF2B5EF4-FFF2-40B4-BE49-F238E27FC236}">
                <a16:creationId xmlns:a16="http://schemas.microsoft.com/office/drawing/2014/main" id="{E1C7CE5E-7F36-CCD2-AD95-25A61F5EA487}"/>
              </a:ext>
            </a:extLst>
          </p:cNvPr>
          <p:cNvSpPr/>
          <p:nvPr/>
        </p:nvSpPr>
        <p:spPr>
          <a:xfrm flipV="1">
            <a:off x="8370334" y="2042249"/>
            <a:ext cx="1319708" cy="369332"/>
          </a:xfrm>
          <a:prstGeom prst="round2SameRect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9EAA152-ED11-3B31-447A-7E02769998D5}"/>
              </a:ext>
            </a:extLst>
          </p:cNvPr>
          <p:cNvSpPr txBox="1"/>
          <p:nvPr/>
        </p:nvSpPr>
        <p:spPr>
          <a:xfrm>
            <a:off x="8400037" y="2057638"/>
            <a:ext cx="1260302" cy="3385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rIns="0" spcCol="216000" rtlCol="0">
            <a:spAutoFit/>
          </a:bodyPr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Medium" panose="02000603000000020004" pitchFamily="2" charset="-127"/>
              </a:rPr>
              <a:t>개요 </a:t>
            </a:r>
            <a:r>
              <a:rPr lang="en-US" altLang="ko-KR" sz="160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Medium" panose="02000603000000020004" pitchFamily="2" charset="-127"/>
              </a:rPr>
              <a:t>3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58B52E8-B2FF-2931-66A2-D0216777B605}"/>
              </a:ext>
            </a:extLst>
          </p:cNvPr>
          <p:cNvSpPr txBox="1"/>
          <p:nvPr/>
        </p:nvSpPr>
        <p:spPr>
          <a:xfrm>
            <a:off x="8370334" y="2650213"/>
            <a:ext cx="1756892" cy="400110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ko-KR" altLang="en-US" sz="2000">
                <a:solidFill>
                  <a:srgbClr val="005BAA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기획 목적</a:t>
            </a:r>
            <a:endParaRPr lang="en-US" altLang="ko-KR" sz="2000" dirty="0">
              <a:solidFill>
                <a:srgbClr val="005BAA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Medium" panose="02000603000000020004" pitchFamily="2" charset="-127"/>
            </a:endParaRPr>
          </a:p>
        </p:txBody>
      </p: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95916542-9D40-02D5-A31B-C389B3D7C367}"/>
              </a:ext>
            </a:extLst>
          </p:cNvPr>
          <p:cNvCxnSpPr>
            <a:cxnSpLocks/>
          </p:cNvCxnSpPr>
          <p:nvPr/>
        </p:nvCxnSpPr>
        <p:spPr>
          <a:xfrm>
            <a:off x="8442477" y="3169639"/>
            <a:ext cx="2693985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5DCD97B0-D611-2467-F247-91F439117967}"/>
              </a:ext>
            </a:extLst>
          </p:cNvPr>
          <p:cNvSpPr txBox="1"/>
          <p:nvPr/>
        </p:nvSpPr>
        <p:spPr>
          <a:xfrm>
            <a:off x="8400036" y="3288955"/>
            <a:ext cx="2736425" cy="784830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>
            <a:defPPr>
              <a:defRPr lang="ko-KR"/>
            </a:defPPr>
            <a:lvl1pPr>
              <a:defRPr sz="150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Medium" panose="02000603000000020004" pitchFamily="2" charset="-127"/>
              </a:defRPr>
            </a:lvl1pPr>
          </a:lstStyle>
          <a:p>
            <a:r>
              <a:rPr lang="ko-KR" altLang="en-US" dirty="0"/>
              <a:t>환자 중심 서비스 접근성</a:t>
            </a:r>
            <a:r>
              <a:rPr lang="en-US" altLang="ko-KR" dirty="0"/>
              <a:t>•</a:t>
            </a:r>
            <a:r>
              <a:rPr lang="ko-KR" altLang="en-US" dirty="0"/>
              <a:t>편의성 강화 및 고도화된 보안 기반 행정 최적화</a:t>
            </a:r>
            <a:endParaRPr lang="en-US" altLang="ko-KR" dirty="0"/>
          </a:p>
        </p:txBody>
      </p:sp>
      <p:sp>
        <p:nvSpPr>
          <p:cNvPr id="93" name="사각형: 둥근 모서리 92">
            <a:extLst>
              <a:ext uri="{FF2B5EF4-FFF2-40B4-BE49-F238E27FC236}">
                <a16:creationId xmlns:a16="http://schemas.microsoft.com/office/drawing/2014/main" id="{305F7545-9638-B05D-8E6F-CF4FA38B5FD5}"/>
              </a:ext>
            </a:extLst>
          </p:cNvPr>
          <p:cNvSpPr/>
          <p:nvPr/>
        </p:nvSpPr>
        <p:spPr>
          <a:xfrm>
            <a:off x="760167" y="4933202"/>
            <a:ext cx="10671666" cy="1352517"/>
          </a:xfrm>
          <a:prstGeom prst="roundRect">
            <a:avLst>
              <a:gd name="adj" fmla="val 5993"/>
            </a:avLst>
          </a:prstGeom>
          <a:solidFill>
            <a:srgbClr val="005BA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5BAA"/>
              </a:solidFill>
            </a:endParaRPr>
          </a:p>
        </p:txBody>
      </p: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0683F2D2-1885-6E49-4412-C3D0E1B5CCBF}"/>
              </a:ext>
            </a:extLst>
          </p:cNvPr>
          <p:cNvGrpSpPr/>
          <p:nvPr/>
        </p:nvGrpSpPr>
        <p:grpSpPr>
          <a:xfrm>
            <a:off x="2213406" y="4176652"/>
            <a:ext cx="234000" cy="234000"/>
            <a:chOff x="2213406" y="4380547"/>
            <a:chExt cx="234000" cy="234000"/>
          </a:xfrm>
        </p:grpSpPr>
        <p:sp>
          <p:nvSpPr>
            <p:cNvPr id="95" name="타원 94">
              <a:extLst>
                <a:ext uri="{FF2B5EF4-FFF2-40B4-BE49-F238E27FC236}">
                  <a16:creationId xmlns:a16="http://schemas.microsoft.com/office/drawing/2014/main" id="{9D818853-7FAC-6D18-E128-A5C75B7FA1BA}"/>
                </a:ext>
              </a:extLst>
            </p:cNvPr>
            <p:cNvSpPr/>
            <p:nvPr/>
          </p:nvSpPr>
          <p:spPr>
            <a:xfrm>
              <a:off x="2213406" y="4380547"/>
              <a:ext cx="234000" cy="234000"/>
            </a:xfrm>
            <a:prstGeom prst="ellipse">
              <a:avLst/>
            </a:prstGeom>
            <a:solidFill>
              <a:srgbClr val="005BAA">
                <a:alpha val="4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77E76060-29B0-2E01-893F-52DC786A27AE}"/>
                </a:ext>
              </a:extLst>
            </p:cNvPr>
            <p:cNvSpPr/>
            <p:nvPr/>
          </p:nvSpPr>
          <p:spPr>
            <a:xfrm>
              <a:off x="2294406" y="4461547"/>
              <a:ext cx="72000" cy="72000"/>
            </a:xfrm>
            <a:prstGeom prst="ellipse">
              <a:avLst/>
            </a:prstGeom>
            <a:solidFill>
              <a:srgbClr val="005BA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FE1B00D0-B56A-19D3-F11F-26DA9FE4CAB1}"/>
              </a:ext>
            </a:extLst>
          </p:cNvPr>
          <p:cNvGrpSpPr/>
          <p:nvPr/>
        </p:nvGrpSpPr>
        <p:grpSpPr>
          <a:xfrm>
            <a:off x="5979000" y="4176652"/>
            <a:ext cx="234000" cy="234000"/>
            <a:chOff x="2213406" y="4380547"/>
            <a:chExt cx="234000" cy="234000"/>
          </a:xfrm>
        </p:grpSpPr>
        <p:sp>
          <p:nvSpPr>
            <p:cNvPr id="98" name="타원 97">
              <a:extLst>
                <a:ext uri="{FF2B5EF4-FFF2-40B4-BE49-F238E27FC236}">
                  <a16:creationId xmlns:a16="http://schemas.microsoft.com/office/drawing/2014/main" id="{9534CD63-2B46-AE37-4AA3-D6B2E4E3911C}"/>
                </a:ext>
              </a:extLst>
            </p:cNvPr>
            <p:cNvSpPr/>
            <p:nvPr/>
          </p:nvSpPr>
          <p:spPr>
            <a:xfrm>
              <a:off x="2213406" y="4380547"/>
              <a:ext cx="234000" cy="234000"/>
            </a:xfrm>
            <a:prstGeom prst="ellipse">
              <a:avLst/>
            </a:prstGeom>
            <a:solidFill>
              <a:srgbClr val="005BAA">
                <a:alpha val="4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타원 98">
              <a:extLst>
                <a:ext uri="{FF2B5EF4-FFF2-40B4-BE49-F238E27FC236}">
                  <a16:creationId xmlns:a16="http://schemas.microsoft.com/office/drawing/2014/main" id="{07FB2564-A757-EBE3-A9D3-98AD0B122E19}"/>
                </a:ext>
              </a:extLst>
            </p:cNvPr>
            <p:cNvSpPr/>
            <p:nvPr/>
          </p:nvSpPr>
          <p:spPr>
            <a:xfrm>
              <a:off x="2294406" y="4461547"/>
              <a:ext cx="72000" cy="72000"/>
            </a:xfrm>
            <a:prstGeom prst="ellipse">
              <a:avLst/>
            </a:prstGeom>
            <a:solidFill>
              <a:srgbClr val="005BA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FD50ED4D-EBFA-D32C-3612-510369278C59}"/>
              </a:ext>
            </a:extLst>
          </p:cNvPr>
          <p:cNvGrpSpPr/>
          <p:nvPr/>
        </p:nvGrpSpPr>
        <p:grpSpPr>
          <a:xfrm>
            <a:off x="9738346" y="4176652"/>
            <a:ext cx="234000" cy="234000"/>
            <a:chOff x="2213406" y="4380547"/>
            <a:chExt cx="234000" cy="234000"/>
          </a:xfrm>
        </p:grpSpPr>
        <p:sp>
          <p:nvSpPr>
            <p:cNvPr id="101" name="타원 100">
              <a:extLst>
                <a:ext uri="{FF2B5EF4-FFF2-40B4-BE49-F238E27FC236}">
                  <a16:creationId xmlns:a16="http://schemas.microsoft.com/office/drawing/2014/main" id="{F27D7BAA-EE34-5094-9351-836C8949D805}"/>
                </a:ext>
              </a:extLst>
            </p:cNvPr>
            <p:cNvSpPr/>
            <p:nvPr/>
          </p:nvSpPr>
          <p:spPr>
            <a:xfrm>
              <a:off x="2213406" y="4380547"/>
              <a:ext cx="234000" cy="234000"/>
            </a:xfrm>
            <a:prstGeom prst="ellipse">
              <a:avLst/>
            </a:prstGeom>
            <a:solidFill>
              <a:srgbClr val="005BAA">
                <a:alpha val="4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" name="타원 101">
              <a:extLst>
                <a:ext uri="{FF2B5EF4-FFF2-40B4-BE49-F238E27FC236}">
                  <a16:creationId xmlns:a16="http://schemas.microsoft.com/office/drawing/2014/main" id="{5B704159-707D-D6AC-332E-30B851B44E5E}"/>
                </a:ext>
              </a:extLst>
            </p:cNvPr>
            <p:cNvSpPr/>
            <p:nvPr/>
          </p:nvSpPr>
          <p:spPr>
            <a:xfrm>
              <a:off x="2294406" y="4461547"/>
              <a:ext cx="72000" cy="72000"/>
            </a:xfrm>
            <a:prstGeom prst="ellipse">
              <a:avLst/>
            </a:prstGeom>
            <a:solidFill>
              <a:srgbClr val="005BA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3" name="왼쪽 대괄호 102">
            <a:extLst>
              <a:ext uri="{FF2B5EF4-FFF2-40B4-BE49-F238E27FC236}">
                <a16:creationId xmlns:a16="http://schemas.microsoft.com/office/drawing/2014/main" id="{B537A6B7-6EE0-1222-FEA4-B65B63BF5890}"/>
              </a:ext>
            </a:extLst>
          </p:cNvPr>
          <p:cNvSpPr/>
          <p:nvPr/>
        </p:nvSpPr>
        <p:spPr>
          <a:xfrm rot="16200000">
            <a:off x="5995095" y="625135"/>
            <a:ext cx="194623" cy="7524000"/>
          </a:xfrm>
          <a:prstGeom prst="leftBracket">
            <a:avLst>
              <a:gd name="adj" fmla="val 210622"/>
            </a:avLst>
          </a:prstGeom>
          <a:ln>
            <a:solidFill>
              <a:srgbClr val="005B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C0C01708-D388-6763-95BF-642DD9B4654C}"/>
              </a:ext>
            </a:extLst>
          </p:cNvPr>
          <p:cNvCxnSpPr>
            <a:cxnSpLocks/>
            <a:stCxn id="99" idx="0"/>
          </p:cNvCxnSpPr>
          <p:nvPr/>
        </p:nvCxnSpPr>
        <p:spPr>
          <a:xfrm>
            <a:off x="6096000" y="4257652"/>
            <a:ext cx="0" cy="1072692"/>
          </a:xfrm>
          <a:prstGeom prst="line">
            <a:avLst/>
          </a:prstGeom>
          <a:ln>
            <a:solidFill>
              <a:srgbClr val="005B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3B691EB9-78F4-F907-F693-814710BBAB2C}"/>
              </a:ext>
            </a:extLst>
          </p:cNvPr>
          <p:cNvSpPr txBox="1"/>
          <p:nvPr/>
        </p:nvSpPr>
        <p:spPr>
          <a:xfrm>
            <a:off x="803548" y="5424794"/>
            <a:ext cx="1058494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100" dirty="0"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“ </a:t>
            </a:r>
            <a:r>
              <a:rPr lang="ko-KR" altLang="en-US" sz="2100" dirty="0"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번호판 인식 기반 주차 최적화 및 체계적인 보안 권한이 조화된 통합 스마트 병원 시스템</a:t>
            </a:r>
            <a:r>
              <a:rPr lang="en-US" altLang="ko-KR" sz="2100" dirty="0"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”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A4E4C2F3-8184-3ED1-066F-9A87270DE2AE}"/>
              </a:ext>
            </a:extLst>
          </p:cNvPr>
          <p:cNvSpPr txBox="1"/>
          <p:nvPr/>
        </p:nvSpPr>
        <p:spPr>
          <a:xfrm>
            <a:off x="1352242" y="440494"/>
            <a:ext cx="2853983" cy="646331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ko-KR" altLang="en-US" sz="3600" b="1" dirty="0">
                <a:solidFill>
                  <a:srgbClr val="22222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프로젝트 개요 </a:t>
            </a:r>
          </a:p>
        </p:txBody>
      </p:sp>
      <p:sp>
        <p:nvSpPr>
          <p:cNvPr id="107" name="화살표: 오각형 106">
            <a:extLst>
              <a:ext uri="{FF2B5EF4-FFF2-40B4-BE49-F238E27FC236}">
                <a16:creationId xmlns:a16="http://schemas.microsoft.com/office/drawing/2014/main" id="{2DB324CE-53F8-E38D-546F-98D53B53B67D}"/>
              </a:ext>
            </a:extLst>
          </p:cNvPr>
          <p:cNvSpPr/>
          <p:nvPr/>
        </p:nvSpPr>
        <p:spPr>
          <a:xfrm rot="5400000">
            <a:off x="181862" y="583565"/>
            <a:ext cx="1543662" cy="376538"/>
          </a:xfrm>
          <a:prstGeom prst="homePlate">
            <a:avLst/>
          </a:prstGeom>
          <a:solidFill>
            <a:srgbClr val="005BA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2142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화살표: 오각형 56">
            <a:extLst>
              <a:ext uri="{FF2B5EF4-FFF2-40B4-BE49-F238E27FC236}">
                <a16:creationId xmlns:a16="http://schemas.microsoft.com/office/drawing/2014/main" id="{18ED55FE-27F4-5718-7A58-7DB0FA576B45}"/>
              </a:ext>
            </a:extLst>
          </p:cNvPr>
          <p:cNvSpPr/>
          <p:nvPr/>
        </p:nvSpPr>
        <p:spPr>
          <a:xfrm rot="5400000">
            <a:off x="181861" y="583566"/>
            <a:ext cx="1543663" cy="376538"/>
          </a:xfrm>
          <a:prstGeom prst="homePlate">
            <a:avLst/>
          </a:prstGeom>
          <a:solidFill>
            <a:srgbClr val="005BA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0F73035-99FB-8F6E-C8A0-F7FB72B67B1F}"/>
              </a:ext>
            </a:extLst>
          </p:cNvPr>
          <p:cNvSpPr txBox="1"/>
          <p:nvPr/>
        </p:nvSpPr>
        <p:spPr>
          <a:xfrm>
            <a:off x="1395362" y="1318328"/>
            <a:ext cx="2143471" cy="307777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ko-KR" altLang="en-US" sz="140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Light" panose="02000403000000020004" pitchFamily="2" charset="-127"/>
              </a:rPr>
              <a:t>주요 기능 및 운영 로직</a:t>
            </a:r>
            <a:endParaRPr lang="ko-KR" altLang="en-US" sz="1400" dirty="0">
              <a:solidFill>
                <a:srgbClr val="444444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B8EF729-3948-983C-AF70-BFC02C59D88F}"/>
              </a:ext>
            </a:extLst>
          </p:cNvPr>
          <p:cNvSpPr txBox="1"/>
          <p:nvPr/>
        </p:nvSpPr>
        <p:spPr>
          <a:xfrm>
            <a:off x="1352242" y="716672"/>
            <a:ext cx="3967009" cy="646331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ko-KR" altLang="en-US" sz="3600" b="1">
                <a:solidFill>
                  <a:srgbClr val="22222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프로젝트 주요 기능</a:t>
            </a:r>
            <a:endParaRPr lang="ko-KR" altLang="en-US" sz="3600" b="1" dirty="0">
              <a:solidFill>
                <a:srgbClr val="22222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8A922D-FBA4-9A62-2114-0D8CF0B84F2B}"/>
              </a:ext>
            </a:extLst>
          </p:cNvPr>
          <p:cNvSpPr txBox="1"/>
          <p:nvPr/>
        </p:nvSpPr>
        <p:spPr>
          <a:xfrm>
            <a:off x="1004828" y="3491941"/>
            <a:ext cx="2789911" cy="646331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pPr algn="ctr"/>
            <a:r>
              <a:rPr lang="en-US" altLang="ko-KR" dirty="0">
                <a:solidFill>
                  <a:srgbClr val="333333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OCR </a:t>
            </a:r>
            <a:r>
              <a:rPr lang="ko-KR" altLang="en-US" dirty="0">
                <a:solidFill>
                  <a:srgbClr val="333333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엔진 기반의</a:t>
            </a:r>
            <a:endParaRPr lang="en-US" altLang="ko-KR" dirty="0">
              <a:solidFill>
                <a:srgbClr val="333333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Medium" panose="02000603000000020004" pitchFamily="2" charset="-127"/>
            </a:endParaRPr>
          </a:p>
          <a:p>
            <a:pPr algn="ctr"/>
            <a:r>
              <a:rPr lang="ko-KR" altLang="en-US" dirty="0">
                <a:solidFill>
                  <a:srgbClr val="005BAA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실시간 차량 번호 자동 판독</a:t>
            </a:r>
            <a:endParaRPr lang="en-US" altLang="ko-KR" dirty="0">
              <a:solidFill>
                <a:srgbClr val="005BAA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Medium" panose="02000603000000020004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CAE7245-A799-57C9-DB7F-3ADCBA1D4B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13" b="6822"/>
          <a:stretch/>
        </p:blipFill>
        <p:spPr>
          <a:xfrm>
            <a:off x="1542866" y="1668247"/>
            <a:ext cx="1718979" cy="12769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0E00226-DD14-9D76-03CE-178AEF62D434}"/>
              </a:ext>
            </a:extLst>
          </p:cNvPr>
          <p:cNvSpPr txBox="1"/>
          <p:nvPr/>
        </p:nvSpPr>
        <p:spPr>
          <a:xfrm>
            <a:off x="1394490" y="3214774"/>
            <a:ext cx="2015733" cy="277167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pPr algn="ctr"/>
            <a:r>
              <a:rPr lang="en-US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LICENSE PLATE OCR</a:t>
            </a:r>
            <a:endParaRPr lang="en-US" altLang="ko-KR" sz="1000" dirty="0">
              <a:solidFill>
                <a:srgbClr val="333333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A38B0B8-DB6D-A40E-BDFD-225963157620}"/>
              </a:ext>
            </a:extLst>
          </p:cNvPr>
          <p:cNvSpPr txBox="1"/>
          <p:nvPr/>
        </p:nvSpPr>
        <p:spPr>
          <a:xfrm>
            <a:off x="6853993" y="3197591"/>
            <a:ext cx="2399541" cy="646331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pPr algn="ctr"/>
            <a:r>
              <a:rPr lang="ko-KR" altLang="en-US" dirty="0">
                <a:solidFill>
                  <a:srgbClr val="22222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알고리즘 기반 지능형 주차 구역 </a:t>
            </a:r>
            <a:r>
              <a:rPr lang="ko-KR" altLang="en-US" dirty="0">
                <a:solidFill>
                  <a:srgbClr val="005BAA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자동 매핑</a:t>
            </a:r>
            <a:endParaRPr lang="en-US" altLang="ko-KR" dirty="0">
              <a:solidFill>
                <a:srgbClr val="005BAA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Medium" panose="02000603000000020004" pitchFamily="2" charset="-127"/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D6BEBA66-3B9E-70AF-F40E-DB148E5EF6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447" b="18447"/>
          <a:stretch/>
        </p:blipFill>
        <p:spPr>
          <a:xfrm>
            <a:off x="7072711" y="1236654"/>
            <a:ext cx="1718979" cy="1276914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5BA7751C-E91C-9EEB-0FE3-240AE94BDC05}"/>
              </a:ext>
            </a:extLst>
          </p:cNvPr>
          <p:cNvSpPr txBox="1"/>
          <p:nvPr/>
        </p:nvSpPr>
        <p:spPr>
          <a:xfrm>
            <a:off x="3386916" y="3843922"/>
            <a:ext cx="2310215" cy="277167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pPr algn="ctr"/>
            <a:r>
              <a:rPr lang="en-US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AUTO PARKING MAPPING</a:t>
            </a:r>
            <a:endParaRPr lang="en-US" altLang="ko-KR" sz="1000" dirty="0">
              <a:solidFill>
                <a:srgbClr val="333333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Pretendard Medium" panose="02000603000000020004" pitchFamily="2" charset="-127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2644D796-2033-A811-04C6-83CDC418D8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41" b="4541"/>
          <a:stretch/>
        </p:blipFill>
        <p:spPr>
          <a:xfrm>
            <a:off x="8055810" y="3643858"/>
            <a:ext cx="1652182" cy="1768174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8267E3FE-22E5-B977-0879-39983424648A}"/>
              </a:ext>
            </a:extLst>
          </p:cNvPr>
          <p:cNvSpPr txBox="1"/>
          <p:nvPr/>
        </p:nvSpPr>
        <p:spPr>
          <a:xfrm>
            <a:off x="7496025" y="6003572"/>
            <a:ext cx="2786967" cy="646331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pPr algn="ctr"/>
            <a:r>
              <a:rPr lang="ko-KR" altLang="en-US" dirty="0">
                <a:solidFill>
                  <a:srgbClr val="005BAA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계층별 접근 제어</a:t>
            </a:r>
            <a:r>
              <a:rPr lang="ko-KR" altLang="en-US" dirty="0">
                <a:solidFill>
                  <a:srgbClr val="333333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를 적용한 </a:t>
            </a:r>
            <a:r>
              <a:rPr lang="en-US" altLang="ko-KR" dirty="0">
                <a:solidFill>
                  <a:srgbClr val="333333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VOC </a:t>
            </a:r>
            <a:r>
              <a:rPr lang="ko-KR" altLang="en-US" dirty="0">
                <a:solidFill>
                  <a:srgbClr val="333333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통합 관리</a:t>
            </a:r>
            <a:endParaRPr lang="en-US" altLang="ko-KR" dirty="0">
              <a:solidFill>
                <a:srgbClr val="005BAA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F9E9D52-9A52-FCBE-9049-CAC0D82476E9}"/>
              </a:ext>
            </a:extLst>
          </p:cNvPr>
          <p:cNvSpPr txBox="1"/>
          <p:nvPr/>
        </p:nvSpPr>
        <p:spPr>
          <a:xfrm>
            <a:off x="7480810" y="5709222"/>
            <a:ext cx="2802182" cy="277167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pPr algn="ctr"/>
            <a:r>
              <a:rPr lang="en-US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ROLE-BASED VOC MANAGEMENT</a:t>
            </a:r>
            <a:endParaRPr lang="en-US" altLang="ko-KR" sz="1000" dirty="0">
              <a:solidFill>
                <a:srgbClr val="333333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Pretendard Medium" panose="02000603000000020004" pitchFamily="2" charset="-127"/>
            </a:endParaRP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496CC033-36C1-9AD3-0860-7AB741A3236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8" t="12390" r="2338" b="21001"/>
          <a:stretch/>
        </p:blipFill>
        <p:spPr>
          <a:xfrm>
            <a:off x="3094637" y="4146269"/>
            <a:ext cx="1308956" cy="1076652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C9ADC2C8-12CA-76F9-CCDB-728BC26BF80C}"/>
              </a:ext>
            </a:extLst>
          </p:cNvPr>
          <p:cNvSpPr txBox="1"/>
          <p:nvPr/>
        </p:nvSpPr>
        <p:spPr>
          <a:xfrm>
            <a:off x="2582960" y="6000841"/>
            <a:ext cx="2487490" cy="646331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pPr algn="ctr"/>
            <a:r>
              <a:rPr lang="ko-KR" altLang="en-US" dirty="0">
                <a:solidFill>
                  <a:srgbClr val="333333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진료 데이터 연동 기반의 </a:t>
            </a:r>
            <a:r>
              <a:rPr lang="ko-KR" altLang="en-US" dirty="0">
                <a:solidFill>
                  <a:srgbClr val="005BAA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통합 예약 시스템</a:t>
            </a:r>
            <a:endParaRPr lang="en-US" altLang="ko-KR" dirty="0">
              <a:solidFill>
                <a:srgbClr val="005BAA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DE94AF4-794A-F0D6-6A59-C1421CFF0798}"/>
              </a:ext>
            </a:extLst>
          </p:cNvPr>
          <p:cNvSpPr txBox="1"/>
          <p:nvPr/>
        </p:nvSpPr>
        <p:spPr>
          <a:xfrm>
            <a:off x="2741248" y="5723674"/>
            <a:ext cx="2015733" cy="277167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pPr algn="ctr"/>
            <a:r>
              <a:rPr lang="en-US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RESERVATION SYSTEM</a:t>
            </a:r>
            <a:endParaRPr lang="en-US" altLang="ko-KR" sz="1000" dirty="0">
              <a:solidFill>
                <a:srgbClr val="333333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18613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25FA5-E28D-1725-DAF3-1578B16C7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D4234F4-9EA0-14D8-EA7D-4EC98318E8E7}"/>
              </a:ext>
            </a:extLst>
          </p:cNvPr>
          <p:cNvSpPr/>
          <p:nvPr/>
        </p:nvSpPr>
        <p:spPr>
          <a:xfrm>
            <a:off x="747629" y="1919171"/>
            <a:ext cx="2518758" cy="2489671"/>
          </a:xfrm>
          <a:prstGeom prst="roundRect">
            <a:avLst>
              <a:gd name="adj" fmla="val 5993"/>
            </a:avLst>
          </a:prstGeom>
          <a:solidFill>
            <a:srgbClr val="F7F7F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7F7F7"/>
              </a:solidFill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24B4882B-6E95-5313-E733-D3ECE26DBD16}"/>
              </a:ext>
            </a:extLst>
          </p:cNvPr>
          <p:cNvSpPr/>
          <p:nvPr/>
        </p:nvSpPr>
        <p:spPr>
          <a:xfrm>
            <a:off x="4744619" y="1919171"/>
            <a:ext cx="2518758" cy="1665951"/>
          </a:xfrm>
          <a:prstGeom prst="roundRect">
            <a:avLst>
              <a:gd name="adj" fmla="val 5993"/>
            </a:avLst>
          </a:prstGeom>
          <a:solidFill>
            <a:srgbClr val="F7F7F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7F7F7"/>
              </a:solidFill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94AF2A13-F3A7-C51F-3D4F-7A64CA0E7839}"/>
              </a:ext>
            </a:extLst>
          </p:cNvPr>
          <p:cNvSpPr/>
          <p:nvPr/>
        </p:nvSpPr>
        <p:spPr>
          <a:xfrm>
            <a:off x="8534219" y="1919170"/>
            <a:ext cx="2518758" cy="1665949"/>
          </a:xfrm>
          <a:prstGeom prst="roundRect">
            <a:avLst>
              <a:gd name="adj" fmla="val 5993"/>
            </a:avLst>
          </a:prstGeom>
          <a:solidFill>
            <a:srgbClr val="F7F7F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7F7F7"/>
              </a:solidFill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70806E75-16D6-BE76-EC6F-7BF4F9396581}"/>
              </a:ext>
            </a:extLst>
          </p:cNvPr>
          <p:cNvSpPr/>
          <p:nvPr/>
        </p:nvSpPr>
        <p:spPr>
          <a:xfrm>
            <a:off x="4744619" y="4091442"/>
            <a:ext cx="2518758" cy="2489671"/>
          </a:xfrm>
          <a:prstGeom prst="roundRect">
            <a:avLst>
              <a:gd name="adj" fmla="val 5993"/>
            </a:avLst>
          </a:prstGeom>
          <a:solidFill>
            <a:srgbClr val="F7F7F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7F7F7"/>
              </a:solidFill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52D7E4CA-2A9F-A530-554E-72FED70D42D8}"/>
              </a:ext>
            </a:extLst>
          </p:cNvPr>
          <p:cNvSpPr/>
          <p:nvPr/>
        </p:nvSpPr>
        <p:spPr>
          <a:xfrm>
            <a:off x="8534219" y="4536207"/>
            <a:ext cx="2518758" cy="1437096"/>
          </a:xfrm>
          <a:prstGeom prst="roundRect">
            <a:avLst>
              <a:gd name="adj" fmla="val 5993"/>
            </a:avLst>
          </a:prstGeom>
          <a:solidFill>
            <a:srgbClr val="F7F7F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7F7F7"/>
              </a:solidFill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120040-ADC7-A092-9FF3-CA0FE4C6F112}"/>
              </a:ext>
            </a:extLst>
          </p:cNvPr>
          <p:cNvSpPr txBox="1"/>
          <p:nvPr/>
        </p:nvSpPr>
        <p:spPr>
          <a:xfrm>
            <a:off x="8604457" y="4306424"/>
            <a:ext cx="2378281" cy="442674"/>
          </a:xfrm>
          <a:prstGeom prst="roundRect">
            <a:avLst/>
          </a:prstGeom>
          <a:solidFill>
            <a:srgbClr val="005BAA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OCR Test</a:t>
            </a:r>
            <a:endParaRPr lang="ko-KR" altLang="en-US" sz="2000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pic>
        <p:nvPicPr>
          <p:cNvPr id="1030" name="Picture 6" descr="Spring Boot (symbol) logo">
            <a:extLst>
              <a:ext uri="{FF2B5EF4-FFF2-40B4-BE49-F238E27FC236}">
                <a16:creationId xmlns:a16="http://schemas.microsoft.com/office/drawing/2014/main" id="{1DDFCEEB-8A95-D45E-9C4A-F0414A861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6872" y="2545893"/>
            <a:ext cx="617273" cy="617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BD282E50-47E1-78DE-C80F-148C0BB16A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0176" y="3669275"/>
            <a:ext cx="551958" cy="544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C666213D-BE25-784F-875D-2244E62A86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7400" y="3109393"/>
            <a:ext cx="1228691" cy="314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47C21305-3E6A-946A-315E-B6E4E6AA94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0043" y="2356698"/>
            <a:ext cx="620078" cy="639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>
            <a:extLst>
              <a:ext uri="{FF2B5EF4-FFF2-40B4-BE49-F238E27FC236}">
                <a16:creationId xmlns:a16="http://schemas.microsoft.com/office/drawing/2014/main" id="{5BDBEFF8-648D-8DAD-416E-647787AEDC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6539" y="4854125"/>
            <a:ext cx="1228690" cy="375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>
            <a:extLst>
              <a:ext uri="{FF2B5EF4-FFF2-40B4-BE49-F238E27FC236}">
                <a16:creationId xmlns:a16="http://schemas.microsoft.com/office/drawing/2014/main" id="{8768799F-3FC3-4ED3-D5C0-18FF66B930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6458" y="5385335"/>
            <a:ext cx="1428853" cy="405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6EBB9203-F39F-6FC0-EE71-74C8E3020CBA}"/>
              </a:ext>
            </a:extLst>
          </p:cNvPr>
          <p:cNvCxnSpPr>
            <a:cxnSpLocks/>
          </p:cNvCxnSpPr>
          <p:nvPr/>
        </p:nvCxnSpPr>
        <p:spPr>
          <a:xfrm>
            <a:off x="3528638" y="2898712"/>
            <a:ext cx="95372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E9B4ABFC-5039-AA9A-7626-03B75A16E251}"/>
              </a:ext>
            </a:extLst>
          </p:cNvPr>
          <p:cNvCxnSpPr>
            <a:cxnSpLocks/>
          </p:cNvCxnSpPr>
          <p:nvPr/>
        </p:nvCxnSpPr>
        <p:spPr>
          <a:xfrm>
            <a:off x="7415797" y="2849561"/>
            <a:ext cx="95372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8F80BC14-CC2A-803B-C337-2145F1B46674}"/>
              </a:ext>
            </a:extLst>
          </p:cNvPr>
          <p:cNvCxnSpPr>
            <a:cxnSpLocks/>
          </p:cNvCxnSpPr>
          <p:nvPr/>
        </p:nvCxnSpPr>
        <p:spPr>
          <a:xfrm>
            <a:off x="5997916" y="3636004"/>
            <a:ext cx="0" cy="42815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11D1514-6BFD-A1A7-E98D-71414092A5A2}"/>
              </a:ext>
            </a:extLst>
          </p:cNvPr>
          <p:cNvSpPr txBox="1"/>
          <p:nvPr/>
        </p:nvSpPr>
        <p:spPr>
          <a:xfrm>
            <a:off x="3318328" y="2437598"/>
            <a:ext cx="1374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REST API</a:t>
            </a:r>
            <a:endPara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3E9544-A518-3A54-AD02-C059D6223C72}"/>
              </a:ext>
            </a:extLst>
          </p:cNvPr>
          <p:cNvSpPr txBox="1"/>
          <p:nvPr/>
        </p:nvSpPr>
        <p:spPr>
          <a:xfrm>
            <a:off x="7428070" y="2464472"/>
            <a:ext cx="961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JDBC</a:t>
            </a:r>
            <a:endPara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25BC43-C30C-A633-8155-A696939D7587}"/>
              </a:ext>
            </a:extLst>
          </p:cNvPr>
          <p:cNvSpPr txBox="1"/>
          <p:nvPr/>
        </p:nvSpPr>
        <p:spPr>
          <a:xfrm>
            <a:off x="6013911" y="3668156"/>
            <a:ext cx="771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JNA</a:t>
            </a:r>
            <a:endPara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EFF8315E-A64B-A823-F23D-C503EF95AD2D}"/>
              </a:ext>
            </a:extLst>
          </p:cNvPr>
          <p:cNvCxnSpPr>
            <a:cxnSpLocks/>
          </p:cNvCxnSpPr>
          <p:nvPr/>
        </p:nvCxnSpPr>
        <p:spPr>
          <a:xfrm flipH="1">
            <a:off x="7252525" y="5392385"/>
            <a:ext cx="11170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3505F80-91E7-13E8-3581-AE910CCB04B1}"/>
              </a:ext>
            </a:extLst>
          </p:cNvPr>
          <p:cNvSpPr txBox="1"/>
          <p:nvPr/>
        </p:nvSpPr>
        <p:spPr>
          <a:xfrm>
            <a:off x="7380285" y="5016003"/>
            <a:ext cx="771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JNA</a:t>
            </a:r>
            <a:endPara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7F743E-53DF-68FB-AA62-63B3F848C72F}"/>
              </a:ext>
            </a:extLst>
          </p:cNvPr>
          <p:cNvSpPr txBox="1"/>
          <p:nvPr/>
        </p:nvSpPr>
        <p:spPr>
          <a:xfrm>
            <a:off x="1395362" y="1318328"/>
            <a:ext cx="3388060" cy="307777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ko-KR" altLang="en-US" sz="140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Light" panose="02000403000000020004" pitchFamily="2" charset="-127"/>
              </a:rPr>
              <a:t>시스템 아키텍처 및 모듈별 연동 기술 사양</a:t>
            </a:r>
            <a:endParaRPr lang="ko-KR" altLang="en-US" sz="1400" dirty="0">
              <a:solidFill>
                <a:srgbClr val="444444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126339-D5C3-B58D-595D-C939273E98C4}"/>
              </a:ext>
            </a:extLst>
          </p:cNvPr>
          <p:cNvSpPr txBox="1"/>
          <p:nvPr/>
        </p:nvSpPr>
        <p:spPr>
          <a:xfrm>
            <a:off x="1352242" y="716672"/>
            <a:ext cx="5227234" cy="646331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ko-KR" altLang="en-US" sz="3600" b="1" dirty="0">
                <a:solidFill>
                  <a:srgbClr val="22222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개발 스택</a:t>
            </a:r>
            <a:r>
              <a:rPr lang="en-US" altLang="ko-KR" sz="3600" b="1" dirty="0">
                <a:solidFill>
                  <a:srgbClr val="22222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(Tech Stack)</a:t>
            </a:r>
            <a:endParaRPr lang="ko-KR" altLang="en-US" sz="3600" b="1" dirty="0">
              <a:solidFill>
                <a:srgbClr val="22222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Medium" panose="02000603000000020004" pitchFamily="2" charset="-127"/>
            </a:endParaRPr>
          </a:p>
        </p:txBody>
      </p:sp>
      <p:pic>
        <p:nvPicPr>
          <p:cNvPr id="22" name="그래픽 21">
            <a:extLst>
              <a:ext uri="{FF2B5EF4-FFF2-40B4-BE49-F238E27FC236}">
                <a16:creationId xmlns:a16="http://schemas.microsoft.com/office/drawing/2014/main" id="{00CA0326-D1CA-7E3E-3529-AD39553E2A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83919" y="2399565"/>
            <a:ext cx="1665902" cy="499147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A93D8C88-32BB-08D5-E714-804C5F42A49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9659" y="3618303"/>
            <a:ext cx="646174" cy="646174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B365FB7F-5F6C-6CF9-6D65-36AA3DEBED3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0599" y="2365659"/>
            <a:ext cx="1004905" cy="1004905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CBBA525E-9F6E-FC3E-8DE8-8CB7A503E1C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3746" y="5463153"/>
            <a:ext cx="1471641" cy="65172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1CBC9F35-9791-E9E1-9828-A7AB2A4929C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039" b="34152"/>
          <a:stretch/>
        </p:blipFill>
        <p:spPr>
          <a:xfrm>
            <a:off x="4908823" y="4910462"/>
            <a:ext cx="1325995" cy="325394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329D89DA-C0AA-9787-2EB8-84A84B75C20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3253" y="3040070"/>
            <a:ext cx="1653656" cy="415776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BA970744-B9E4-6E75-4877-9A3FCE240B48}"/>
              </a:ext>
            </a:extLst>
          </p:cNvPr>
          <p:cNvSpPr txBox="1"/>
          <p:nvPr/>
        </p:nvSpPr>
        <p:spPr>
          <a:xfrm>
            <a:off x="5184659" y="4191786"/>
            <a:ext cx="1638677" cy="442674"/>
          </a:xfrm>
          <a:prstGeom prst="roundRect">
            <a:avLst/>
          </a:prstGeom>
          <a:solidFill>
            <a:srgbClr val="005BAA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OCR</a:t>
            </a:r>
            <a:endParaRPr lang="ko-KR" altLang="en-US" sz="2000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9C4C1F8-39E1-16AA-513F-B121B58AB3CF}"/>
              </a:ext>
            </a:extLst>
          </p:cNvPr>
          <p:cNvSpPr txBox="1"/>
          <p:nvPr/>
        </p:nvSpPr>
        <p:spPr>
          <a:xfrm>
            <a:off x="1096719" y="1810102"/>
            <a:ext cx="1820577" cy="442674"/>
          </a:xfrm>
          <a:prstGeom prst="roundRect">
            <a:avLst/>
          </a:prstGeom>
          <a:solidFill>
            <a:srgbClr val="005BAA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Front-end</a:t>
            </a:r>
            <a:endParaRPr lang="ko-KR" altLang="en-US" sz="2000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AE930F5-4384-9509-62B9-82A3B8575326}"/>
              </a:ext>
            </a:extLst>
          </p:cNvPr>
          <p:cNvSpPr txBox="1"/>
          <p:nvPr/>
        </p:nvSpPr>
        <p:spPr>
          <a:xfrm>
            <a:off x="5180407" y="1810102"/>
            <a:ext cx="1638676" cy="442674"/>
          </a:xfrm>
          <a:prstGeom prst="roundRect">
            <a:avLst/>
          </a:prstGeom>
          <a:solidFill>
            <a:srgbClr val="005BAA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Back-end</a:t>
            </a:r>
            <a:endParaRPr lang="ko-KR" altLang="en-US" sz="2000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0443C2E-2455-E806-DC0D-3EA66B295B72}"/>
              </a:ext>
            </a:extLst>
          </p:cNvPr>
          <p:cNvSpPr txBox="1"/>
          <p:nvPr/>
        </p:nvSpPr>
        <p:spPr>
          <a:xfrm>
            <a:off x="9114660" y="1810102"/>
            <a:ext cx="1541332" cy="442674"/>
          </a:xfrm>
          <a:prstGeom prst="roundRect">
            <a:avLst/>
          </a:prstGeom>
          <a:solidFill>
            <a:srgbClr val="005BAA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DB</a:t>
            </a:r>
            <a:endParaRPr lang="ko-KR" altLang="en-US" sz="2000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4" name="화살표: 오각형 3">
            <a:extLst>
              <a:ext uri="{FF2B5EF4-FFF2-40B4-BE49-F238E27FC236}">
                <a16:creationId xmlns:a16="http://schemas.microsoft.com/office/drawing/2014/main" id="{05869D1C-9F6A-7EAD-84AD-AC9A7F712650}"/>
              </a:ext>
            </a:extLst>
          </p:cNvPr>
          <p:cNvSpPr/>
          <p:nvPr/>
        </p:nvSpPr>
        <p:spPr>
          <a:xfrm rot="5400000">
            <a:off x="181861" y="583566"/>
            <a:ext cx="1543663" cy="376538"/>
          </a:xfrm>
          <a:prstGeom prst="homePlate">
            <a:avLst/>
          </a:prstGeom>
          <a:solidFill>
            <a:srgbClr val="005BA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6856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954B725-5AC5-1A6A-EBD5-C99972C042D3}"/>
              </a:ext>
            </a:extLst>
          </p:cNvPr>
          <p:cNvSpPr txBox="1"/>
          <p:nvPr/>
        </p:nvSpPr>
        <p:spPr>
          <a:xfrm>
            <a:off x="1352243" y="716672"/>
            <a:ext cx="2570828" cy="646331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en-US" altLang="ko-KR" sz="3600" b="1" dirty="0">
                <a:solidFill>
                  <a:srgbClr val="22222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ERD - </a:t>
            </a:r>
            <a:r>
              <a:rPr lang="ko-KR" altLang="en-US" sz="3600" b="1" dirty="0">
                <a:solidFill>
                  <a:srgbClr val="22222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전체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3B8BDE-641F-51A3-2294-0993C238D06C}"/>
              </a:ext>
            </a:extLst>
          </p:cNvPr>
          <p:cNvSpPr txBox="1"/>
          <p:nvPr/>
        </p:nvSpPr>
        <p:spPr>
          <a:xfrm>
            <a:off x="1395362" y="1318328"/>
            <a:ext cx="3723176" cy="307777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ko-KR" altLang="en-US" sz="1400" dirty="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Light" panose="02000403000000020004" pitchFamily="2" charset="-127"/>
              </a:rPr>
              <a:t>유기적 서비스 연동을 위한 </a:t>
            </a:r>
            <a:r>
              <a:rPr lang="ko-KR" altLang="en-US" sz="140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Light" panose="02000403000000020004" pitchFamily="2" charset="-127"/>
              </a:rPr>
              <a:t>통합 데이터 모델링</a:t>
            </a:r>
            <a:endParaRPr lang="ko-KR" altLang="en-US" sz="1400" dirty="0">
              <a:solidFill>
                <a:srgbClr val="444444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3" name="화살표: 오각형 2">
            <a:extLst>
              <a:ext uri="{FF2B5EF4-FFF2-40B4-BE49-F238E27FC236}">
                <a16:creationId xmlns:a16="http://schemas.microsoft.com/office/drawing/2014/main" id="{40E072BB-7C92-9FC8-B9CB-FE9BA1A89FD6}"/>
              </a:ext>
            </a:extLst>
          </p:cNvPr>
          <p:cNvSpPr/>
          <p:nvPr/>
        </p:nvSpPr>
        <p:spPr>
          <a:xfrm rot="5400000">
            <a:off x="181861" y="583566"/>
            <a:ext cx="1543663" cy="376538"/>
          </a:xfrm>
          <a:prstGeom prst="homePlate">
            <a:avLst/>
          </a:prstGeom>
          <a:solidFill>
            <a:srgbClr val="005BA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 descr="스크린샷, 다채로움, 직사각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F13E632-1813-4260-3042-6A4B9CBABD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561" y="1835268"/>
            <a:ext cx="11788877" cy="4745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114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8632E-8FBF-E4D2-B668-9394F35D2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3DA74E-E8E5-5600-8EA7-970EF9B856B7}"/>
              </a:ext>
            </a:extLst>
          </p:cNvPr>
          <p:cNvSpPr txBox="1"/>
          <p:nvPr/>
        </p:nvSpPr>
        <p:spPr>
          <a:xfrm>
            <a:off x="1352243" y="716672"/>
            <a:ext cx="4114492" cy="646331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en-US" altLang="ko-KR" sz="3600" b="1" dirty="0">
                <a:solidFill>
                  <a:srgbClr val="22222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ERD – </a:t>
            </a:r>
            <a:r>
              <a:rPr lang="ko-KR" altLang="en-US" sz="3600" b="1" dirty="0">
                <a:solidFill>
                  <a:srgbClr val="22222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회원 및 차량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4BE940-D84C-68CA-4B7D-F45B9DEB2422}"/>
              </a:ext>
            </a:extLst>
          </p:cNvPr>
          <p:cNvSpPr txBox="1"/>
          <p:nvPr/>
        </p:nvSpPr>
        <p:spPr>
          <a:xfrm>
            <a:off x="1395362" y="1318328"/>
            <a:ext cx="3723176" cy="307777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ko-KR" altLang="en-US" sz="1400" dirty="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Light" panose="02000403000000020004" pitchFamily="2" charset="-127"/>
              </a:rPr>
              <a:t>유기적 서비스 연동을 위한 </a:t>
            </a:r>
            <a:r>
              <a:rPr lang="ko-KR" altLang="en-US" sz="140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Light" panose="02000403000000020004" pitchFamily="2" charset="-127"/>
              </a:rPr>
              <a:t>통합 데이터 모델링</a:t>
            </a:r>
            <a:endParaRPr lang="ko-KR" altLang="en-US" sz="1400" dirty="0">
              <a:solidFill>
                <a:srgbClr val="444444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3" name="화살표: 오각형 2">
            <a:extLst>
              <a:ext uri="{FF2B5EF4-FFF2-40B4-BE49-F238E27FC236}">
                <a16:creationId xmlns:a16="http://schemas.microsoft.com/office/drawing/2014/main" id="{1D23D90C-06B7-30EA-5754-77EB73981834}"/>
              </a:ext>
            </a:extLst>
          </p:cNvPr>
          <p:cNvSpPr/>
          <p:nvPr/>
        </p:nvSpPr>
        <p:spPr>
          <a:xfrm rot="5400000">
            <a:off x="181861" y="583566"/>
            <a:ext cx="1543663" cy="376538"/>
          </a:xfrm>
          <a:prstGeom prst="homePlate">
            <a:avLst/>
          </a:prstGeom>
          <a:solidFill>
            <a:srgbClr val="005BA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 descr="스크린샷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665234C-E284-8E86-D6CB-F042C21CB7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026" y="1626105"/>
            <a:ext cx="11139948" cy="5103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912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3B21A-D6A3-4DE2-5E73-9298B4185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F9972BA-7D73-AFF8-C28E-EBBCD428B9DB}"/>
              </a:ext>
            </a:extLst>
          </p:cNvPr>
          <p:cNvSpPr txBox="1"/>
          <p:nvPr/>
        </p:nvSpPr>
        <p:spPr>
          <a:xfrm>
            <a:off x="1352242" y="716672"/>
            <a:ext cx="4507784" cy="646331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en-US" altLang="ko-KR" sz="3600" b="1" dirty="0">
                <a:solidFill>
                  <a:srgbClr val="22222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ERD – </a:t>
            </a:r>
            <a:r>
              <a:rPr lang="ko-KR" altLang="en-US" sz="3600" b="1" dirty="0">
                <a:solidFill>
                  <a:srgbClr val="22222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회원 및 의료진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8FB0FC-7E6D-28C5-EA19-B2E399035321}"/>
              </a:ext>
            </a:extLst>
          </p:cNvPr>
          <p:cNvSpPr txBox="1"/>
          <p:nvPr/>
        </p:nvSpPr>
        <p:spPr>
          <a:xfrm>
            <a:off x="1395362" y="1318328"/>
            <a:ext cx="3723176" cy="307777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ko-KR" altLang="en-US" sz="1400" dirty="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Light" panose="02000403000000020004" pitchFamily="2" charset="-127"/>
              </a:rPr>
              <a:t>유기적 서비스 연동을 위한 </a:t>
            </a:r>
            <a:r>
              <a:rPr lang="ko-KR" altLang="en-US" sz="140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Light" panose="02000403000000020004" pitchFamily="2" charset="-127"/>
              </a:rPr>
              <a:t>통합 데이터 모델링</a:t>
            </a:r>
            <a:endParaRPr lang="ko-KR" altLang="en-US" sz="1400" dirty="0">
              <a:solidFill>
                <a:srgbClr val="444444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3" name="화살표: 오각형 2">
            <a:extLst>
              <a:ext uri="{FF2B5EF4-FFF2-40B4-BE49-F238E27FC236}">
                <a16:creationId xmlns:a16="http://schemas.microsoft.com/office/drawing/2014/main" id="{36C0B6EC-CD08-5393-86FC-18B5F202D610}"/>
              </a:ext>
            </a:extLst>
          </p:cNvPr>
          <p:cNvSpPr/>
          <p:nvPr/>
        </p:nvSpPr>
        <p:spPr>
          <a:xfrm rot="5400000">
            <a:off x="181861" y="583566"/>
            <a:ext cx="1543663" cy="376538"/>
          </a:xfrm>
          <a:prstGeom prst="homePlate">
            <a:avLst/>
          </a:prstGeom>
          <a:solidFill>
            <a:srgbClr val="005BA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 descr="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418ADA8-8A45-96E1-F84B-AEF9389EE8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8" y="1964659"/>
            <a:ext cx="12034684" cy="3965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796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F27E3-A677-F0D8-8564-427333EC4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59147D6-0531-8542-DF13-5C8DC4F33114}"/>
              </a:ext>
            </a:extLst>
          </p:cNvPr>
          <p:cNvSpPr txBox="1"/>
          <p:nvPr/>
        </p:nvSpPr>
        <p:spPr>
          <a:xfrm>
            <a:off x="1352243" y="716672"/>
            <a:ext cx="4114492" cy="646331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en-US" altLang="ko-KR" sz="3600" b="1" dirty="0">
                <a:solidFill>
                  <a:srgbClr val="22222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ERD – </a:t>
            </a:r>
            <a:r>
              <a:rPr lang="ko-KR" altLang="en-US" sz="3600" b="1" dirty="0">
                <a:solidFill>
                  <a:srgbClr val="22222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회원 및 행정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0CA1BB-731F-FF89-D2D4-00D21FAEB924}"/>
              </a:ext>
            </a:extLst>
          </p:cNvPr>
          <p:cNvSpPr txBox="1"/>
          <p:nvPr/>
        </p:nvSpPr>
        <p:spPr>
          <a:xfrm>
            <a:off x="1395362" y="1318328"/>
            <a:ext cx="3723176" cy="307777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ko-KR" altLang="en-US" sz="1400" dirty="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Light" panose="02000403000000020004" pitchFamily="2" charset="-127"/>
              </a:rPr>
              <a:t>유기적 서비스 연동을 위한 </a:t>
            </a:r>
            <a:r>
              <a:rPr lang="ko-KR" altLang="en-US" sz="140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Light" panose="02000403000000020004" pitchFamily="2" charset="-127"/>
              </a:rPr>
              <a:t>통합 데이터 모델링</a:t>
            </a:r>
            <a:endParaRPr lang="ko-KR" altLang="en-US" sz="1400" dirty="0">
              <a:solidFill>
                <a:srgbClr val="444444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3" name="화살표: 오각형 2">
            <a:extLst>
              <a:ext uri="{FF2B5EF4-FFF2-40B4-BE49-F238E27FC236}">
                <a16:creationId xmlns:a16="http://schemas.microsoft.com/office/drawing/2014/main" id="{B6B118F9-68F8-81A0-7E59-9A947E527DB5}"/>
              </a:ext>
            </a:extLst>
          </p:cNvPr>
          <p:cNvSpPr/>
          <p:nvPr/>
        </p:nvSpPr>
        <p:spPr>
          <a:xfrm rot="5400000">
            <a:off x="181861" y="583566"/>
            <a:ext cx="1543663" cy="376538"/>
          </a:xfrm>
          <a:prstGeom prst="homePlate">
            <a:avLst/>
          </a:prstGeom>
          <a:solidFill>
            <a:srgbClr val="005BA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 descr="스크린샷, 라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F128FAE-D490-413F-6D64-80826B82E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771" y="636588"/>
            <a:ext cx="10522457" cy="6083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3644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C1603-F54F-7AED-1475-F3C0FA012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57">
            <a:extLst>
              <a:ext uri="{FF2B5EF4-FFF2-40B4-BE49-F238E27FC236}">
                <a16:creationId xmlns:a16="http://schemas.microsoft.com/office/drawing/2014/main" id="{EC2E9C90-6F34-4D9F-508E-207FA9653D75}"/>
              </a:ext>
            </a:extLst>
          </p:cNvPr>
          <p:cNvSpPr txBox="1"/>
          <p:nvPr/>
        </p:nvSpPr>
        <p:spPr>
          <a:xfrm>
            <a:off x="1395362" y="1318328"/>
            <a:ext cx="4879314" cy="307777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ko-KR" altLang="en-US" sz="1400" dirty="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Light" panose="02000403000000020004" pitchFamily="2" charset="-127"/>
              </a:rPr>
              <a:t>사용자 그룹별 권한 할당을 통한 데이터 보안 및 </a:t>
            </a:r>
            <a:r>
              <a:rPr lang="ko-KR" altLang="en-US" sz="140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Light" panose="02000403000000020004" pitchFamily="2" charset="-127"/>
              </a:rPr>
              <a:t>업무 최적화</a:t>
            </a:r>
            <a:endParaRPr lang="en-US" altLang="ko-KR" sz="1400" dirty="0">
              <a:solidFill>
                <a:srgbClr val="444444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F3509F3-0C67-075D-7DF4-8AEA96548FAD}"/>
              </a:ext>
            </a:extLst>
          </p:cNvPr>
          <p:cNvSpPr txBox="1"/>
          <p:nvPr/>
        </p:nvSpPr>
        <p:spPr>
          <a:xfrm>
            <a:off x="1352242" y="716672"/>
            <a:ext cx="5080089" cy="646331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ko-KR" altLang="en-US" sz="3600" b="1" dirty="0">
                <a:solidFill>
                  <a:srgbClr val="22222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사용자 권한별 핵심 기능</a:t>
            </a:r>
          </a:p>
        </p:txBody>
      </p:sp>
      <p:sp>
        <p:nvSpPr>
          <p:cNvPr id="3" name="화살표: 오각형 2">
            <a:extLst>
              <a:ext uri="{FF2B5EF4-FFF2-40B4-BE49-F238E27FC236}">
                <a16:creationId xmlns:a16="http://schemas.microsoft.com/office/drawing/2014/main" id="{51DC187B-A42F-C447-5CCC-15CE95D92F66}"/>
              </a:ext>
            </a:extLst>
          </p:cNvPr>
          <p:cNvSpPr/>
          <p:nvPr/>
        </p:nvSpPr>
        <p:spPr>
          <a:xfrm rot="5400000">
            <a:off x="181861" y="583566"/>
            <a:ext cx="1543663" cy="376538"/>
          </a:xfrm>
          <a:prstGeom prst="homePlate">
            <a:avLst/>
          </a:prstGeom>
          <a:solidFill>
            <a:srgbClr val="005BA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BE36D4F-4890-159D-6EE5-56DD53ED8B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5088038"/>
              </p:ext>
            </p:extLst>
          </p:nvPr>
        </p:nvGraphicFramePr>
        <p:xfrm>
          <a:off x="769475" y="1952467"/>
          <a:ext cx="10653051" cy="4399565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696527">
                  <a:extLst>
                    <a:ext uri="{9D8B030D-6E8A-4147-A177-3AD203B41FA5}">
                      <a16:colId xmlns:a16="http://schemas.microsoft.com/office/drawing/2014/main" val="1767049689"/>
                    </a:ext>
                  </a:extLst>
                </a:gridCol>
                <a:gridCol w="1989131">
                  <a:extLst>
                    <a:ext uri="{9D8B030D-6E8A-4147-A177-3AD203B41FA5}">
                      <a16:colId xmlns:a16="http://schemas.microsoft.com/office/drawing/2014/main" val="1152785699"/>
                    </a:ext>
                  </a:extLst>
                </a:gridCol>
                <a:gridCol w="1989131">
                  <a:extLst>
                    <a:ext uri="{9D8B030D-6E8A-4147-A177-3AD203B41FA5}">
                      <a16:colId xmlns:a16="http://schemas.microsoft.com/office/drawing/2014/main" val="270163099"/>
                    </a:ext>
                  </a:extLst>
                </a:gridCol>
                <a:gridCol w="1989131">
                  <a:extLst>
                    <a:ext uri="{9D8B030D-6E8A-4147-A177-3AD203B41FA5}">
                      <a16:colId xmlns:a16="http://schemas.microsoft.com/office/drawing/2014/main" val="3655236872"/>
                    </a:ext>
                  </a:extLst>
                </a:gridCol>
                <a:gridCol w="1989131">
                  <a:extLst>
                    <a:ext uri="{9D8B030D-6E8A-4147-A177-3AD203B41FA5}">
                      <a16:colId xmlns:a16="http://schemas.microsoft.com/office/drawing/2014/main" val="551503763"/>
                    </a:ext>
                  </a:extLst>
                </a:gridCol>
              </a:tblGrid>
              <a:tr h="5241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기능</a:t>
                      </a: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A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일반회원</a:t>
                      </a: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A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의료진</a:t>
                      </a: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A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행정</a:t>
                      </a:r>
                      <a:r>
                        <a:rPr lang="en-US" altLang="ko-KR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-</a:t>
                      </a:r>
                      <a:r>
                        <a:rPr lang="ko-KR" altLang="en-US" sz="20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원무팀</a:t>
                      </a:r>
                      <a:endParaRPr lang="ko-KR" altLang="en-US" sz="20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A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행정</a:t>
                      </a:r>
                      <a:r>
                        <a:rPr lang="en-US" altLang="ko-KR" sz="20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-</a:t>
                      </a:r>
                      <a:r>
                        <a:rPr lang="ko-KR" altLang="en-US" sz="20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홍보팀</a:t>
                      </a:r>
                      <a:endParaRPr lang="ko-KR" altLang="en-US" sz="20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148256"/>
                  </a:ext>
                </a:extLst>
              </a:tr>
              <a:tr h="5241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차량 </a:t>
                      </a:r>
                      <a:r>
                        <a:rPr lang="en-US" altLang="ko-KR" sz="1800" b="1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CRUD</a:t>
                      </a:r>
                      <a:endParaRPr lang="ko-KR" altLang="en-US" sz="1800" b="1" dirty="0">
                        <a:solidFill>
                          <a:srgbClr val="22222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E4F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O</a:t>
                      </a:r>
                      <a:endParaRPr lang="ko-KR" altLang="en-US" sz="2000" dirty="0">
                        <a:solidFill>
                          <a:srgbClr val="22222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O</a:t>
                      </a:r>
                      <a:endParaRPr lang="ko-KR" altLang="en-US" sz="2000" dirty="0">
                        <a:solidFill>
                          <a:srgbClr val="22222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O</a:t>
                      </a:r>
                      <a:endParaRPr lang="ko-KR" altLang="en-US" sz="2000" dirty="0">
                        <a:solidFill>
                          <a:srgbClr val="22222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O</a:t>
                      </a:r>
                      <a:endParaRPr lang="ko-KR" altLang="en-US" sz="2000" dirty="0">
                        <a:solidFill>
                          <a:srgbClr val="22222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302638"/>
                  </a:ext>
                </a:extLst>
              </a:tr>
              <a:tr h="5241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진료예약 </a:t>
                      </a:r>
                      <a:r>
                        <a:rPr lang="en-US" altLang="ko-KR" sz="1800" b="1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CRUD</a:t>
                      </a:r>
                      <a:endParaRPr lang="ko-KR" altLang="en-US" sz="1800" b="1" dirty="0">
                        <a:solidFill>
                          <a:srgbClr val="22222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E4F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O</a:t>
                      </a:r>
                      <a:endParaRPr lang="ko-KR" altLang="en-US" sz="2000" dirty="0">
                        <a:solidFill>
                          <a:srgbClr val="22222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O</a:t>
                      </a:r>
                      <a:endParaRPr lang="ko-KR" altLang="en-US" sz="2000" dirty="0">
                        <a:solidFill>
                          <a:srgbClr val="22222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O</a:t>
                      </a:r>
                      <a:endParaRPr lang="ko-KR" altLang="en-US" sz="2000" dirty="0">
                        <a:solidFill>
                          <a:srgbClr val="22222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O</a:t>
                      </a:r>
                      <a:endParaRPr lang="ko-KR" altLang="en-US" sz="2000" dirty="0">
                        <a:solidFill>
                          <a:srgbClr val="22222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2112450"/>
                  </a:ext>
                </a:extLst>
              </a:tr>
              <a:tr h="5241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진료예약 강제삭제</a:t>
                      </a: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E4F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X</a:t>
                      </a:r>
                      <a:endParaRPr lang="ko-KR" altLang="en-US" sz="2000" dirty="0">
                        <a:solidFill>
                          <a:srgbClr val="22222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O</a:t>
                      </a:r>
                      <a:endParaRPr lang="ko-KR" altLang="en-US" sz="2000" dirty="0">
                        <a:solidFill>
                          <a:srgbClr val="22222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900">
                        <a:alpha val="4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X</a:t>
                      </a:r>
                      <a:endParaRPr lang="ko-KR" altLang="en-US" sz="2000" dirty="0">
                        <a:solidFill>
                          <a:srgbClr val="22222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X</a:t>
                      </a:r>
                      <a:endParaRPr lang="ko-KR" altLang="en-US" sz="2000" dirty="0">
                        <a:solidFill>
                          <a:srgbClr val="22222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446988"/>
                  </a:ext>
                </a:extLst>
              </a:tr>
              <a:tr h="5241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VOC </a:t>
                      </a:r>
                      <a:r>
                        <a:rPr lang="ko-KR" altLang="en-US" sz="1800" b="1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작성</a:t>
                      </a: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C2E6">
                        <a:alpha val="4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kern="1200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O</a:t>
                      </a:r>
                      <a:endParaRPr lang="ko-KR" altLang="en-US" sz="2000" kern="1200" dirty="0">
                        <a:solidFill>
                          <a:srgbClr val="22222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+mn-cs"/>
                      </a:endParaRP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900">
                        <a:alpha val="4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X</a:t>
                      </a:r>
                      <a:endParaRPr lang="ko-KR" altLang="en-US" sz="2000" dirty="0">
                        <a:solidFill>
                          <a:srgbClr val="22222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X</a:t>
                      </a:r>
                      <a:endParaRPr lang="ko-KR" altLang="en-US" sz="2000" dirty="0">
                        <a:solidFill>
                          <a:srgbClr val="22222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X</a:t>
                      </a:r>
                      <a:endParaRPr lang="ko-KR" altLang="en-US" sz="2000" dirty="0">
                        <a:solidFill>
                          <a:srgbClr val="22222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4425716"/>
                  </a:ext>
                </a:extLst>
              </a:tr>
              <a:tr h="5241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VOC </a:t>
                      </a:r>
                      <a:r>
                        <a:rPr lang="ko-KR" altLang="en-US" sz="1800" b="1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답변 </a:t>
                      </a:r>
                      <a:r>
                        <a:rPr lang="en-US" altLang="ko-KR" sz="1800" b="1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| </a:t>
                      </a:r>
                      <a:r>
                        <a:rPr lang="ko-KR" altLang="en-US" sz="1800" b="1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강제삭제 </a:t>
                      </a: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C2E6">
                        <a:alpha val="4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X</a:t>
                      </a:r>
                      <a:endParaRPr lang="ko-KR" altLang="en-US" sz="2000" dirty="0">
                        <a:solidFill>
                          <a:srgbClr val="22222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X</a:t>
                      </a:r>
                      <a:endParaRPr lang="ko-KR" altLang="en-US" sz="2000" dirty="0">
                        <a:solidFill>
                          <a:srgbClr val="22222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O</a:t>
                      </a:r>
                      <a:endParaRPr lang="ko-KR" altLang="en-US" sz="2000" dirty="0">
                        <a:solidFill>
                          <a:srgbClr val="22222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900">
                        <a:alpha val="4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X</a:t>
                      </a: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2652974"/>
                  </a:ext>
                </a:extLst>
              </a:tr>
              <a:tr h="7302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공지사항 </a:t>
                      </a:r>
                      <a:r>
                        <a:rPr lang="en-US" altLang="ko-KR" sz="1800" b="1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|  FAQ</a:t>
                      </a:r>
                    </a:p>
                    <a:p>
                      <a:pPr algn="ctr" latinLnBrk="1"/>
                      <a:r>
                        <a:rPr lang="en-US" altLang="ko-KR" sz="1800" b="1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CRUD</a:t>
                      </a:r>
                      <a:endParaRPr lang="ko-KR" altLang="en-US" sz="1800" b="1" dirty="0">
                        <a:solidFill>
                          <a:srgbClr val="22222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C2E6">
                        <a:alpha val="4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X</a:t>
                      </a:r>
                      <a:endParaRPr lang="ko-KR" altLang="en-US" sz="2000" dirty="0">
                        <a:solidFill>
                          <a:srgbClr val="22222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X</a:t>
                      </a:r>
                      <a:endParaRPr lang="ko-KR" altLang="en-US" sz="2000" dirty="0">
                        <a:solidFill>
                          <a:srgbClr val="22222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O</a:t>
                      </a:r>
                      <a:endParaRPr lang="ko-KR" altLang="en-US" sz="2000" dirty="0">
                        <a:solidFill>
                          <a:srgbClr val="22222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900">
                        <a:alpha val="4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X</a:t>
                      </a:r>
                      <a:endParaRPr lang="ko-KR" altLang="en-US" sz="2000" dirty="0">
                        <a:solidFill>
                          <a:srgbClr val="22222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2065497"/>
                  </a:ext>
                </a:extLst>
              </a:tr>
              <a:tr h="5241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건강이야기 </a:t>
                      </a:r>
                      <a:r>
                        <a:rPr lang="en-US" altLang="ko-KR" sz="1800" b="1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CRUD</a:t>
                      </a:r>
                      <a:endParaRPr lang="ko-KR" altLang="en-US" sz="1800" b="1" dirty="0">
                        <a:solidFill>
                          <a:srgbClr val="22222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C2E6">
                        <a:alpha val="4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X</a:t>
                      </a:r>
                      <a:endParaRPr lang="ko-KR" altLang="en-US" sz="2000" dirty="0">
                        <a:solidFill>
                          <a:srgbClr val="22222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X</a:t>
                      </a:r>
                      <a:endParaRPr lang="ko-KR" altLang="en-US" sz="2000" dirty="0">
                        <a:solidFill>
                          <a:srgbClr val="22222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X</a:t>
                      </a:r>
                      <a:endParaRPr lang="ko-KR" altLang="en-US" sz="2000" dirty="0">
                        <a:solidFill>
                          <a:srgbClr val="22222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>
                          <a:solidFill>
                            <a:srgbClr val="22222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O</a:t>
                      </a:r>
                      <a:endParaRPr lang="ko-KR" altLang="en-US" sz="2000" dirty="0">
                        <a:solidFill>
                          <a:srgbClr val="22222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17998" marR="117998" marT="58999" marB="58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900">
                        <a:alpha val="4392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83614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02882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11CD3-0665-3F5C-2EB2-EFB03FDF3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57">
            <a:extLst>
              <a:ext uri="{FF2B5EF4-FFF2-40B4-BE49-F238E27FC236}">
                <a16:creationId xmlns:a16="http://schemas.microsoft.com/office/drawing/2014/main" id="{65507E23-510A-3985-8A3B-E359D8C030B1}"/>
              </a:ext>
            </a:extLst>
          </p:cNvPr>
          <p:cNvSpPr txBox="1"/>
          <p:nvPr/>
        </p:nvSpPr>
        <p:spPr>
          <a:xfrm>
            <a:off x="1395362" y="1318328"/>
            <a:ext cx="4879314" cy="307777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en-US" altLang="ko-KR" sz="1400" dirty="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Light" panose="02000403000000020004" pitchFamily="2" charset="-127"/>
              </a:rPr>
              <a:t>OCR </a:t>
            </a:r>
            <a:r>
              <a:rPr lang="ko-KR" altLang="en-US" sz="1400" dirty="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Light" panose="02000403000000020004" pitchFamily="2" charset="-127"/>
              </a:rPr>
              <a:t>설명 어느정도 자세히 </a:t>
            </a:r>
            <a:r>
              <a:rPr lang="ko-KR" altLang="en-US" sz="1400" dirty="0" err="1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Light" panose="02000403000000020004" pitchFamily="2" charset="-127"/>
              </a:rPr>
              <a:t>해야하지</a:t>
            </a:r>
            <a:r>
              <a:rPr lang="en-US" altLang="ko-KR" sz="1400" dirty="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Light" panose="02000403000000020004" pitchFamily="2" charset="-127"/>
              </a:rPr>
              <a:t>?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E176780-9784-E2AF-A064-783985FE4084}"/>
              </a:ext>
            </a:extLst>
          </p:cNvPr>
          <p:cNvSpPr txBox="1"/>
          <p:nvPr/>
        </p:nvSpPr>
        <p:spPr>
          <a:xfrm>
            <a:off x="1352243" y="716672"/>
            <a:ext cx="1834578" cy="646331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en-US" altLang="ko-KR" sz="3600" b="1" dirty="0">
                <a:solidFill>
                  <a:srgbClr val="22222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OCR</a:t>
            </a:r>
            <a:endParaRPr lang="ko-KR" altLang="en-US" sz="3600" b="1" dirty="0">
              <a:solidFill>
                <a:srgbClr val="22222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3" name="화살표: 오각형 2">
            <a:extLst>
              <a:ext uri="{FF2B5EF4-FFF2-40B4-BE49-F238E27FC236}">
                <a16:creationId xmlns:a16="http://schemas.microsoft.com/office/drawing/2014/main" id="{B6AB5721-3A70-30CA-CBB3-D44E7D08C21D}"/>
              </a:ext>
            </a:extLst>
          </p:cNvPr>
          <p:cNvSpPr/>
          <p:nvPr/>
        </p:nvSpPr>
        <p:spPr>
          <a:xfrm rot="5400000">
            <a:off x="181861" y="583566"/>
            <a:ext cx="1543663" cy="376538"/>
          </a:xfrm>
          <a:prstGeom prst="homePlate">
            <a:avLst/>
          </a:prstGeom>
          <a:solidFill>
            <a:srgbClr val="005BA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EB475B2-E206-A0CC-434E-76BF34FC89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58426"/>
              </p:ext>
            </p:extLst>
          </p:nvPr>
        </p:nvGraphicFramePr>
        <p:xfrm>
          <a:off x="378540" y="1964659"/>
          <a:ext cx="11434924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27008">
                  <a:extLst>
                    <a:ext uri="{9D8B030D-6E8A-4147-A177-3AD203B41FA5}">
                      <a16:colId xmlns:a16="http://schemas.microsoft.com/office/drawing/2014/main" val="1589152366"/>
                    </a:ext>
                  </a:extLst>
                </a:gridCol>
                <a:gridCol w="1745227">
                  <a:extLst>
                    <a:ext uri="{9D8B030D-6E8A-4147-A177-3AD203B41FA5}">
                      <a16:colId xmlns:a16="http://schemas.microsoft.com/office/drawing/2014/main" val="1526323515"/>
                    </a:ext>
                  </a:extLst>
                </a:gridCol>
                <a:gridCol w="1745227">
                  <a:extLst>
                    <a:ext uri="{9D8B030D-6E8A-4147-A177-3AD203B41FA5}">
                      <a16:colId xmlns:a16="http://schemas.microsoft.com/office/drawing/2014/main" val="4245788062"/>
                    </a:ext>
                  </a:extLst>
                </a:gridCol>
                <a:gridCol w="2281082">
                  <a:extLst>
                    <a:ext uri="{9D8B030D-6E8A-4147-A177-3AD203B41FA5}">
                      <a16:colId xmlns:a16="http://schemas.microsoft.com/office/drawing/2014/main" val="343331227"/>
                    </a:ext>
                  </a:extLst>
                </a:gridCol>
                <a:gridCol w="1718190">
                  <a:extLst>
                    <a:ext uri="{9D8B030D-6E8A-4147-A177-3AD203B41FA5}">
                      <a16:colId xmlns:a16="http://schemas.microsoft.com/office/drawing/2014/main" val="341189197"/>
                    </a:ext>
                  </a:extLst>
                </a:gridCol>
                <a:gridCol w="1718190">
                  <a:extLst>
                    <a:ext uri="{9D8B030D-6E8A-4147-A177-3AD203B41FA5}">
                      <a16:colId xmlns:a16="http://schemas.microsoft.com/office/drawing/2014/main" val="3897355789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확대</a:t>
                      </a:r>
                      <a:r>
                        <a:rPr lang="en-US" altLang="ko-KR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x2, </a:t>
                      </a:r>
                      <a:r>
                        <a:rPr lang="ko-KR" altLang="en-US" dirty="0" err="1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바이큐빅</a:t>
                      </a:r>
                      <a:r>
                        <a:rPr lang="ko-KR" altLang="en-US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 보간</a:t>
                      </a:r>
                      <a:r>
                        <a:rPr lang="en-US" altLang="ko-KR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, </a:t>
                      </a:r>
                      <a:r>
                        <a:rPr lang="ko-KR" altLang="en-US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흑백화</a:t>
                      </a:r>
                      <a:r>
                        <a:rPr lang="en-US" altLang="ko-KR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, </a:t>
                      </a:r>
                      <a:r>
                        <a:rPr lang="ko-KR" altLang="en-US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패딩</a:t>
                      </a:r>
                    </a:p>
                  </a:txBody>
                  <a:tcPr>
                    <a:solidFill>
                      <a:srgbClr val="C9E4F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확대</a:t>
                      </a:r>
                      <a:r>
                        <a:rPr lang="en-US" altLang="ko-KR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x3, </a:t>
                      </a:r>
                      <a:r>
                        <a:rPr lang="ko-KR" altLang="en-US" dirty="0" err="1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바이큐빅</a:t>
                      </a:r>
                      <a:r>
                        <a:rPr lang="ko-KR" altLang="en-US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 보간</a:t>
                      </a:r>
                      <a:r>
                        <a:rPr lang="en-US" altLang="ko-KR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, </a:t>
                      </a:r>
                      <a:r>
                        <a:rPr lang="ko-KR" altLang="en-US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명암 조절</a:t>
                      </a:r>
                      <a:r>
                        <a:rPr lang="en-US" altLang="ko-KR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, </a:t>
                      </a:r>
                      <a:r>
                        <a:rPr lang="ko-KR" altLang="en-US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이진화</a:t>
                      </a:r>
                      <a:r>
                        <a:rPr lang="en-US" altLang="ko-KR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, </a:t>
                      </a:r>
                      <a:r>
                        <a:rPr lang="ko-KR" altLang="en-US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패딩</a:t>
                      </a:r>
                    </a:p>
                  </a:txBody>
                  <a:tcPr>
                    <a:solidFill>
                      <a:srgbClr val="C9E4F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3152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완벽</a:t>
                      </a:r>
                      <a:r>
                        <a:rPr lang="en-US" altLang="ko-KR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+</a:t>
                      </a:r>
                      <a:r>
                        <a:rPr lang="ko-KR" altLang="en-US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부분</a:t>
                      </a:r>
                      <a:r>
                        <a:rPr lang="en-US" altLang="ko-KR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: 86.9%</a:t>
                      </a:r>
                      <a:endParaRPr lang="ko-KR" altLang="en-US" dirty="0"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완벽</a:t>
                      </a:r>
                      <a:r>
                        <a:rPr lang="en-US" altLang="ko-KR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: 68.9%</a:t>
                      </a:r>
                      <a:endParaRPr lang="ko-KR" altLang="en-US" dirty="0"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부분</a:t>
                      </a:r>
                      <a:r>
                        <a:rPr lang="en-US" altLang="ko-KR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: 18.0%</a:t>
                      </a:r>
                      <a:endParaRPr lang="ko-KR" altLang="en-US" dirty="0"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완벽</a:t>
                      </a:r>
                      <a:r>
                        <a:rPr lang="en-US" altLang="ko-KR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+</a:t>
                      </a:r>
                      <a:r>
                        <a:rPr lang="ko-KR" altLang="en-US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부분</a:t>
                      </a:r>
                      <a:r>
                        <a:rPr lang="en-US" altLang="ko-KR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: 84.8%</a:t>
                      </a:r>
                      <a:endParaRPr lang="ko-KR" altLang="en-US" dirty="0"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완벽</a:t>
                      </a:r>
                      <a:r>
                        <a:rPr lang="en-US" altLang="ko-KR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: 59.3%</a:t>
                      </a:r>
                      <a:endParaRPr lang="ko-KR" altLang="en-US" dirty="0"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부분</a:t>
                      </a:r>
                      <a:r>
                        <a:rPr lang="en-US" altLang="ko-KR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: 24.5%</a:t>
                      </a:r>
                      <a:endParaRPr lang="ko-KR" altLang="en-US" dirty="0"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4758306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확대</a:t>
                      </a:r>
                      <a:r>
                        <a:rPr lang="en-US" altLang="ko-KR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x2, </a:t>
                      </a:r>
                      <a:r>
                        <a:rPr lang="ko-KR" altLang="en-US" dirty="0" err="1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바이큐빅</a:t>
                      </a:r>
                      <a:r>
                        <a:rPr lang="ko-KR" altLang="en-US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 보간</a:t>
                      </a:r>
                      <a:r>
                        <a:rPr lang="en-US" altLang="ko-KR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, </a:t>
                      </a:r>
                      <a:r>
                        <a:rPr lang="ko-KR" altLang="en-US" dirty="0" err="1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가우시안</a:t>
                      </a:r>
                      <a:r>
                        <a:rPr lang="ko-KR" altLang="en-US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 </a:t>
                      </a:r>
                      <a:r>
                        <a:rPr lang="ko-KR" altLang="en-US" dirty="0" err="1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블러</a:t>
                      </a:r>
                      <a:r>
                        <a:rPr lang="en-US" altLang="ko-KR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, </a:t>
                      </a:r>
                      <a:r>
                        <a:rPr lang="ko-KR" altLang="en-US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패딩</a:t>
                      </a:r>
                    </a:p>
                  </a:txBody>
                  <a:tcPr>
                    <a:solidFill>
                      <a:srgbClr val="C9E4F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확대</a:t>
                      </a:r>
                      <a:r>
                        <a:rPr lang="en-US" altLang="ko-KR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x2, </a:t>
                      </a:r>
                      <a:r>
                        <a:rPr lang="ko-KR" altLang="en-US" dirty="0" err="1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딜레이션</a:t>
                      </a:r>
                      <a:r>
                        <a:rPr lang="en-US" altLang="ko-KR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, </a:t>
                      </a:r>
                      <a:r>
                        <a:rPr lang="ko-KR" altLang="en-US" dirty="0" err="1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가우시안</a:t>
                      </a:r>
                      <a:r>
                        <a:rPr lang="ko-KR" altLang="en-US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 </a:t>
                      </a:r>
                      <a:r>
                        <a:rPr lang="ko-KR" altLang="en-US" dirty="0" err="1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블러</a:t>
                      </a:r>
                      <a:r>
                        <a:rPr lang="en-US" altLang="ko-KR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, </a:t>
                      </a:r>
                      <a:r>
                        <a:rPr lang="ko-KR" altLang="en-US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패딩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330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완벽</a:t>
                      </a:r>
                      <a:r>
                        <a:rPr lang="en-US" altLang="ko-KR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+</a:t>
                      </a:r>
                      <a:r>
                        <a:rPr lang="ko-KR" altLang="en-US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부분</a:t>
                      </a:r>
                      <a:r>
                        <a:rPr lang="en-US" altLang="ko-KR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: 87.6%</a:t>
                      </a:r>
                      <a:endParaRPr lang="ko-KR" altLang="en-US" dirty="0"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완벽</a:t>
                      </a:r>
                      <a:r>
                        <a:rPr lang="en-US" altLang="ko-KR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: 66.4%</a:t>
                      </a:r>
                      <a:endParaRPr lang="ko-KR" altLang="en-US" dirty="0"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부분</a:t>
                      </a:r>
                      <a:r>
                        <a:rPr lang="en-US" altLang="ko-KR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: 21.1%</a:t>
                      </a:r>
                      <a:endParaRPr lang="ko-KR" altLang="en-US" dirty="0"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완벽</a:t>
                      </a:r>
                      <a:r>
                        <a:rPr lang="en-US" altLang="ko-KR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+</a:t>
                      </a:r>
                      <a:r>
                        <a:rPr lang="ko-KR" altLang="en-US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부분</a:t>
                      </a:r>
                      <a:r>
                        <a:rPr lang="en-US" altLang="ko-KR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: 90.2%</a:t>
                      </a:r>
                      <a:endParaRPr lang="ko-KR" altLang="en-US" dirty="0"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완벽</a:t>
                      </a:r>
                      <a:r>
                        <a:rPr lang="en-US" altLang="ko-KR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: 69.8%</a:t>
                      </a:r>
                      <a:endParaRPr lang="ko-KR" altLang="en-US" dirty="0"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부분</a:t>
                      </a:r>
                      <a:r>
                        <a:rPr lang="en-US" altLang="ko-KR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: 20.5%</a:t>
                      </a:r>
                      <a:endParaRPr lang="ko-KR" altLang="en-US" dirty="0"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3624491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확대</a:t>
                      </a:r>
                      <a:r>
                        <a:rPr lang="en-US" altLang="ko-KR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x2, </a:t>
                      </a:r>
                      <a:r>
                        <a:rPr lang="ko-KR" altLang="en-US" dirty="0" err="1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딜레이션</a:t>
                      </a:r>
                      <a:r>
                        <a:rPr lang="en-US" altLang="ko-KR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, </a:t>
                      </a:r>
                      <a:r>
                        <a:rPr lang="ko-KR" altLang="en-US" dirty="0" err="1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에로전</a:t>
                      </a:r>
                      <a:r>
                        <a:rPr lang="en-US" altLang="ko-KR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, </a:t>
                      </a:r>
                      <a:r>
                        <a:rPr lang="ko-KR" altLang="en-US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패딩</a:t>
                      </a:r>
                    </a:p>
                  </a:txBody>
                  <a:tcPr>
                    <a:solidFill>
                      <a:srgbClr val="C9E4F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확대</a:t>
                      </a:r>
                      <a:r>
                        <a:rPr lang="en-US" altLang="ko-KR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x3, </a:t>
                      </a:r>
                      <a:r>
                        <a:rPr lang="ko-KR" altLang="en-US" dirty="0" err="1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딜레이션</a:t>
                      </a:r>
                      <a:r>
                        <a:rPr lang="en-US" altLang="ko-KR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, </a:t>
                      </a:r>
                      <a:r>
                        <a:rPr lang="ko-KR" altLang="en-US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패딩</a:t>
                      </a:r>
                    </a:p>
                  </a:txBody>
                  <a:tcPr>
                    <a:solidFill>
                      <a:srgbClr val="C9E4F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0521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완벽</a:t>
                      </a:r>
                      <a:r>
                        <a:rPr lang="en-US" altLang="ko-KR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+</a:t>
                      </a:r>
                      <a:r>
                        <a:rPr lang="ko-KR" altLang="en-US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부분</a:t>
                      </a:r>
                      <a:r>
                        <a:rPr lang="en-US" altLang="ko-KR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: 87.0%</a:t>
                      </a:r>
                      <a:endParaRPr lang="ko-KR" altLang="en-US" dirty="0"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완벽</a:t>
                      </a:r>
                      <a:r>
                        <a:rPr lang="en-US" altLang="ko-KR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: 66.1%</a:t>
                      </a:r>
                      <a:endParaRPr lang="ko-KR" altLang="en-US" dirty="0"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부분</a:t>
                      </a:r>
                      <a:r>
                        <a:rPr lang="en-US" altLang="ko-KR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: 21.0%</a:t>
                      </a:r>
                      <a:endParaRPr lang="ko-KR" altLang="en-US" dirty="0"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완벽</a:t>
                      </a:r>
                      <a:r>
                        <a:rPr lang="en-US" altLang="ko-KR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+</a:t>
                      </a:r>
                      <a:r>
                        <a:rPr lang="ko-KR" altLang="en-US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부분</a:t>
                      </a:r>
                      <a:r>
                        <a:rPr lang="en-US" altLang="ko-KR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: 88.9%</a:t>
                      </a:r>
                      <a:endParaRPr lang="ko-KR" altLang="en-US" dirty="0"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완벽</a:t>
                      </a:r>
                      <a:r>
                        <a:rPr lang="en-US" altLang="ko-KR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: 65.9%</a:t>
                      </a:r>
                      <a:endParaRPr lang="ko-KR" altLang="en-US" dirty="0"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부분</a:t>
                      </a:r>
                      <a:r>
                        <a:rPr lang="en-US" altLang="ko-KR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: 23.0%</a:t>
                      </a:r>
                      <a:endParaRPr lang="ko-KR" altLang="en-US" dirty="0"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0427628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확대</a:t>
                      </a:r>
                      <a:r>
                        <a:rPr lang="en-US" altLang="ko-KR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x2, </a:t>
                      </a:r>
                      <a:r>
                        <a:rPr lang="ko-KR" altLang="en-US" dirty="0" err="1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딜레이션</a:t>
                      </a:r>
                      <a:r>
                        <a:rPr lang="en-US" altLang="ko-KR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, </a:t>
                      </a:r>
                      <a:r>
                        <a:rPr lang="ko-KR" altLang="en-US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명암 조절</a:t>
                      </a:r>
                      <a:r>
                        <a:rPr lang="en-US" altLang="ko-KR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, </a:t>
                      </a:r>
                      <a:r>
                        <a:rPr lang="ko-KR" altLang="en-US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패딩</a:t>
                      </a:r>
                    </a:p>
                  </a:txBody>
                  <a:tcPr>
                    <a:solidFill>
                      <a:srgbClr val="C9E4F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확대</a:t>
                      </a:r>
                      <a:r>
                        <a:rPr lang="en-US" altLang="ko-KR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x2, </a:t>
                      </a:r>
                      <a:r>
                        <a:rPr lang="ko-KR" altLang="en-US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색상 반전</a:t>
                      </a:r>
                      <a:r>
                        <a:rPr lang="en-US" altLang="ko-KR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, </a:t>
                      </a:r>
                      <a:r>
                        <a:rPr lang="ko-KR" altLang="en-US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패딩</a:t>
                      </a:r>
                    </a:p>
                  </a:txBody>
                  <a:tcPr>
                    <a:solidFill>
                      <a:srgbClr val="C9E4F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662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완벽</a:t>
                      </a:r>
                      <a:r>
                        <a:rPr lang="en-US" altLang="ko-KR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+</a:t>
                      </a:r>
                      <a:r>
                        <a:rPr lang="ko-KR" altLang="en-US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부분</a:t>
                      </a:r>
                      <a:r>
                        <a:rPr lang="en-US" altLang="ko-KR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: 89.9%</a:t>
                      </a:r>
                      <a:endParaRPr lang="ko-KR" altLang="en-US" dirty="0"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완벽</a:t>
                      </a:r>
                      <a:r>
                        <a:rPr lang="en-US" altLang="ko-KR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: 69.5%</a:t>
                      </a:r>
                      <a:endParaRPr lang="ko-KR" altLang="en-US" dirty="0"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부분</a:t>
                      </a:r>
                      <a:r>
                        <a:rPr lang="en-US" altLang="ko-KR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: 20.4%</a:t>
                      </a:r>
                      <a:endParaRPr lang="ko-KR" altLang="en-US" dirty="0"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완벽</a:t>
                      </a:r>
                      <a:r>
                        <a:rPr lang="en-US" altLang="ko-KR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+</a:t>
                      </a:r>
                      <a:r>
                        <a:rPr lang="ko-KR" altLang="en-US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부분</a:t>
                      </a:r>
                      <a:r>
                        <a:rPr lang="en-US" altLang="ko-KR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: 77.9%</a:t>
                      </a:r>
                      <a:endParaRPr lang="ko-KR" altLang="en-US" dirty="0"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완벽</a:t>
                      </a:r>
                      <a:r>
                        <a:rPr lang="en-US" altLang="ko-KR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: 67.1%</a:t>
                      </a:r>
                      <a:endParaRPr lang="ko-KR" altLang="en-US" dirty="0"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부분</a:t>
                      </a:r>
                      <a:r>
                        <a:rPr lang="en-US" altLang="ko-KR" dirty="0">
                          <a:latin typeface="G마켓 산스 TTF Light" panose="02000000000000000000" pitchFamily="2" charset="-127"/>
                          <a:ea typeface="G마켓 산스 TTF Light" panose="02000000000000000000" pitchFamily="2" charset="-127"/>
                        </a:rPr>
                        <a:t>: 10.9%</a:t>
                      </a:r>
                      <a:endParaRPr lang="ko-KR" altLang="en-US" dirty="0">
                        <a:latin typeface="G마켓 산스 TTF Light" panose="02000000000000000000" pitchFamily="2" charset="-127"/>
                        <a:ea typeface="G마켓 산스 TTF Light" panose="020000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5866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74526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33F3909F-397D-EB89-AFD9-00AF46377E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3119" y="2019809"/>
            <a:ext cx="7105762" cy="338511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95239DA-2C31-F400-45F9-07AB74149884}"/>
              </a:ext>
            </a:extLst>
          </p:cNvPr>
          <p:cNvSpPr txBox="1"/>
          <p:nvPr/>
        </p:nvSpPr>
        <p:spPr>
          <a:xfrm>
            <a:off x="1352242" y="716672"/>
            <a:ext cx="3138478" cy="646331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ko-KR" altLang="en-US" sz="3600" b="1" dirty="0">
                <a:solidFill>
                  <a:srgbClr val="22222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프로그램 시연</a:t>
            </a:r>
          </a:p>
        </p:txBody>
      </p:sp>
      <p:sp>
        <p:nvSpPr>
          <p:cNvPr id="4" name="화살표: 오각형 3">
            <a:extLst>
              <a:ext uri="{FF2B5EF4-FFF2-40B4-BE49-F238E27FC236}">
                <a16:creationId xmlns:a16="http://schemas.microsoft.com/office/drawing/2014/main" id="{6FA38222-33B9-23AF-00E4-2EF8D515BD82}"/>
              </a:ext>
            </a:extLst>
          </p:cNvPr>
          <p:cNvSpPr/>
          <p:nvPr/>
        </p:nvSpPr>
        <p:spPr>
          <a:xfrm rot="5400000">
            <a:off x="181861" y="583566"/>
            <a:ext cx="1543663" cy="376538"/>
          </a:xfrm>
          <a:prstGeom prst="homePlate">
            <a:avLst/>
          </a:prstGeom>
          <a:solidFill>
            <a:srgbClr val="005BA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88527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3455DC8-BF25-57FB-B05A-3CCBA3CBEA1B}"/>
              </a:ext>
            </a:extLst>
          </p:cNvPr>
          <p:cNvSpPr txBox="1"/>
          <p:nvPr/>
        </p:nvSpPr>
        <p:spPr>
          <a:xfrm>
            <a:off x="1395362" y="1318328"/>
            <a:ext cx="5562486" cy="307777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ko-KR" altLang="en-US" sz="1400">
                <a:solidFill>
                  <a:srgbClr val="444444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Light" panose="02000403000000020004" pitchFamily="2" charset="-127"/>
              </a:rPr>
              <a:t>기술 고도화 및 사업 영역 확대를 통한 스마트 시티 인프라 구축</a:t>
            </a:r>
            <a:endParaRPr lang="ko-KR" altLang="en-US" sz="1400" dirty="0">
              <a:solidFill>
                <a:srgbClr val="444444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4D8096-8265-2F47-F7AC-385D16D7CFBA}"/>
              </a:ext>
            </a:extLst>
          </p:cNvPr>
          <p:cNvSpPr txBox="1"/>
          <p:nvPr/>
        </p:nvSpPr>
        <p:spPr>
          <a:xfrm>
            <a:off x="1352243" y="716672"/>
            <a:ext cx="3585518" cy="646331"/>
          </a:xfrm>
          <a:prstGeom prst="rect">
            <a:avLst/>
          </a:prstGeom>
          <a:noFill/>
        </p:spPr>
        <p:txBody>
          <a:bodyPr wrap="square" lIns="72000" rIns="0" spcCol="216000" rtlCol="0">
            <a:spAutoFit/>
          </a:bodyPr>
          <a:lstStyle/>
          <a:p>
            <a:r>
              <a:rPr lang="ko-KR" altLang="en-US" sz="3600" b="1">
                <a:solidFill>
                  <a:srgbClr val="22222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서비스 확장 계획</a:t>
            </a:r>
            <a:endParaRPr lang="ko-KR" altLang="en-US" sz="3600" b="1" dirty="0">
              <a:solidFill>
                <a:srgbClr val="22222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2CE657-3AC6-660E-877F-08B4FB4D4890}"/>
              </a:ext>
            </a:extLst>
          </p:cNvPr>
          <p:cNvSpPr txBox="1"/>
          <p:nvPr/>
        </p:nvSpPr>
        <p:spPr>
          <a:xfrm>
            <a:off x="1352243" y="2397373"/>
            <a:ext cx="27589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005BAA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AI </a:t>
            </a:r>
            <a:r>
              <a:rPr lang="ko-KR" altLang="en-US" dirty="0">
                <a:solidFill>
                  <a:srgbClr val="005BAA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기</a:t>
            </a:r>
            <a:r>
              <a:rPr lang="ko-KR" altLang="en-US" sz="1800" dirty="0">
                <a:solidFill>
                  <a:srgbClr val="005BAA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rPr>
              <a:t>반 차량 인식 고도화</a:t>
            </a:r>
            <a:endParaRPr lang="ko-KR" altLang="en-US" dirty="0">
              <a:solidFill>
                <a:srgbClr val="005BAA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0E9F1F-865A-40FF-2AAA-CB7A517E3677}"/>
              </a:ext>
            </a:extLst>
          </p:cNvPr>
          <p:cNvSpPr txBox="1"/>
          <p:nvPr/>
        </p:nvSpPr>
        <p:spPr>
          <a:xfrm>
            <a:off x="1424168" y="2766705"/>
            <a:ext cx="510956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Python YOLO</a:t>
            </a:r>
            <a:r>
              <a:rPr lang="ko-KR" altLang="en-US" sz="14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기반의 딥러닝 객체 탐지 모델 도입</a:t>
            </a:r>
            <a:endParaRPr lang="en-US" altLang="ko-KR" sz="1400" dirty="0">
              <a:solidFill>
                <a:srgbClr val="222222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ko-KR" altLang="en-US" sz="14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기상 악화 및 야간 환경에서의 </a:t>
            </a:r>
            <a:r>
              <a:rPr lang="en-US" altLang="ko-KR" sz="14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OCR </a:t>
            </a:r>
            <a:r>
              <a:rPr lang="ko-KR" altLang="en-US" sz="14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인식 정밀도 개선</a:t>
            </a:r>
            <a:endParaRPr lang="en-US" altLang="ko-KR" sz="1400" dirty="0">
              <a:solidFill>
                <a:srgbClr val="222222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ko-KR" altLang="en-US" sz="14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차량 객체 추적</a:t>
            </a:r>
            <a:r>
              <a:rPr lang="en-US" altLang="ko-KR" sz="14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(Object Tracking)</a:t>
            </a:r>
            <a:r>
              <a:rPr lang="ko-KR" altLang="en-US" sz="14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을 통한 주차 유도 자동화</a:t>
            </a:r>
            <a:endParaRPr lang="en-US" altLang="ko-KR" sz="1400" dirty="0">
              <a:solidFill>
                <a:srgbClr val="222222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5678F2-9261-FFC7-5DC1-1ADC98E6A7DF}"/>
              </a:ext>
            </a:extLst>
          </p:cNvPr>
          <p:cNvSpPr txBox="1"/>
          <p:nvPr/>
        </p:nvSpPr>
        <p:spPr>
          <a:xfrm>
            <a:off x="1352243" y="4096413"/>
            <a:ext cx="40438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05BAA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E-Mobility </a:t>
            </a:r>
            <a:r>
              <a:rPr lang="ko-KR" altLang="en-US" dirty="0">
                <a:solidFill>
                  <a:srgbClr val="005BAA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연동형 스마트 파킹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752BB8-F7C2-2B7E-AD3B-6C74FC5F0A9C}"/>
              </a:ext>
            </a:extLst>
          </p:cNvPr>
          <p:cNvSpPr txBox="1"/>
          <p:nvPr/>
        </p:nvSpPr>
        <p:spPr>
          <a:xfrm>
            <a:off x="1352243" y="4801008"/>
            <a:ext cx="449663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전기차</a:t>
            </a:r>
            <a:r>
              <a:rPr lang="en-US" altLang="ko-KR" sz="14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(EV) </a:t>
            </a:r>
            <a:r>
              <a:rPr lang="ko-KR" altLang="en-US" sz="14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충전 구역 자동 배정 및 점유 현황 관제</a:t>
            </a:r>
            <a:endParaRPr lang="en-US" altLang="ko-KR" sz="1400" dirty="0">
              <a:solidFill>
                <a:srgbClr val="222222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ko-KR" altLang="en-US" sz="14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충전 시간과 주차 요금을 결합한 통합 정산 시스템 확장</a:t>
            </a:r>
            <a:endParaRPr lang="en-US" altLang="ko-KR" sz="1400" dirty="0">
              <a:solidFill>
                <a:srgbClr val="222222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en-US" altLang="ko-KR" sz="14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IoT </a:t>
            </a:r>
            <a:r>
              <a:rPr lang="ko-KR" altLang="en-US" sz="1400" dirty="0">
                <a:solidFill>
                  <a:srgbClr val="22222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센서 연동을 통한 실시간 주차 시각화 대시보드 구축</a:t>
            </a:r>
            <a:endParaRPr lang="en-US" altLang="ko-KR" sz="1400" dirty="0">
              <a:solidFill>
                <a:srgbClr val="222222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" name="화살표: 오각형 1">
            <a:extLst>
              <a:ext uri="{FF2B5EF4-FFF2-40B4-BE49-F238E27FC236}">
                <a16:creationId xmlns:a16="http://schemas.microsoft.com/office/drawing/2014/main" id="{5C0B1573-A3F7-8E7A-3738-C7D6B97A8BC9}"/>
              </a:ext>
            </a:extLst>
          </p:cNvPr>
          <p:cNvSpPr/>
          <p:nvPr/>
        </p:nvSpPr>
        <p:spPr>
          <a:xfrm rot="5400000">
            <a:off x="181861" y="583566"/>
            <a:ext cx="1543663" cy="376538"/>
          </a:xfrm>
          <a:prstGeom prst="homePlate">
            <a:avLst/>
          </a:prstGeom>
          <a:solidFill>
            <a:srgbClr val="005BA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23854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B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56AD5759-CDAB-2FB6-FB11-7A3E8C8C2402}"/>
              </a:ext>
            </a:extLst>
          </p:cNvPr>
          <p:cNvGrpSpPr/>
          <p:nvPr/>
        </p:nvGrpSpPr>
        <p:grpSpPr>
          <a:xfrm>
            <a:off x="3221182" y="2522959"/>
            <a:ext cx="5749631" cy="1812083"/>
            <a:chOff x="3221182" y="2644170"/>
            <a:chExt cx="5749631" cy="1812083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AD8207C-DAEB-8A27-C4CF-FEC4AA4681E2}"/>
                </a:ext>
              </a:extLst>
            </p:cNvPr>
            <p:cNvSpPr txBox="1"/>
            <p:nvPr/>
          </p:nvSpPr>
          <p:spPr>
            <a:xfrm>
              <a:off x="3221182" y="2644170"/>
              <a:ext cx="5749631" cy="1569659"/>
            </a:xfrm>
            <a:prstGeom prst="rect">
              <a:avLst/>
            </a:prstGeom>
            <a:noFill/>
          </p:spPr>
          <p:txBody>
            <a:bodyPr wrap="square" lIns="72000" rIns="0" spcCol="216000" rtlCol="0">
              <a:spAutoFit/>
            </a:bodyPr>
            <a:lstStyle/>
            <a:p>
              <a:pPr algn="ctr"/>
              <a:r>
                <a:rPr lang="en-US" altLang="ko-KR" sz="9600" b="1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Medium" panose="02000603000000020004" pitchFamily="2" charset="-127"/>
                </a:rPr>
                <a:t>Q &amp; A</a:t>
              </a:r>
              <a:endParaRPr lang="ko-KR" altLang="en-US" sz="96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7789B9FE-AAB5-3733-E507-E46F9B98BA31}"/>
                </a:ext>
              </a:extLst>
            </p:cNvPr>
            <p:cNvSpPr/>
            <p:nvPr/>
          </p:nvSpPr>
          <p:spPr>
            <a:xfrm>
              <a:off x="3578504" y="4213829"/>
              <a:ext cx="5034987" cy="242424"/>
            </a:xfrm>
            <a:prstGeom prst="rect">
              <a:avLst/>
            </a:prstGeom>
            <a:solidFill>
              <a:srgbClr val="FBB9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515711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BA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B563B8-2B14-2771-F290-75727C765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8C2AF975-B0CF-DF6B-33F5-500C21AE5827}"/>
              </a:ext>
            </a:extLst>
          </p:cNvPr>
          <p:cNvGrpSpPr/>
          <p:nvPr/>
        </p:nvGrpSpPr>
        <p:grpSpPr>
          <a:xfrm>
            <a:off x="2856501" y="2522959"/>
            <a:ext cx="6478999" cy="1812083"/>
            <a:chOff x="2856501" y="2644170"/>
            <a:chExt cx="6478999" cy="1812083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3721DBE-280E-06F5-3542-E016FEE54D30}"/>
                </a:ext>
              </a:extLst>
            </p:cNvPr>
            <p:cNvSpPr txBox="1"/>
            <p:nvPr/>
          </p:nvSpPr>
          <p:spPr>
            <a:xfrm>
              <a:off x="2856501" y="2644170"/>
              <a:ext cx="6478999" cy="1569660"/>
            </a:xfrm>
            <a:prstGeom prst="rect">
              <a:avLst/>
            </a:prstGeom>
            <a:noFill/>
          </p:spPr>
          <p:txBody>
            <a:bodyPr wrap="square" lIns="72000" rIns="0" spcCol="216000" rtlCol="0">
              <a:spAutoFit/>
            </a:bodyPr>
            <a:lstStyle/>
            <a:p>
              <a:pPr algn="ctr"/>
              <a:r>
                <a:rPr lang="ko-KR" altLang="en-US" sz="9600" b="1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Medium" panose="02000603000000020004" pitchFamily="2" charset="-127"/>
                </a:rPr>
                <a:t>감사합니다</a:t>
              </a:r>
              <a:endParaRPr lang="ko-KR" altLang="en-US" sz="96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Medium" panose="02000603000000020004" pitchFamily="2" charset="-127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B1FC04AB-A90A-B332-B365-AA5E53F459E5}"/>
                </a:ext>
              </a:extLst>
            </p:cNvPr>
            <p:cNvSpPr/>
            <p:nvPr/>
          </p:nvSpPr>
          <p:spPr>
            <a:xfrm>
              <a:off x="3578504" y="4213829"/>
              <a:ext cx="5034987" cy="242424"/>
            </a:xfrm>
            <a:prstGeom prst="rect">
              <a:avLst/>
            </a:prstGeom>
            <a:solidFill>
              <a:srgbClr val="FBB9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431758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5BAA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6003</TotalTime>
  <Words>986</Words>
  <Application>Microsoft Office PowerPoint</Application>
  <PresentationFormat>와이드스크린</PresentationFormat>
  <Paragraphs>192</Paragraphs>
  <Slides>16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3" baseType="lpstr">
      <vt:lpstr>Google Sans Text</vt:lpstr>
      <vt:lpstr>G마켓 산스 TTF Bold</vt:lpstr>
      <vt:lpstr>G마켓 산스 TTF Light</vt:lpstr>
      <vt:lpstr>G마켓 산스 TTF Medium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동현 임</dc:creator>
  <cp:lastModifiedBy>User</cp:lastModifiedBy>
  <cp:revision>261</cp:revision>
  <dcterms:created xsi:type="dcterms:W3CDTF">2026-02-13T09:15:51Z</dcterms:created>
  <dcterms:modified xsi:type="dcterms:W3CDTF">2026-02-21T06:48:13Z</dcterms:modified>
</cp:coreProperties>
</file>