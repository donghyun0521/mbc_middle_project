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79" r:id="rId3"/>
    <p:sldId id="280" r:id="rId4"/>
    <p:sldId id="275" r:id="rId5"/>
    <p:sldId id="266" r:id="rId6"/>
    <p:sldId id="268" r:id="rId7"/>
    <p:sldId id="263" r:id="rId8"/>
    <p:sldId id="290" r:id="rId9"/>
    <p:sldId id="287" r:id="rId10"/>
    <p:sldId id="288" r:id="rId11"/>
    <p:sldId id="286" r:id="rId12"/>
    <p:sldId id="289" r:id="rId13"/>
    <p:sldId id="260" r:id="rId14"/>
    <p:sldId id="262" r:id="rId15"/>
    <p:sldId id="264" r:id="rId16"/>
    <p:sldId id="285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005BAA"/>
    <a:srgbClr val="222222"/>
    <a:srgbClr val="FBB900"/>
    <a:srgbClr val="555555"/>
    <a:srgbClr val="84C2E6"/>
    <a:srgbClr val="C9E4F4"/>
    <a:srgbClr val="D9F3FF"/>
    <a:srgbClr val="F7F7F7"/>
    <a:srgbClr val="E9F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8C131C-CF48-4014-97DD-DD6736A6C487}" v="41" dt="2026-02-15T09:32:50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20" autoAdjust="0"/>
    <p:restoredTop sz="95026" autoAdjust="0"/>
  </p:normalViewPr>
  <p:slideViewPr>
    <p:cSldViewPr snapToGrid="0">
      <p:cViewPr varScale="1">
        <p:scale>
          <a:sx n="105" d="100"/>
          <a:sy n="105" d="100"/>
        </p:scale>
        <p:origin x="10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현 임" userId="bfd0dec5d22372d9" providerId="LiveId" clId="{F2D5EDD2-1DF9-4194-8BFE-0FE246D3B9F2}"/>
    <pc:docChg chg="custSel addSld delSld modSld sldOrd">
      <pc:chgData name="동현 임" userId="bfd0dec5d22372d9" providerId="LiveId" clId="{F2D5EDD2-1DF9-4194-8BFE-0FE246D3B9F2}" dt="2026-02-15T09:32:54.516" v="486" actId="1076"/>
      <pc:docMkLst>
        <pc:docMk/>
      </pc:docMkLst>
      <pc:sldChg chg="modSp mod">
        <pc:chgData name="동현 임" userId="bfd0dec5d22372d9" providerId="LiveId" clId="{F2D5EDD2-1DF9-4194-8BFE-0FE246D3B9F2}" dt="2026-02-13T09:26:42.964" v="72" actId="20577"/>
        <pc:sldMkLst>
          <pc:docMk/>
          <pc:sldMk cId="2378888442" sldId="256"/>
        </pc:sldMkLst>
        <pc:spChg chg="mod">
          <ac:chgData name="동현 임" userId="bfd0dec5d22372d9" providerId="LiveId" clId="{F2D5EDD2-1DF9-4194-8BFE-0FE246D3B9F2}" dt="2026-02-13T09:26:42.964" v="72" actId="20577"/>
          <ac:spMkLst>
            <pc:docMk/>
            <pc:sldMk cId="2378888442" sldId="256"/>
            <ac:spMk id="2" creationId="{AB394C6C-5EDD-8BD5-678E-F894E7A37153}"/>
          </ac:spMkLst>
        </pc:spChg>
      </pc:sldChg>
      <pc:sldChg chg="addSp delSp modSp new del mod">
        <pc:chgData name="동현 임" userId="bfd0dec5d22372d9" providerId="LiveId" clId="{F2D5EDD2-1DF9-4194-8BFE-0FE246D3B9F2}" dt="2026-02-15T09:32:45.268" v="484" actId="47"/>
        <pc:sldMkLst>
          <pc:docMk/>
          <pc:sldMk cId="1550544180" sldId="259"/>
        </pc:sldMkLst>
      </pc:sldChg>
      <pc:sldChg chg="modSp new mod">
        <pc:chgData name="동현 임" userId="bfd0dec5d22372d9" providerId="LiveId" clId="{F2D5EDD2-1DF9-4194-8BFE-0FE246D3B9F2}" dt="2026-02-13T09:18:46.029" v="36" actId="20577"/>
        <pc:sldMkLst>
          <pc:docMk/>
          <pc:sldMk cId="2438852705" sldId="260"/>
        </pc:sldMkLst>
        <pc:spChg chg="mod">
          <ac:chgData name="동현 임" userId="bfd0dec5d22372d9" providerId="LiveId" clId="{F2D5EDD2-1DF9-4194-8BFE-0FE246D3B9F2}" dt="2026-02-13T09:18:46.029" v="36" actId="20577"/>
          <ac:spMkLst>
            <pc:docMk/>
            <pc:sldMk cId="2438852705" sldId="260"/>
            <ac:spMk id="2" creationId="{43B13596-3057-7122-89D9-9526DE051053}"/>
          </ac:spMkLst>
        </pc:spChg>
      </pc:sldChg>
      <pc:sldChg chg="modSp new mod">
        <pc:chgData name="동현 임" userId="bfd0dec5d22372d9" providerId="LiveId" clId="{F2D5EDD2-1DF9-4194-8BFE-0FE246D3B9F2}" dt="2026-02-13T09:32:40.882" v="207" actId="20577"/>
        <pc:sldMkLst>
          <pc:docMk/>
          <pc:sldMk cId="1399677907" sldId="261"/>
        </pc:sldMkLst>
        <pc:spChg chg="mod">
          <ac:chgData name="동현 임" userId="bfd0dec5d22372d9" providerId="LiveId" clId="{F2D5EDD2-1DF9-4194-8BFE-0FE246D3B9F2}" dt="2026-02-13T09:32:40.882" v="207" actId="20577"/>
          <ac:spMkLst>
            <pc:docMk/>
            <pc:sldMk cId="1399677907" sldId="261"/>
            <ac:spMk id="2" creationId="{FC90ED56-9C29-4926-1DEA-65809AF4E635}"/>
          </ac:spMkLst>
        </pc:spChg>
        <pc:spChg chg="mod">
          <ac:chgData name="동현 임" userId="bfd0dec5d22372d9" providerId="LiveId" clId="{F2D5EDD2-1DF9-4194-8BFE-0FE246D3B9F2}" dt="2026-02-13T09:29:45.010" v="199" actId="20577"/>
          <ac:spMkLst>
            <pc:docMk/>
            <pc:sldMk cId="1399677907" sldId="261"/>
            <ac:spMk id="3" creationId="{FE8C6DF4-ECB8-2924-392E-B359ED717C0A}"/>
          </ac:spMkLst>
        </pc:spChg>
      </pc:sldChg>
      <pc:sldChg chg="modSp new mod">
        <pc:chgData name="동현 임" userId="bfd0dec5d22372d9" providerId="LiveId" clId="{F2D5EDD2-1DF9-4194-8BFE-0FE246D3B9F2}" dt="2026-02-13T09:42:54.279" v="438" actId="20577"/>
        <pc:sldMkLst>
          <pc:docMk/>
          <pc:sldMk cId="2452385403" sldId="262"/>
        </pc:sldMkLst>
        <pc:spChg chg="mod">
          <ac:chgData name="동현 임" userId="bfd0dec5d22372d9" providerId="LiveId" clId="{F2D5EDD2-1DF9-4194-8BFE-0FE246D3B9F2}" dt="2026-02-13T09:36:28.445" v="403" actId="20577"/>
          <ac:spMkLst>
            <pc:docMk/>
            <pc:sldMk cId="2452385403" sldId="262"/>
            <ac:spMk id="2" creationId="{E66B6C3E-C791-DDAD-16F5-A0BE9DDB04E1}"/>
          </ac:spMkLst>
        </pc:spChg>
        <pc:spChg chg="mod">
          <ac:chgData name="동현 임" userId="bfd0dec5d22372d9" providerId="LiveId" clId="{F2D5EDD2-1DF9-4194-8BFE-0FE246D3B9F2}" dt="2026-02-13T09:42:54.279" v="438" actId="20577"/>
          <ac:spMkLst>
            <pc:docMk/>
            <pc:sldMk cId="2452385403" sldId="262"/>
            <ac:spMk id="3" creationId="{A4BDD89D-DD72-1F8C-E763-51A29E113000}"/>
          </ac:spMkLst>
        </pc:spChg>
      </pc:sldChg>
      <pc:sldChg chg="addSp delSp modSp new mod">
        <pc:chgData name="동현 임" userId="bfd0dec5d22372d9" providerId="LiveId" clId="{F2D5EDD2-1DF9-4194-8BFE-0FE246D3B9F2}" dt="2026-02-13T10:25:41.597" v="442" actId="962"/>
        <pc:sldMkLst>
          <pc:docMk/>
          <pc:sldMk cId="2942114968" sldId="263"/>
        </pc:sldMkLst>
        <pc:spChg chg="mod">
          <ac:chgData name="동현 임" userId="bfd0dec5d22372d9" providerId="LiveId" clId="{F2D5EDD2-1DF9-4194-8BFE-0FE246D3B9F2}" dt="2026-02-13T09:25:54.082" v="58" actId="20577"/>
          <ac:spMkLst>
            <pc:docMk/>
            <pc:sldMk cId="2942114968" sldId="263"/>
            <ac:spMk id="2" creationId="{DD19D4FD-FB44-603F-3436-4A9A9C6A3E01}"/>
          </ac:spMkLst>
        </pc:spChg>
        <pc:picChg chg="add mod ord">
          <ac:chgData name="동현 임" userId="bfd0dec5d22372d9" providerId="LiveId" clId="{F2D5EDD2-1DF9-4194-8BFE-0FE246D3B9F2}" dt="2026-02-13T10:25:41.597" v="442" actId="962"/>
          <ac:picMkLst>
            <pc:docMk/>
            <pc:sldMk cId="2942114968" sldId="263"/>
            <ac:picMk id="5" creationId="{64DD1A14-8C53-3AC7-DD35-8F75DC41AAEB}"/>
          </ac:picMkLst>
        </pc:picChg>
      </pc:sldChg>
      <pc:sldChg chg="modSp new mod">
        <pc:chgData name="동현 임" userId="bfd0dec5d22372d9" providerId="LiveId" clId="{F2D5EDD2-1DF9-4194-8BFE-0FE246D3B9F2}" dt="2026-02-13T09:37:11.568" v="405" actId="20577"/>
        <pc:sldMkLst>
          <pc:docMk/>
          <pc:sldMk cId="2351571111" sldId="264"/>
        </pc:sldMkLst>
        <pc:spChg chg="mod">
          <ac:chgData name="동현 임" userId="bfd0dec5d22372d9" providerId="LiveId" clId="{F2D5EDD2-1DF9-4194-8BFE-0FE246D3B9F2}" dt="2026-02-13T09:37:11.568" v="405" actId="20577"/>
          <ac:spMkLst>
            <pc:docMk/>
            <pc:sldMk cId="2351571111" sldId="264"/>
            <ac:spMk id="2" creationId="{5216A149-741F-F144-81C1-81F53235EF94}"/>
          </ac:spMkLst>
        </pc:spChg>
      </pc:sldChg>
      <pc:sldChg chg="modSp new mod">
        <pc:chgData name="동현 임" userId="bfd0dec5d22372d9" providerId="LiveId" clId="{F2D5EDD2-1DF9-4194-8BFE-0FE246D3B9F2}" dt="2026-02-13T09:29:11.034" v="118" actId="20577"/>
        <pc:sldMkLst>
          <pc:docMk/>
          <pc:sldMk cId="926187128" sldId="265"/>
        </pc:sldMkLst>
        <pc:spChg chg="mod">
          <ac:chgData name="동현 임" userId="bfd0dec5d22372d9" providerId="LiveId" clId="{F2D5EDD2-1DF9-4194-8BFE-0FE246D3B9F2}" dt="2026-02-13T09:29:11.034" v="118" actId="20577"/>
          <ac:spMkLst>
            <pc:docMk/>
            <pc:sldMk cId="926187128" sldId="265"/>
            <ac:spMk id="2" creationId="{B58B0DE7-5E3A-CA22-999A-B05BC0DBCB30}"/>
          </ac:spMkLst>
        </pc:spChg>
      </pc:sldChg>
      <pc:sldChg chg="modSp new mod">
        <pc:chgData name="동현 임" userId="bfd0dec5d22372d9" providerId="LiveId" clId="{F2D5EDD2-1DF9-4194-8BFE-0FE246D3B9F2}" dt="2026-02-13T09:34:16.163" v="332" actId="20577"/>
        <pc:sldMkLst>
          <pc:docMk/>
          <pc:sldMk cId="2318613653" sldId="266"/>
        </pc:sldMkLst>
        <pc:spChg chg="mod">
          <ac:chgData name="동현 임" userId="bfd0dec5d22372d9" providerId="LiveId" clId="{F2D5EDD2-1DF9-4194-8BFE-0FE246D3B9F2}" dt="2026-02-13T09:32:49.712" v="238" actId="20577"/>
          <ac:spMkLst>
            <pc:docMk/>
            <pc:sldMk cId="2318613653" sldId="266"/>
            <ac:spMk id="2" creationId="{97152DDE-CD3C-A6B4-142D-593D750FA4C9}"/>
          </ac:spMkLst>
        </pc:spChg>
        <pc:spChg chg="mod">
          <ac:chgData name="동현 임" userId="bfd0dec5d22372d9" providerId="LiveId" clId="{F2D5EDD2-1DF9-4194-8BFE-0FE246D3B9F2}" dt="2026-02-13T09:34:16.163" v="332" actId="20577"/>
          <ac:spMkLst>
            <pc:docMk/>
            <pc:sldMk cId="2318613653" sldId="266"/>
            <ac:spMk id="3" creationId="{31D54D74-E755-A389-BADA-086A527239B7}"/>
          </ac:spMkLst>
        </pc:spChg>
      </pc:sldChg>
      <pc:sldChg chg="modSp new mod ord">
        <pc:chgData name="동현 임" userId="bfd0dec5d22372d9" providerId="LiveId" clId="{F2D5EDD2-1DF9-4194-8BFE-0FE246D3B9F2}" dt="2026-02-13T09:40:10.271" v="407"/>
        <pc:sldMkLst>
          <pc:docMk/>
          <pc:sldMk cId="3882659255" sldId="267"/>
        </pc:sldMkLst>
        <pc:spChg chg="mod">
          <ac:chgData name="동현 임" userId="bfd0dec5d22372d9" providerId="LiveId" clId="{F2D5EDD2-1DF9-4194-8BFE-0FE246D3B9F2}" dt="2026-02-13T09:36:11.289" v="396" actId="20577"/>
          <ac:spMkLst>
            <pc:docMk/>
            <pc:sldMk cId="3882659255" sldId="267"/>
            <ac:spMk id="2" creationId="{8AEE3CCD-E787-CFFE-4FFC-48E31384DA4A}"/>
          </ac:spMkLst>
        </pc:spChg>
      </pc:sldChg>
      <pc:sldChg chg="addSp modSp mod">
        <pc:chgData name="동현 임" userId="bfd0dec5d22372d9" providerId="LiveId" clId="{F2D5EDD2-1DF9-4194-8BFE-0FE246D3B9F2}" dt="2026-02-15T09:32:54.516" v="486" actId="1076"/>
        <pc:sldMkLst>
          <pc:docMk/>
          <pc:sldMk cId="3726856799" sldId="268"/>
        </pc:sldMkLst>
        <pc:spChg chg="add mod">
          <ac:chgData name="동현 임" userId="bfd0dec5d22372d9" providerId="LiveId" clId="{F2D5EDD2-1DF9-4194-8BFE-0FE246D3B9F2}" dt="2026-02-15T09:32:54.516" v="486" actId="1076"/>
          <ac:spMkLst>
            <pc:docMk/>
            <pc:sldMk cId="3726856799" sldId="268"/>
            <ac:spMk id="3" creationId="{F3505F80-91E7-13E8-3581-AE910CCB04B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EE5050-B506-4CB7-B3F3-1DE654A50863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6AC8CF-0D47-458D-9159-C7F8CBC444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8573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614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56D5-41B9-37ED-A8BB-1F70356BD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AB8623-A89B-1D82-EE50-55E394B49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4D3F88-094E-F221-FC79-749EB5153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766AB1-21DF-8F3E-7F64-8F7778CD8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8950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C56-679E-944D-44A5-A95BA7DB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699F98-AE37-80A8-937B-3DDD762CB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25789D-CEA7-DE4F-6E46-064C27ECB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dirty="0">
              <a:solidFill>
                <a:srgbClr val="1F1F1F"/>
              </a:solidFill>
              <a:effectLst/>
              <a:latin typeface="Google Sans Tex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946C5-15CC-7D72-9A43-CCE143D2E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92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BD3-B156-05FF-9BD1-D7C9D145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3A2766-E9CC-2C61-1929-748A0B2F7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EC1857-84F6-5F74-3E85-A601DA6D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수업 때 배운 거 복습 및 </a:t>
            </a:r>
            <a:r>
              <a:rPr lang="en-US" altLang="ko-KR" sz="1200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예습 </a:t>
            </a:r>
            <a:r>
              <a:rPr lang="en-US" altLang="ko-KR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&gt;&gt; </a:t>
            </a:r>
            <a:r>
              <a:rPr lang="ko-KR" altLang="en-US" sz="12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대본에 넣어도 좋을 것 같아요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추가 참고내용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기획 배경</a:t>
            </a:r>
            <a:r>
              <a:rPr lang="en-US" altLang="ko-KR" dirty="0"/>
              <a:t>: </a:t>
            </a:r>
            <a:r>
              <a:rPr lang="ko-KR" altLang="en-US" dirty="0"/>
              <a:t>주차 및 예약 과정의 병목 현상을 해소하고</a:t>
            </a:r>
            <a:r>
              <a:rPr lang="en-US" altLang="ko-KR" dirty="0"/>
              <a:t>, </a:t>
            </a:r>
            <a:r>
              <a:rPr lang="ko-KR" altLang="en-US" dirty="0"/>
              <a:t>환자의 민감 정보를 보호하기 위한 </a:t>
            </a:r>
            <a:r>
              <a:rPr lang="ko-KR" altLang="en-US" b="1" dirty="0"/>
              <a:t>계층별 접근 제어 시스템</a:t>
            </a:r>
            <a:r>
              <a:rPr lang="ko-KR" altLang="en-US" dirty="0"/>
              <a:t>과 </a:t>
            </a:r>
            <a:r>
              <a:rPr lang="ko-KR" altLang="en-US" dirty="0" err="1"/>
              <a:t>원무팀</a:t>
            </a:r>
            <a:r>
              <a:rPr lang="ko-KR" altLang="en-US" dirty="0"/>
              <a:t> 중심의 </a:t>
            </a:r>
            <a:r>
              <a:rPr lang="ko-KR" altLang="en-US" b="1" dirty="0"/>
              <a:t>전문적인 고객 응대 체계</a:t>
            </a:r>
            <a:r>
              <a:rPr lang="ko-KR" altLang="en-US" dirty="0"/>
              <a:t>를 구축하여 운영 프로세스의 투명성 및 보안성 강화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기획 목적</a:t>
            </a:r>
            <a:r>
              <a:rPr lang="en-US" altLang="ko-KR" dirty="0"/>
              <a:t>: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환자 중심의 의료 서비스 접근성 향상과 병원 행정 운영의 최적화를 실현하고</a:t>
            </a:r>
            <a:r>
              <a:rPr lang="en-US" altLang="ko-KR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2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고도화된 권한 제어 기반의 보안 설계를 통해 시스템 안전성 및 데이터 신뢰성 확보</a:t>
            </a:r>
            <a:endParaRPr lang="en-US" altLang="ko-KR" sz="12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52D5F6-9BF8-46F1-8C96-888DC932B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800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37225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8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846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7D5E-6F87-C514-32EE-D06BEC474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DADD6B-F743-1A36-8E28-BDF20E7E0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D419C-E480-4FA0-FF81-9D0E9984E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A3D87-1E35-42FD-B2EE-327499FD7D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91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1FED-86FC-33D5-C112-9FC55385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5C3177-B333-1201-0A25-E14EDDAB5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3ADA5B-DF67-0FEE-EDA5-DC798FD22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23F72F-170B-89CA-7B8C-4EF459CB3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0533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70AD1-6D7A-ED0E-A32F-75E98595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FC7C4-A62D-38E6-C300-E037AB82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F3BDE-C4CF-739F-0032-3DD278C0B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3278D5-5CC8-7888-59F3-D0B34C054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10366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49453-8124-DB00-BB2C-A227F9B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02EE24-ADB6-F1E9-232C-5128B287F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4D5EC7-1B32-60DE-E246-F30B83210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00E89C-56EA-0BB5-CC8A-1F4F316382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458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1EE-54F6-1A64-4A5F-A4D94FD05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9E6AA8-A564-9524-8BB2-522E8F708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D81CF5-6FAE-45F7-8F9A-0EDE6A817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대본 참고</a:t>
            </a:r>
            <a:endParaRPr lang="en-US" altLang="ko-KR" dirty="0"/>
          </a:p>
          <a:p>
            <a:r>
              <a:rPr lang="ko-KR" altLang="en-US" dirty="0"/>
              <a:t>다음은 사용자 권한에 따른 화면 구성입니다</a:t>
            </a:r>
            <a:r>
              <a:rPr lang="en-US" altLang="ko-KR" dirty="0"/>
              <a:t>. </a:t>
            </a:r>
            <a:r>
              <a:rPr lang="ko-KR" altLang="en-US" dirty="0"/>
              <a:t>먼저 일반회원은 마이페이지를 통해 차량 등록</a:t>
            </a:r>
            <a:r>
              <a:rPr lang="en-US" altLang="ko-KR" dirty="0"/>
              <a:t>, </a:t>
            </a:r>
            <a:r>
              <a:rPr lang="ko-KR" altLang="en-US" dirty="0"/>
              <a:t>개인 정보 수정</a:t>
            </a:r>
            <a:r>
              <a:rPr lang="en-US" altLang="ko-KR" dirty="0"/>
              <a:t>, </a:t>
            </a:r>
            <a:r>
              <a:rPr lang="ko-KR" altLang="en-US" dirty="0"/>
              <a:t>진료 예약 및 내역 조회가 가능합니다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또한 고객의 소리 메뉴에서는 본인이 작성한 문의만 확인할 수 있도록 제한했습니다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 의료진은 진료 일정과 예약 내역을 확인할 수 있으며</a:t>
            </a:r>
            <a:r>
              <a:rPr lang="en-US" altLang="ko-KR" dirty="0"/>
              <a:t>, </a:t>
            </a:r>
            <a:r>
              <a:rPr lang="ko-KR" altLang="en-US" dirty="0"/>
              <a:t>환자 관리 중심의 화면으로 구성했습니다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특히 고객의 소리 페이지는 의료진에게는 아예 노출되지 않도록 설정했습니다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이는 문의 내용 중 일부가 감정적인 표현을 포함할 수 있기 때문에 의료진이 진료 업무에만 집중할 수 있도록 역할을 명확히 분리한 설계입니다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대신 해당 문의는 원무팀에서 전담 처리하도록 구성하여 조직 구조에 맞는 업무 흐름을 반영했습니다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E6584D-FF6B-6C6B-903C-138FB9826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132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endParaRPr lang="ko-KR" altLang="en-US" sz="1050" b="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6AC8CF-0D47-458D-9159-C7F8CBC444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046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0BAF8-A3E1-97BA-5798-C76F22F3F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99B761-6AB7-42FB-A019-3BC2C3B32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2493A0-5AD3-9E57-05E4-7B13343E4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5B805F-4155-EBB9-201E-70604ACCB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E0CA2-738E-9821-2EC4-66EEC006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668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95429-A8A1-F1BB-F076-03C133EBA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1CA7DE-44C5-7D14-FD3B-B63CBBB68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A63728-87A1-F516-AE74-5F5F95EA6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0F53BF-8659-5210-C460-A65F382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35381-333D-45BD-1766-7BD409F1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69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62DE32-F742-055B-431C-227046F41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E848-F45D-B69B-B516-FD7E7BF5F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3DF0AF-8C04-EE74-B329-7F750AE15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63276-7D0C-3306-2C6A-1F66A6759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32C795-6880-049C-4CE7-3A907CCEE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79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D39DE0-1CB1-A92F-D071-720EA3491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E458A8-862F-ED5D-86E8-7B36C7492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6E22E4-514F-A4E3-5A7C-6B76AE95EC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696917-3A57-E7D5-DAC4-A5E72115A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F605F5-5050-C089-4162-2858A0C7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22F21A-8F93-00B6-FC08-DB56EC91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289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1A9C9-ED98-838C-83A7-762E8DD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ACDD53-FD02-D45E-583A-DD0559E5C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6B27CB-29BE-4040-CE9B-9A6EDF330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CE86C15-7E83-5653-8E2F-301B7BCC19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60488F-8C27-276B-A1CE-250EF6677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91777F-BBC5-6B38-2DAE-63B5F82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DF02F7-165A-2FB7-9B18-E061DF2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8CF0B8-9032-B85C-D6DA-658A0E1B3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968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A6C13-8B1C-45B4-4D0F-86B4C1072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7858E08-D8A7-EFCD-3F30-D9122F83B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48F560-9781-6A15-BB60-D4C4AC404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A81A96-BD17-852F-E2AA-25E3E22D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74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85D7240-849A-4A75-C1AD-EE4A568F2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65F436-3723-3D55-C366-A88D85D8D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BEFF4F-A88D-CF73-CCAD-2862FB7E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5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2B2FE-429D-7948-B97D-62135C56A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4BE13B-449D-9C07-80D6-62CB4B906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5A42B7-8992-A9EB-D73B-C90BC209D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6FDD84-35F9-2B85-552B-E1BD50C5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4372BC-0D18-B7A4-0E19-CA294BFA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AF4CE7-062D-45D5-69A9-2EC6BC68D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82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6E9A5-737F-30C4-BED9-410ACF2ED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8EC146-B2C7-53B6-9D75-3B545C6E75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BA682C2-BC9E-900C-E8F6-5F62BA4E39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C4D52E-0752-1B61-9BF5-01F3B26B6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C45B4A-BFA6-A502-EE5E-99394B91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33A9A5-A0D1-DCB4-271F-B2C0BD239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707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5B5E7-D290-0377-407D-2F6FC742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8D4D51-AF6A-AAAF-C1F5-28447C1E85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253970-5003-A9ED-27A1-5C899AF5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13175-A271-28EC-E349-26FF2D547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E012D3-1314-C133-C3DE-FAF1FE98B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07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B2EAD24-CCCC-694D-5E9A-07BE9A7531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6FEDCE-01BC-404B-C76C-4EB715F4A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3B8C3C-FED7-71D1-395C-F491171A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F3DE5-1C11-2EEC-4723-24BA624F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FA729E-D082-ED0E-79E4-F4B6CC55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15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A08788-2CB6-D05F-1B81-32C7D159E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5210A9-BCB2-03DC-56E9-9879B2FCA2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19A8E-997A-5DE9-FF7C-CBA2A3151C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97760-439D-4DDF-87BC-9953330ED46A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F9924F-87AB-FCF9-4751-68D997243E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9F8B42-41E5-1F05-88CA-97499EB0E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14FE7-9963-40DA-9500-6961BB68E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59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://localhost:5173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9E4CDB-D5B3-E261-3F5C-2BD8029C2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4F97080-2C18-5230-C300-18CAE0DCD0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림 2" descr="파란색 유리 건물">
            <a:extLst>
              <a:ext uri="{FF2B5EF4-FFF2-40B4-BE49-F238E27FC236}">
                <a16:creationId xmlns:a16="http://schemas.microsoft.com/office/drawing/2014/main" id="{AB1664D0-CF86-8CE2-975F-E7E983276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70" b="7870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C226B12-09B9-7460-F9F8-F7FBB57DEA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4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2423554-4C9D-CF05-AA57-A49A63424CF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158" y="1636157"/>
            <a:ext cx="1909012" cy="2152778"/>
          </a:xfrm>
          <a:prstGeom prst="rect">
            <a:avLst/>
          </a:prstGeom>
          <a:effectLst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C304C4EA-C674-08E9-740D-C8C818689570}"/>
              </a:ext>
            </a:extLst>
          </p:cNvPr>
          <p:cNvGrpSpPr/>
          <p:nvPr/>
        </p:nvGrpSpPr>
        <p:grpSpPr>
          <a:xfrm>
            <a:off x="2951485" y="1609731"/>
            <a:ext cx="4665442" cy="2205630"/>
            <a:chOff x="2689086" y="1446884"/>
            <a:chExt cx="4665442" cy="220563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6DE8625-97E6-960E-3D23-73E46BC67ECD}"/>
                </a:ext>
              </a:extLst>
            </p:cNvPr>
            <p:cNvSpPr txBox="1"/>
            <p:nvPr/>
          </p:nvSpPr>
          <p:spPr>
            <a:xfrm>
              <a:off x="2689086" y="1446884"/>
              <a:ext cx="4665442" cy="1939701"/>
            </a:xfrm>
            <a:prstGeom prst="rect">
              <a:avLst/>
            </a:prstGeom>
            <a:noFill/>
          </p:spPr>
          <p:txBody>
            <a:bodyPr wrap="square" lIns="72000" rIns="0" spcCol="216000" rtlCol="0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ko-KR" altLang="en-US" sz="6000" spc="-150" dirty="0" err="1">
                  <a:solidFill>
                    <a:srgbClr val="FBB9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ExtraBold" panose="02000903000000020004" pitchFamily="2" charset="-127"/>
                </a:rPr>
                <a:t>서울에스병원</a:t>
              </a:r>
              <a:endParaRPr lang="en-US" altLang="ko-KR" sz="6000" spc="-150" dirty="0">
                <a:solidFill>
                  <a:srgbClr val="FBB90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ExtraBold" panose="02000903000000020004" pitchFamily="2" charset="-127"/>
              </a:endParaRPr>
            </a:p>
            <a:p>
              <a:pPr>
                <a:lnSpc>
                  <a:spcPct val="90000"/>
                </a:lnSpc>
              </a:pPr>
              <a:r>
                <a:rPr lang="ko-KR" altLang="en-US" sz="6000" spc="-15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ExtraBold" panose="02000903000000020004" pitchFamily="2" charset="-127"/>
                </a:rPr>
                <a:t>종합 시스템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61F5C07-1D5A-9A6B-6CAE-F11909AD0645}"/>
                </a:ext>
              </a:extLst>
            </p:cNvPr>
            <p:cNvSpPr txBox="1"/>
            <p:nvPr/>
          </p:nvSpPr>
          <p:spPr>
            <a:xfrm>
              <a:off x="2689086" y="3267793"/>
              <a:ext cx="4508127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임동현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팀장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)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 err="1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임소리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오종석  </a:t>
              </a:r>
              <a:r>
                <a:rPr lang="en-US" altLang="ko-KR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|  </a:t>
              </a:r>
              <a:r>
                <a:rPr lang="ko-KR" altLang="en-US" sz="1850" dirty="0">
                  <a:solidFill>
                    <a:schemeClr val="bg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" panose="02000503000000020004" pitchFamily="2" charset="-127"/>
                </a:rPr>
                <a:t>하재영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3714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207A5-0A5C-0584-FE01-FDB8DDC1D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AE91FAA6-F822-78F1-F865-D9BC0D8942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9AF6FEEC-4815-F34D-81D5-1ACC8024DA8D}"/>
              </a:ext>
            </a:extLst>
          </p:cNvPr>
          <p:cNvGrpSpPr/>
          <p:nvPr/>
        </p:nvGrpSpPr>
        <p:grpSpPr>
          <a:xfrm>
            <a:off x="4771628" y="2235334"/>
            <a:ext cx="4711308" cy="936709"/>
            <a:chOff x="4847828" y="2280140"/>
            <a:chExt cx="4711308" cy="936709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C074716-BBDE-3E73-683C-0C76E3818B35}"/>
                </a:ext>
              </a:extLst>
            </p:cNvPr>
            <p:cNvGrpSpPr/>
            <p:nvPr/>
          </p:nvGrpSpPr>
          <p:grpSpPr>
            <a:xfrm>
              <a:off x="6111493" y="2344810"/>
              <a:ext cx="3447643" cy="807369"/>
              <a:chOff x="6096000" y="1663369"/>
              <a:chExt cx="3447643" cy="807369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8305042-497C-8E69-709E-D5D7A0903766}"/>
                  </a:ext>
                </a:extLst>
              </p:cNvPr>
              <p:cNvSpPr txBox="1"/>
              <p:nvPr/>
            </p:nvSpPr>
            <p:spPr>
              <a:xfrm>
                <a:off x="6096000" y="1663369"/>
                <a:ext cx="3094115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기술 및 데이터 설계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BA68BCC-DE1E-245C-195B-FF984EA07992}"/>
                  </a:ext>
                </a:extLst>
              </p:cNvPr>
              <p:cNvSpPr txBox="1"/>
              <p:nvPr/>
            </p:nvSpPr>
            <p:spPr>
              <a:xfrm>
                <a:off x="6096000" y="2039851"/>
                <a:ext cx="3447643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 err="1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개발스택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데이터 구조 설계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(ERD)</a:t>
                </a:r>
              </a:p>
            </p:txBody>
          </p:sp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62049EF-B59C-96C3-16DC-56EC30BDD587}"/>
                </a:ext>
              </a:extLst>
            </p:cNvPr>
            <p:cNvGrpSpPr/>
            <p:nvPr/>
          </p:nvGrpSpPr>
          <p:grpSpPr>
            <a:xfrm>
              <a:off x="4847828" y="2280140"/>
              <a:ext cx="936709" cy="936709"/>
              <a:chOff x="4887494" y="2084364"/>
              <a:chExt cx="936709" cy="936709"/>
            </a:xfrm>
          </p:grpSpPr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06640220-505C-366E-1076-E98FDEC1C9E6}"/>
                  </a:ext>
                </a:extLst>
              </p:cNvPr>
              <p:cNvSpPr/>
              <p:nvPr/>
            </p:nvSpPr>
            <p:spPr>
              <a:xfrm>
                <a:off x="4887494" y="2084364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4" name="그래픽 73" descr="클라우드 컴퓨팅 단색으로 채워진">
                <a:extLst>
                  <a:ext uri="{FF2B5EF4-FFF2-40B4-BE49-F238E27FC236}">
                    <a16:creationId xmlns:a16="http://schemas.microsoft.com/office/drawing/2014/main" id="{33CBFA86-4E59-BD02-2262-32CAE85D48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035162" y="2232032"/>
                <a:ext cx="641373" cy="641373"/>
              </a:xfrm>
              <a:prstGeom prst="rect">
                <a:avLst/>
              </a:prstGeom>
            </p:spPr>
          </p:pic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58AE247-D77A-BC45-FCA9-62EB41AB1D09}"/>
              </a:ext>
            </a:extLst>
          </p:cNvPr>
          <p:cNvGrpSpPr/>
          <p:nvPr/>
        </p:nvGrpSpPr>
        <p:grpSpPr>
          <a:xfrm>
            <a:off x="4771628" y="3751154"/>
            <a:ext cx="6783733" cy="936709"/>
            <a:chOff x="4847828" y="3840766"/>
            <a:chExt cx="6783733" cy="93670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B2C8FBD-9D1F-02BD-F8A4-A345FDCEFDBF}"/>
                </a:ext>
              </a:extLst>
            </p:cNvPr>
            <p:cNvGrpSpPr/>
            <p:nvPr/>
          </p:nvGrpSpPr>
          <p:grpSpPr>
            <a:xfrm>
              <a:off x="6111493" y="3913376"/>
              <a:ext cx="5520068" cy="791489"/>
              <a:chOff x="6096000" y="2936671"/>
              <a:chExt cx="5520068" cy="791489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50C0F8B-0761-4801-1D56-3FB709D54B59}"/>
                  </a:ext>
                </a:extLst>
              </p:cNvPr>
              <p:cNvSpPr txBox="1"/>
              <p:nvPr/>
            </p:nvSpPr>
            <p:spPr>
              <a:xfrm>
                <a:off x="6096000" y="2936671"/>
                <a:ext cx="3520431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핵심 기술 로직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03A70F2-CC5E-ACD3-9D48-BE239F35BDBB}"/>
                  </a:ext>
                </a:extLst>
              </p:cNvPr>
              <p:cNvSpPr txBox="1"/>
              <p:nvPr/>
            </p:nvSpPr>
            <p:spPr>
              <a:xfrm>
                <a:off x="6096000" y="3297273"/>
                <a:ext cx="5520068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사용자별 권한 매트릭스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차량 번호판 인식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OCR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프로세스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7923E5BA-120D-3DF4-80C3-F8B4F30A934D}"/>
                </a:ext>
              </a:extLst>
            </p:cNvPr>
            <p:cNvGrpSpPr/>
            <p:nvPr/>
          </p:nvGrpSpPr>
          <p:grpSpPr>
            <a:xfrm>
              <a:off x="4847828" y="3840766"/>
              <a:ext cx="936709" cy="936709"/>
              <a:chOff x="4808161" y="3557529"/>
              <a:chExt cx="936709" cy="936709"/>
            </a:xfrm>
          </p:grpSpPr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240DA147-2B6C-05B2-1A38-89E104107BD4}"/>
                  </a:ext>
                </a:extLst>
              </p:cNvPr>
              <p:cNvSpPr/>
              <p:nvPr/>
            </p:nvSpPr>
            <p:spPr>
              <a:xfrm>
                <a:off x="4808161" y="3557529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6" name="그래픽 75" descr="팔레트 단색으로 채워진">
                <a:extLst>
                  <a:ext uri="{FF2B5EF4-FFF2-40B4-BE49-F238E27FC236}">
                    <a16:creationId xmlns:a16="http://schemas.microsoft.com/office/drawing/2014/main" id="{4185D4D3-9AD9-284C-DC14-7C1F3D8206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967554" y="3716922"/>
                <a:ext cx="617923" cy="617923"/>
              </a:xfrm>
              <a:prstGeom prst="rect">
                <a:avLst/>
              </a:prstGeom>
            </p:spPr>
          </p:pic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60C48B8-4F7F-B047-9FC1-3142A7155EEC}"/>
              </a:ext>
            </a:extLst>
          </p:cNvPr>
          <p:cNvGrpSpPr/>
          <p:nvPr/>
        </p:nvGrpSpPr>
        <p:grpSpPr>
          <a:xfrm>
            <a:off x="4771628" y="719514"/>
            <a:ext cx="6578749" cy="936709"/>
            <a:chOff x="4847828" y="719514"/>
            <a:chExt cx="6578749" cy="936709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FEC5538-30CF-B97E-01DC-F8B9C4D6EC84}"/>
                </a:ext>
              </a:extLst>
            </p:cNvPr>
            <p:cNvGrpSpPr/>
            <p:nvPr/>
          </p:nvGrpSpPr>
          <p:grpSpPr>
            <a:xfrm>
              <a:off x="6111493" y="788031"/>
              <a:ext cx="5315084" cy="799674"/>
              <a:chOff x="6096000" y="725741"/>
              <a:chExt cx="5315084" cy="799674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44BEE-93DA-D7AD-2ED5-91D66CC9D662}"/>
                  </a:ext>
                </a:extLst>
              </p:cNvPr>
              <p:cNvSpPr txBox="1"/>
              <p:nvPr/>
            </p:nvSpPr>
            <p:spPr>
              <a:xfrm>
                <a:off x="6096000" y="725741"/>
                <a:ext cx="2238687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프로젝트 기획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BB2D9-9916-0A7B-9FED-833F1AAFCBCD}"/>
                  </a:ext>
                </a:extLst>
              </p:cNvPr>
              <p:cNvSpPr txBox="1"/>
              <p:nvPr/>
            </p:nvSpPr>
            <p:spPr>
              <a:xfrm>
                <a:off x="6096000" y="1094528"/>
                <a:ext cx="5315084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팀원 역할 정의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프로젝트 개요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  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프로젝트 주요 기능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D9C1B9F-F163-D13E-E2D6-E2DF1ADBDF37}"/>
                </a:ext>
              </a:extLst>
            </p:cNvPr>
            <p:cNvGrpSpPr/>
            <p:nvPr/>
          </p:nvGrpSpPr>
          <p:grpSpPr>
            <a:xfrm>
              <a:off x="4847828" y="719514"/>
              <a:ext cx="936709" cy="936709"/>
              <a:chOff x="4808161" y="719514"/>
              <a:chExt cx="936709" cy="936709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B59629EC-2484-C89D-BB99-449BC39E7DED}"/>
                  </a:ext>
                </a:extLst>
              </p:cNvPr>
              <p:cNvSpPr/>
              <p:nvPr/>
            </p:nvSpPr>
            <p:spPr>
              <a:xfrm>
                <a:off x="4808161" y="719514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8" name="그래픽 77" descr="문서 단색으로 채워진">
                <a:extLst>
                  <a:ext uri="{FF2B5EF4-FFF2-40B4-BE49-F238E27FC236}">
                    <a16:creationId xmlns:a16="http://schemas.microsoft.com/office/drawing/2014/main" id="{D515F44A-AC6C-E677-D3C4-CAD7B61FBA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4988669" y="900022"/>
                <a:ext cx="575693" cy="575693"/>
              </a:xfrm>
              <a:prstGeom prst="rect">
                <a:avLst/>
              </a:prstGeom>
            </p:spPr>
          </p:pic>
        </p:grp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5DE5095-A730-69D2-7743-E38063AC8019}"/>
              </a:ext>
            </a:extLst>
          </p:cNvPr>
          <p:cNvGrpSpPr/>
          <p:nvPr/>
        </p:nvGrpSpPr>
        <p:grpSpPr>
          <a:xfrm>
            <a:off x="4771628" y="5266974"/>
            <a:ext cx="5896372" cy="936709"/>
            <a:chOff x="4847828" y="5401391"/>
            <a:chExt cx="5896372" cy="936709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CC0C41F-4D67-9288-6613-C7BF2685BAD4}"/>
                </a:ext>
              </a:extLst>
            </p:cNvPr>
            <p:cNvGrpSpPr/>
            <p:nvPr/>
          </p:nvGrpSpPr>
          <p:grpSpPr>
            <a:xfrm>
              <a:off x="6111493" y="5475726"/>
              <a:ext cx="4632707" cy="788038"/>
              <a:chOff x="6492493" y="4809592"/>
              <a:chExt cx="4632707" cy="788038"/>
            </a:xfrm>
          </p:grpSpPr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25EF9FE-08CD-5084-853F-9E8639FB9535}"/>
                  </a:ext>
                </a:extLst>
              </p:cNvPr>
              <p:cNvSpPr txBox="1"/>
              <p:nvPr/>
            </p:nvSpPr>
            <p:spPr>
              <a:xfrm>
                <a:off x="6492493" y="4809592"/>
                <a:ext cx="3941284" cy="461665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서비스 시연 </a:t>
                </a:r>
                <a:r>
                  <a:rPr lang="en-US" altLang="ko-KR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&amp; </a:t>
                </a:r>
                <a:r>
                  <a:rPr lang="ko-KR" altLang="en-US" sz="2400" dirty="0">
                    <a:solidFill>
                      <a:srgbClr val="222222"/>
                    </a:solidFill>
                    <a:latin typeface="G마켓 산스 TTF Bold" panose="02000000000000000000" pitchFamily="2" charset="-127"/>
                    <a:ea typeface="G마켓 산스 TTF Bold" panose="02000000000000000000" pitchFamily="2" charset="-127"/>
                    <a:cs typeface="Pretendard Medium" panose="02000603000000020004" pitchFamily="2" charset="-127"/>
                  </a:rPr>
                  <a:t>향후 계획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96EBBAF1-0814-2BA6-2E17-8D4E798B21C9}"/>
                  </a:ext>
                </a:extLst>
              </p:cNvPr>
              <p:cNvSpPr txBox="1"/>
              <p:nvPr/>
            </p:nvSpPr>
            <p:spPr>
              <a:xfrm>
                <a:off x="6492493" y="5166743"/>
                <a:ext cx="4632707" cy="430887"/>
              </a:xfrm>
              <a:prstGeom prst="rect">
                <a:avLst/>
              </a:prstGeom>
              <a:noFill/>
            </p:spPr>
            <p:txBody>
              <a:bodyPr wrap="square" lIns="72000" rIns="0" spcCol="21600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시스템 통합 시연   </a:t>
                </a:r>
                <a:r>
                  <a:rPr lang="en-US" altLang="ko-KR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|   </a:t>
                </a:r>
                <a:r>
                  <a:rPr lang="ko-KR" altLang="en-US" sz="1600" dirty="0">
                    <a:solidFill>
                      <a:srgbClr val="444444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  <a:cs typeface="Pretendard Light" panose="02000403000000020004" pitchFamily="2" charset="-127"/>
                  </a:rPr>
                  <a:t>서비스 확장성 및 고도화 계획</a:t>
                </a:r>
                <a:endParaRPr lang="en-US" altLang="ko-KR" sz="1600" dirty="0">
                  <a:solidFill>
                    <a:srgbClr val="444444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Pretendard Light" panose="02000403000000020004" pitchFamily="2" charset="-127"/>
                </a:endParaRPr>
              </a:p>
            </p:txBody>
          </p:sp>
        </p:grp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D3344407-59D5-5DB5-2F88-C7948589ECF0}"/>
                </a:ext>
              </a:extLst>
            </p:cNvPr>
            <p:cNvGrpSpPr/>
            <p:nvPr/>
          </p:nvGrpSpPr>
          <p:grpSpPr>
            <a:xfrm>
              <a:off x="4847828" y="5401391"/>
              <a:ext cx="936709" cy="936709"/>
              <a:chOff x="4808161" y="5401391"/>
              <a:chExt cx="936709" cy="936709"/>
            </a:xfrm>
          </p:grpSpPr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CBBF19D0-80A8-EEE6-9045-BCFF78953D13}"/>
                  </a:ext>
                </a:extLst>
              </p:cNvPr>
              <p:cNvSpPr/>
              <p:nvPr/>
            </p:nvSpPr>
            <p:spPr>
              <a:xfrm>
                <a:off x="4808161" y="5401391"/>
                <a:ext cx="936709" cy="936709"/>
              </a:xfrm>
              <a:prstGeom prst="ellipse">
                <a:avLst/>
              </a:prstGeom>
              <a:solidFill>
                <a:srgbClr val="005BAA"/>
              </a:soli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80" name="그래픽 79" descr="과녁 단색으로 채워진">
                <a:extLst>
                  <a:ext uri="{FF2B5EF4-FFF2-40B4-BE49-F238E27FC236}">
                    <a16:creationId xmlns:a16="http://schemas.microsoft.com/office/drawing/2014/main" id="{6282B66F-32A7-1E6A-0DE4-2B472C1F5C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4959672" y="5552903"/>
                <a:ext cx="633687" cy="633684"/>
              </a:xfrm>
              <a:prstGeom prst="rect">
                <a:avLst/>
              </a:prstGeom>
            </p:spPr>
          </p:pic>
        </p:grp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F7D9812E-DCDD-7C52-CC2E-C29B5CA7D9CB}"/>
              </a:ext>
            </a:extLst>
          </p:cNvPr>
          <p:cNvSpPr txBox="1"/>
          <p:nvPr/>
        </p:nvSpPr>
        <p:spPr>
          <a:xfrm>
            <a:off x="1352242" y="716672"/>
            <a:ext cx="11236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목차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3DDD9C0-13C0-5692-287C-D6B664D271E4}"/>
              </a:ext>
            </a:extLst>
          </p:cNvPr>
          <p:cNvSpPr txBox="1"/>
          <p:nvPr/>
        </p:nvSpPr>
        <p:spPr>
          <a:xfrm>
            <a:off x="1352242" y="1318328"/>
            <a:ext cx="231551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PROJECT INDEX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A048A958-AC37-B58F-120B-7ED4911575C1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76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EE27D-30E1-3300-5395-E4F8EE21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C7004837-E9B7-C7B2-380F-8004DD75F7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7" name="화살표: 오각형 26">
            <a:extLst>
              <a:ext uri="{FF2B5EF4-FFF2-40B4-BE49-F238E27FC236}">
                <a16:creationId xmlns:a16="http://schemas.microsoft.com/office/drawing/2014/main" id="{B1414956-A752-AD83-72C6-714EDE4398C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BA82E-8E86-CEEA-E729-042A2057E8B4}"/>
              </a:ext>
            </a:extLst>
          </p:cNvPr>
          <p:cNvSpPr txBox="1"/>
          <p:nvPr/>
        </p:nvSpPr>
        <p:spPr>
          <a:xfrm>
            <a:off x="1395362" y="1318328"/>
            <a:ext cx="2578069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팀원 개인 담당 업무 소개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85C993-DFC5-5DD5-7088-CE5991DDCCA7}"/>
              </a:ext>
            </a:extLst>
          </p:cNvPr>
          <p:cNvSpPr txBox="1"/>
          <p:nvPr/>
        </p:nvSpPr>
        <p:spPr>
          <a:xfrm>
            <a:off x="1352243" y="716672"/>
            <a:ext cx="197631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팀원 역할</a:t>
            </a:r>
          </a:p>
        </p:txBody>
      </p:sp>
      <p:sp>
        <p:nvSpPr>
          <p:cNvPr id="90" name="사각형: 둥근 위쪽 모서리 89">
            <a:extLst>
              <a:ext uri="{FF2B5EF4-FFF2-40B4-BE49-F238E27FC236}">
                <a16:creationId xmlns:a16="http://schemas.microsoft.com/office/drawing/2014/main" id="{038CF090-4651-7A79-45E9-C81A20FA6C7D}"/>
              </a:ext>
            </a:extLst>
          </p:cNvPr>
          <p:cNvSpPr/>
          <p:nvPr/>
        </p:nvSpPr>
        <p:spPr>
          <a:xfrm>
            <a:off x="10185496" y="4352665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715E41A-24BD-6A82-40C8-DB84EA5BC4DD}"/>
              </a:ext>
            </a:extLst>
          </p:cNvPr>
          <p:cNvSpPr txBox="1"/>
          <p:nvPr/>
        </p:nvSpPr>
        <p:spPr>
          <a:xfrm>
            <a:off x="10154920" y="4382476"/>
            <a:ext cx="1397554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05C92C59-3FE9-913D-ED53-330F6344A0BC}"/>
              </a:ext>
            </a:extLst>
          </p:cNvPr>
          <p:cNvSpPr/>
          <p:nvPr/>
        </p:nvSpPr>
        <p:spPr>
          <a:xfrm>
            <a:off x="3908828" y="1963085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50289D-EB1C-6FC9-C6D4-9A431D1BFB6E}"/>
              </a:ext>
            </a:extLst>
          </p:cNvPr>
          <p:cNvSpPr txBox="1"/>
          <p:nvPr/>
        </p:nvSpPr>
        <p:spPr>
          <a:xfrm>
            <a:off x="4123477" y="1992896"/>
            <a:ext cx="856750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BF60FC-8D55-73A7-DA9B-08E26518FE26}"/>
              </a:ext>
            </a:extLst>
          </p:cNvPr>
          <p:cNvSpPr/>
          <p:nvPr/>
        </p:nvSpPr>
        <p:spPr>
          <a:xfrm>
            <a:off x="802042" y="2351423"/>
            <a:ext cx="4748464" cy="1731839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C88510B-28A7-4492-20CD-D601C242B54B}"/>
              </a:ext>
            </a:extLst>
          </p:cNvPr>
          <p:cNvSpPr/>
          <p:nvPr/>
        </p:nvSpPr>
        <p:spPr>
          <a:xfrm>
            <a:off x="364240" y="194898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127BE03-0C1A-F208-06CB-517F6B0237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470" y="1961494"/>
            <a:ext cx="1551988" cy="17501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F9847C-79C0-FBE8-9D62-5DC000076F7F}"/>
              </a:ext>
            </a:extLst>
          </p:cNvPr>
          <p:cNvSpPr txBox="1"/>
          <p:nvPr/>
        </p:nvSpPr>
        <p:spPr>
          <a:xfrm>
            <a:off x="2011924" y="2545225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임동현 </a:t>
            </a:r>
            <a:r>
              <a:rPr lang="en-US" altLang="ko-KR" sz="17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| </a:t>
            </a:r>
            <a:r>
              <a:rPr lang="ko-KR" altLang="en-US" sz="17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팀장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80BEFF-52FD-2984-D1C4-0D595C62DAE3}"/>
              </a:ext>
            </a:extLst>
          </p:cNvPr>
          <p:cNvSpPr txBox="1"/>
          <p:nvPr/>
        </p:nvSpPr>
        <p:spPr>
          <a:xfrm>
            <a:off x="2011924" y="2912268"/>
            <a:ext cx="3264422" cy="97719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및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ERD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시스템 통합 백 엔드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연동 번호판 판독 로직 개발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9" name="사각형: 둥근 위쪽 모서리 38">
            <a:extLst>
              <a:ext uri="{FF2B5EF4-FFF2-40B4-BE49-F238E27FC236}">
                <a16:creationId xmlns:a16="http://schemas.microsoft.com/office/drawing/2014/main" id="{8549AB29-8979-025F-0892-A70A88E97D99}"/>
              </a:ext>
            </a:extLst>
          </p:cNvPr>
          <p:cNvSpPr/>
          <p:nvPr/>
        </p:nvSpPr>
        <p:spPr>
          <a:xfrm>
            <a:off x="9307570" y="1963085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255876-DEFE-CCAF-C181-11BAF3CC1A9E}"/>
              </a:ext>
            </a:extLst>
          </p:cNvPr>
          <p:cNvSpPr txBox="1"/>
          <p:nvPr/>
        </p:nvSpPr>
        <p:spPr>
          <a:xfrm>
            <a:off x="9522219" y="1992896"/>
            <a:ext cx="856750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백 엔드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98369B2-768C-E6B8-9A5B-97622C2AF1C6}"/>
              </a:ext>
            </a:extLst>
          </p:cNvPr>
          <p:cNvSpPr/>
          <p:nvPr/>
        </p:nvSpPr>
        <p:spPr>
          <a:xfrm>
            <a:off x="6200784" y="2351423"/>
            <a:ext cx="4748464" cy="1731839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49139C1-0977-397C-CEF6-1ED28D2CF0A0}"/>
              </a:ext>
            </a:extLst>
          </p:cNvPr>
          <p:cNvSpPr/>
          <p:nvPr/>
        </p:nvSpPr>
        <p:spPr>
          <a:xfrm>
            <a:off x="5762982" y="1948989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0F4953-99F3-F8C3-153C-45004A387001}"/>
              </a:ext>
            </a:extLst>
          </p:cNvPr>
          <p:cNvSpPr txBox="1"/>
          <p:nvPr/>
        </p:nvSpPr>
        <p:spPr>
          <a:xfrm>
            <a:off x="7410666" y="2710724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오종석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392F5A-AEDC-3AB1-6C74-05B2BF9F0209}"/>
              </a:ext>
            </a:extLst>
          </p:cNvPr>
          <p:cNvSpPr txBox="1"/>
          <p:nvPr/>
        </p:nvSpPr>
        <p:spPr>
          <a:xfrm>
            <a:off x="7410666" y="3041722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주차장 시스템 백 엔드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진료 연동 정산 로직 구축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5" name="사각형: 둥근 위쪽 모서리 84">
            <a:extLst>
              <a:ext uri="{FF2B5EF4-FFF2-40B4-BE49-F238E27FC236}">
                <a16:creationId xmlns:a16="http://schemas.microsoft.com/office/drawing/2014/main" id="{9BCFB563-09A0-A3FD-3494-73D3432AB93C}"/>
              </a:ext>
            </a:extLst>
          </p:cNvPr>
          <p:cNvSpPr/>
          <p:nvPr/>
        </p:nvSpPr>
        <p:spPr>
          <a:xfrm>
            <a:off x="4787341" y="4353441"/>
            <a:ext cx="1397998" cy="408389"/>
          </a:xfrm>
          <a:prstGeom prst="round2SameRect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8C6B9E-0D72-B1C8-2121-5A23A86ACE78}"/>
              </a:ext>
            </a:extLst>
          </p:cNvPr>
          <p:cNvSpPr txBox="1"/>
          <p:nvPr/>
        </p:nvSpPr>
        <p:spPr>
          <a:xfrm>
            <a:off x="4769465" y="4383252"/>
            <a:ext cx="1397554" cy="377026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ko-KR" altLang="en-US" sz="185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프론트 엔드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0419EC6-2EA1-3EDC-F7E1-8C67ED86B32E}"/>
              </a:ext>
            </a:extLst>
          </p:cNvPr>
          <p:cNvSpPr/>
          <p:nvPr/>
        </p:nvSpPr>
        <p:spPr>
          <a:xfrm>
            <a:off x="1680555" y="4741779"/>
            <a:ext cx="4748464" cy="1731839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6918A542-3DA0-A1B7-6F3A-E2482657832D}"/>
              </a:ext>
            </a:extLst>
          </p:cNvPr>
          <p:cNvSpPr/>
          <p:nvPr/>
        </p:nvSpPr>
        <p:spPr>
          <a:xfrm>
            <a:off x="1242753" y="4339345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A276055-C7F6-7D34-ACDC-15D2CC328706}"/>
              </a:ext>
            </a:extLst>
          </p:cNvPr>
          <p:cNvSpPr txBox="1"/>
          <p:nvPr/>
        </p:nvSpPr>
        <p:spPr>
          <a:xfrm>
            <a:off x="2890437" y="5083058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 err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임소리</a:t>
            </a:r>
            <a:endParaRPr lang="ko-KR" altLang="en-US" sz="17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47B401A-2503-720B-D233-C86DF4328B73}"/>
              </a:ext>
            </a:extLst>
          </p:cNvPr>
          <p:cNvSpPr txBox="1"/>
          <p:nvPr/>
        </p:nvSpPr>
        <p:spPr>
          <a:xfrm>
            <a:off x="2890437" y="5450101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사용자 접점 서비스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(Web/Kiosk)</a:t>
            </a: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통합 프론트 엔드 개발 및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1372886-E468-77DF-C407-28A02ABBACAA}"/>
              </a:ext>
            </a:extLst>
          </p:cNvPr>
          <p:cNvSpPr/>
          <p:nvPr/>
        </p:nvSpPr>
        <p:spPr>
          <a:xfrm>
            <a:off x="7079297" y="4741779"/>
            <a:ext cx="4748464" cy="1731839"/>
          </a:xfrm>
          <a:prstGeom prst="roundRect">
            <a:avLst>
              <a:gd name="adj" fmla="val 0"/>
            </a:avLst>
          </a:prstGeom>
          <a:solidFill>
            <a:srgbClr val="F5F5F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7F7F7"/>
              </a:solidFill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875310A-DE81-F1F4-47AD-828532B2025F}"/>
              </a:ext>
            </a:extLst>
          </p:cNvPr>
          <p:cNvSpPr/>
          <p:nvPr/>
        </p:nvSpPr>
        <p:spPr>
          <a:xfrm>
            <a:off x="6641495" y="4339345"/>
            <a:ext cx="1327355" cy="1327355"/>
          </a:xfrm>
          <a:prstGeom prst="ellipse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5C3238-D6B3-2577-9E48-5C9E810414E0}"/>
              </a:ext>
            </a:extLst>
          </p:cNvPr>
          <p:cNvSpPr txBox="1"/>
          <p:nvPr/>
        </p:nvSpPr>
        <p:spPr>
          <a:xfrm>
            <a:off x="8289179" y="5083058"/>
            <a:ext cx="1508338" cy="353943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700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하재영</a:t>
            </a:r>
            <a:endParaRPr lang="ko-KR" altLang="en-US" sz="17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80DDDE-854C-94D5-EF71-ACB66329A5EB}"/>
              </a:ext>
            </a:extLst>
          </p:cNvPr>
          <p:cNvSpPr txBox="1"/>
          <p:nvPr/>
        </p:nvSpPr>
        <p:spPr>
          <a:xfrm>
            <a:off x="8289179" y="5450101"/>
            <a:ext cx="3264422" cy="682238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실시간 주차 </a:t>
            </a:r>
            <a:r>
              <a:rPr lang="ko-KR" altLang="en-US" sz="1700" dirty="0" err="1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현황판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  <a:p>
            <a:pPr>
              <a:lnSpc>
                <a:spcPts val="2300"/>
              </a:lnSpc>
            </a:pP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차량 위치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•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이용 요금 정보 </a:t>
            </a:r>
            <a:r>
              <a:rPr lang="en-US" altLang="ko-KR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UI </a:t>
            </a:r>
            <a:r>
              <a:rPr lang="ko-KR" altLang="en-US" sz="1700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설계</a:t>
            </a:r>
            <a:endParaRPr lang="en-US" altLang="ko-KR" sz="1700" dirty="0">
              <a:solidFill>
                <a:srgbClr val="333333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7E9E2F4-B185-F8EC-7A7F-F866ED6536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6372" y="1948989"/>
            <a:ext cx="1549488" cy="174734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1BC8546-3A38-841E-7A7B-8A498A4D86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78520" y="4268225"/>
            <a:ext cx="1608449" cy="181383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A9EAB8F-445A-71CE-8704-910E4C584B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05856" y="4310774"/>
            <a:ext cx="1641850" cy="185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25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EBE511-BC92-5332-A863-52FA9EF76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B5788252-724D-8614-485D-9D9C82C75DA7}"/>
              </a:ext>
            </a:extLst>
          </p:cNvPr>
          <p:cNvSpPr/>
          <p:nvPr/>
        </p:nvSpPr>
        <p:spPr>
          <a:xfrm>
            <a:off x="760167" y="2173122"/>
            <a:ext cx="3284728" cy="2246764"/>
          </a:xfrm>
          <a:prstGeom prst="roundRect">
            <a:avLst>
              <a:gd name="adj" fmla="val 6602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C7F6FB36-BB1C-DE41-4A15-BE80EA9A7DE5}"/>
              </a:ext>
            </a:extLst>
          </p:cNvPr>
          <p:cNvSpPr/>
          <p:nvPr/>
        </p:nvSpPr>
        <p:spPr>
          <a:xfrm>
            <a:off x="4453636" y="2168646"/>
            <a:ext cx="3284728" cy="2246764"/>
          </a:xfrm>
          <a:prstGeom prst="roundRect">
            <a:avLst>
              <a:gd name="adj" fmla="val 6602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 hidden="1">
            <a:extLst>
              <a:ext uri="{FF2B5EF4-FFF2-40B4-BE49-F238E27FC236}">
                <a16:creationId xmlns:a16="http://schemas.microsoft.com/office/drawing/2014/main" id="{1B5B2B97-896A-A0A0-3D3F-5CAA8EEE13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A08EC369-C93B-87FA-670F-D31933497D87}"/>
              </a:ext>
            </a:extLst>
          </p:cNvPr>
          <p:cNvSpPr txBox="1"/>
          <p:nvPr/>
        </p:nvSpPr>
        <p:spPr>
          <a:xfrm>
            <a:off x="1395362" y="1050095"/>
            <a:ext cx="34915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프로젝트명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 err="1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서울에스병원</a:t>
            </a:r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 시스템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954E3F-00D0-86D5-AB0A-7DBF0374A6BD}"/>
              </a:ext>
            </a:extLst>
          </p:cNvPr>
          <p:cNvSpPr txBox="1"/>
          <p:nvPr/>
        </p:nvSpPr>
        <p:spPr>
          <a:xfrm>
            <a:off x="1395361" y="1378869"/>
            <a:ext cx="31373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개발 기간</a:t>
            </a:r>
            <a:r>
              <a:rPr lang="en-US" altLang="ko-KR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: 26.01.26 ~ 02.20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3" name="사각형: 둥근 위쪽 모서리 72">
            <a:extLst>
              <a:ext uri="{FF2B5EF4-FFF2-40B4-BE49-F238E27FC236}">
                <a16:creationId xmlns:a16="http://schemas.microsoft.com/office/drawing/2014/main" id="{FA8953CD-5B97-39D5-2779-59EFC188468D}"/>
              </a:ext>
            </a:extLst>
          </p:cNvPr>
          <p:cNvSpPr/>
          <p:nvPr/>
        </p:nvSpPr>
        <p:spPr>
          <a:xfrm flipV="1">
            <a:off x="983396" y="2173121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769C23D-57B0-F2CA-D0BA-DFFCD371092D}"/>
              </a:ext>
            </a:extLst>
          </p:cNvPr>
          <p:cNvSpPr txBox="1"/>
          <p:nvPr/>
        </p:nvSpPr>
        <p:spPr>
          <a:xfrm>
            <a:off x="1013099" y="2188510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601923-B6E6-2CB8-7CA9-8CA677FA5865}"/>
              </a:ext>
            </a:extLst>
          </p:cNvPr>
          <p:cNvSpPr txBox="1"/>
          <p:nvPr/>
        </p:nvSpPr>
        <p:spPr>
          <a:xfrm>
            <a:off x="983396" y="2781085"/>
            <a:ext cx="851599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6C759794-81AA-8844-4505-18CC806E1454}"/>
              </a:ext>
            </a:extLst>
          </p:cNvPr>
          <p:cNvCxnSpPr>
            <a:cxnSpLocks/>
          </p:cNvCxnSpPr>
          <p:nvPr/>
        </p:nvCxnSpPr>
        <p:spPr>
          <a:xfrm>
            <a:off x="1055539" y="3300511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A2C4E1C-5920-38EA-3C94-24D6B20C61BE}"/>
              </a:ext>
            </a:extLst>
          </p:cNvPr>
          <p:cNvSpPr txBox="1"/>
          <p:nvPr/>
        </p:nvSpPr>
        <p:spPr>
          <a:xfrm>
            <a:off x="1013098" y="3419827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en-US" altLang="ko-KR" dirty="0">
                <a:solidFill>
                  <a:srgbClr val="222222"/>
                </a:solidFill>
              </a:rPr>
              <a:t>OCR </a:t>
            </a:r>
            <a:r>
              <a:rPr lang="ko-KR" altLang="en-US" dirty="0">
                <a:solidFill>
                  <a:srgbClr val="222222"/>
                </a:solidFill>
              </a:rPr>
              <a:t>기반 입</a:t>
            </a:r>
            <a:r>
              <a:rPr lang="en-US" altLang="ko-KR" dirty="0">
                <a:solidFill>
                  <a:srgbClr val="222222"/>
                </a:solidFill>
              </a:rPr>
              <a:t>·</a:t>
            </a:r>
            <a:r>
              <a:rPr lang="ko-KR" altLang="en-US" dirty="0" err="1">
                <a:solidFill>
                  <a:srgbClr val="222222"/>
                </a:solidFill>
              </a:rPr>
              <a:t>출차</a:t>
            </a:r>
            <a:r>
              <a:rPr lang="ko-KR" altLang="en-US" dirty="0">
                <a:solidFill>
                  <a:srgbClr val="222222"/>
                </a:solidFill>
              </a:rPr>
              <a:t> 시스템 운영 및 예약</a:t>
            </a:r>
            <a:r>
              <a:rPr lang="en-US" altLang="ko-KR" dirty="0">
                <a:solidFill>
                  <a:srgbClr val="222222"/>
                </a:solidFill>
              </a:rPr>
              <a:t>·</a:t>
            </a:r>
            <a:r>
              <a:rPr lang="ko-KR" altLang="en-US" dirty="0">
                <a:solidFill>
                  <a:srgbClr val="222222"/>
                </a:solidFill>
              </a:rPr>
              <a:t>민원 통합 관리를 지원하는 스마트 병원 솔루션</a:t>
            </a:r>
            <a:endParaRPr lang="en-US" altLang="ko-KR" dirty="0">
              <a:solidFill>
                <a:srgbClr val="222222"/>
              </a:solidFill>
            </a:endParaRPr>
          </a:p>
        </p:txBody>
      </p:sp>
      <p:sp>
        <p:nvSpPr>
          <p:cNvPr id="82" name="사각형: 둥근 위쪽 모서리 81">
            <a:extLst>
              <a:ext uri="{FF2B5EF4-FFF2-40B4-BE49-F238E27FC236}">
                <a16:creationId xmlns:a16="http://schemas.microsoft.com/office/drawing/2014/main" id="{78B5BFBF-7B9E-6E2B-E62A-C211742FDD52}"/>
              </a:ext>
            </a:extLst>
          </p:cNvPr>
          <p:cNvSpPr/>
          <p:nvPr/>
        </p:nvSpPr>
        <p:spPr>
          <a:xfrm flipV="1">
            <a:off x="4676865" y="2168645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91AD789-8C81-90AD-D95B-89C6218B3D12}"/>
              </a:ext>
            </a:extLst>
          </p:cNvPr>
          <p:cNvSpPr txBox="1"/>
          <p:nvPr/>
        </p:nvSpPr>
        <p:spPr>
          <a:xfrm>
            <a:off x="4706568" y="2184034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2BA775-21A0-48B6-F3CF-B8F10C2A9504}"/>
              </a:ext>
            </a:extLst>
          </p:cNvPr>
          <p:cNvSpPr txBox="1"/>
          <p:nvPr/>
        </p:nvSpPr>
        <p:spPr>
          <a:xfrm>
            <a:off x="4676865" y="2776609"/>
            <a:ext cx="1674774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배경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B5FBB7FD-8ED3-C47E-9209-661D8FD82D71}"/>
              </a:ext>
            </a:extLst>
          </p:cNvPr>
          <p:cNvCxnSpPr>
            <a:cxnSpLocks/>
          </p:cNvCxnSpPr>
          <p:nvPr/>
        </p:nvCxnSpPr>
        <p:spPr>
          <a:xfrm>
            <a:off x="4749008" y="3296035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0281AA76-1D92-7C1E-48F2-583F74A34F4B}"/>
              </a:ext>
            </a:extLst>
          </p:cNvPr>
          <p:cNvSpPr txBox="1"/>
          <p:nvPr/>
        </p:nvSpPr>
        <p:spPr>
          <a:xfrm>
            <a:off x="4706567" y="3415351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500" dirty="0">
                <a:solidFill>
                  <a:srgbClr val="22222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웹 기반 병원 통합 시스템 고도화 및 차량 인식 프로세스 선행 연구를 통한 스마트 병원 솔루션 구현</a:t>
            </a:r>
            <a:endParaRPr lang="en-US" altLang="ko-KR" sz="1500" dirty="0">
              <a:solidFill>
                <a:srgbClr val="222222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2BE21495-9982-CBF5-9EAE-CD181B34FEED}"/>
              </a:ext>
            </a:extLst>
          </p:cNvPr>
          <p:cNvSpPr/>
          <p:nvPr/>
        </p:nvSpPr>
        <p:spPr>
          <a:xfrm>
            <a:off x="8147105" y="2164170"/>
            <a:ext cx="3284728" cy="2246764"/>
          </a:xfrm>
          <a:prstGeom prst="roundRect">
            <a:avLst>
              <a:gd name="adj" fmla="val 7915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위쪽 모서리 87">
            <a:extLst>
              <a:ext uri="{FF2B5EF4-FFF2-40B4-BE49-F238E27FC236}">
                <a16:creationId xmlns:a16="http://schemas.microsoft.com/office/drawing/2014/main" id="{E1C7CE5E-7F36-CCD2-AD95-25A61F5EA487}"/>
              </a:ext>
            </a:extLst>
          </p:cNvPr>
          <p:cNvSpPr/>
          <p:nvPr/>
        </p:nvSpPr>
        <p:spPr>
          <a:xfrm flipV="1">
            <a:off x="8370334" y="2164169"/>
            <a:ext cx="1319708" cy="369332"/>
          </a:xfrm>
          <a:prstGeom prst="round2SameRect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9EAA152-ED11-3B31-447A-7E02769998D5}"/>
              </a:ext>
            </a:extLst>
          </p:cNvPr>
          <p:cNvSpPr txBox="1"/>
          <p:nvPr/>
        </p:nvSpPr>
        <p:spPr>
          <a:xfrm>
            <a:off x="8400037" y="2179558"/>
            <a:ext cx="1260302" cy="33855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개요 </a:t>
            </a:r>
            <a:r>
              <a:rPr lang="en-US" altLang="ko-KR" sz="16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58B52E8-B2FF-2931-66A2-D0216777B605}"/>
              </a:ext>
            </a:extLst>
          </p:cNvPr>
          <p:cNvSpPr txBox="1"/>
          <p:nvPr/>
        </p:nvSpPr>
        <p:spPr>
          <a:xfrm>
            <a:off x="8370334" y="2772133"/>
            <a:ext cx="1756892" cy="40011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200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기획 목적</a:t>
            </a:r>
            <a:endParaRPr lang="en-US" altLang="ko-KR" sz="20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5916542-9D40-02D5-A31B-C389B3D7C367}"/>
              </a:ext>
            </a:extLst>
          </p:cNvPr>
          <p:cNvCxnSpPr>
            <a:cxnSpLocks/>
          </p:cNvCxnSpPr>
          <p:nvPr/>
        </p:nvCxnSpPr>
        <p:spPr>
          <a:xfrm>
            <a:off x="8442477" y="3291559"/>
            <a:ext cx="2693985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DCD97B0-D611-2467-F247-91F439117967}"/>
              </a:ext>
            </a:extLst>
          </p:cNvPr>
          <p:cNvSpPr txBox="1"/>
          <p:nvPr/>
        </p:nvSpPr>
        <p:spPr>
          <a:xfrm>
            <a:off x="8400036" y="3410875"/>
            <a:ext cx="2736425" cy="784830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>
            <a:defPPr>
              <a:defRPr lang="ko-KR"/>
            </a:defPPr>
            <a:lvl1pPr>
              <a:defRPr sz="150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defRPr>
            </a:lvl1pPr>
          </a:lstStyle>
          <a:p>
            <a:r>
              <a:rPr lang="ko-KR" altLang="en-US" dirty="0">
                <a:solidFill>
                  <a:srgbClr val="222222"/>
                </a:solidFill>
              </a:rPr>
              <a:t>환자 중심 서비스 접근성</a:t>
            </a:r>
            <a:r>
              <a:rPr lang="en-US" altLang="ko-KR" dirty="0">
                <a:solidFill>
                  <a:srgbClr val="222222"/>
                </a:solidFill>
              </a:rPr>
              <a:t>•</a:t>
            </a:r>
            <a:r>
              <a:rPr lang="ko-KR" altLang="en-US" dirty="0">
                <a:solidFill>
                  <a:srgbClr val="222222"/>
                </a:solidFill>
              </a:rPr>
              <a:t>편의성 강화 및 고도화된 보안 기반 행정 최적화</a:t>
            </a:r>
            <a:endParaRPr lang="en-US" altLang="ko-KR" dirty="0">
              <a:solidFill>
                <a:srgbClr val="222222"/>
              </a:solidFill>
            </a:endParaRPr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305F7545-9638-B05D-8E6F-CF4FA38B5FD5}"/>
              </a:ext>
            </a:extLst>
          </p:cNvPr>
          <p:cNvSpPr/>
          <p:nvPr/>
        </p:nvSpPr>
        <p:spPr>
          <a:xfrm>
            <a:off x="760167" y="5065061"/>
            <a:ext cx="10671666" cy="1352517"/>
          </a:xfrm>
          <a:prstGeom prst="roundRect">
            <a:avLst>
              <a:gd name="adj" fmla="val 7997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5BAA"/>
              </a:solidFill>
            </a:endParaRPr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0683F2D2-1885-6E49-4412-C3D0E1B5CCBF}"/>
              </a:ext>
            </a:extLst>
          </p:cNvPr>
          <p:cNvGrpSpPr/>
          <p:nvPr/>
        </p:nvGrpSpPr>
        <p:grpSpPr>
          <a:xfrm>
            <a:off x="2213406" y="4298572"/>
            <a:ext cx="234000" cy="234000"/>
            <a:chOff x="2213406" y="4380547"/>
            <a:chExt cx="234000" cy="234000"/>
          </a:xfrm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9D818853-7FAC-6D18-E128-A5C75B7FA1BA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7E76060-29B0-2E01-893F-52DC786A27A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FE1B00D0-B56A-19D3-F11F-26DA9FE4CAB1}"/>
              </a:ext>
            </a:extLst>
          </p:cNvPr>
          <p:cNvGrpSpPr/>
          <p:nvPr/>
        </p:nvGrpSpPr>
        <p:grpSpPr>
          <a:xfrm>
            <a:off x="5979000" y="4298572"/>
            <a:ext cx="234000" cy="234000"/>
            <a:chOff x="2213406" y="4380547"/>
            <a:chExt cx="234000" cy="234000"/>
          </a:xfrm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9534CD63-2B46-AE37-4AA3-D6B2E4E3911C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07FB2564-A757-EBE3-A9D3-98AD0B122E19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FD50ED4D-EBFA-D32C-3612-510369278C59}"/>
              </a:ext>
            </a:extLst>
          </p:cNvPr>
          <p:cNvGrpSpPr/>
          <p:nvPr/>
        </p:nvGrpSpPr>
        <p:grpSpPr>
          <a:xfrm>
            <a:off x="9738346" y="4298572"/>
            <a:ext cx="234000" cy="234000"/>
            <a:chOff x="2213406" y="4380547"/>
            <a:chExt cx="234000" cy="234000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F27D7BAA-EE34-5094-9351-836C8949D805}"/>
                </a:ext>
              </a:extLst>
            </p:cNvPr>
            <p:cNvSpPr/>
            <p:nvPr/>
          </p:nvSpPr>
          <p:spPr>
            <a:xfrm>
              <a:off x="2213406" y="4380547"/>
              <a:ext cx="234000" cy="234000"/>
            </a:xfrm>
            <a:prstGeom prst="ellipse">
              <a:avLst/>
            </a:prstGeom>
            <a:solidFill>
              <a:srgbClr val="005BAA">
                <a:alpha val="4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5B704159-707D-D6AC-332E-30B851B44E5E}"/>
                </a:ext>
              </a:extLst>
            </p:cNvPr>
            <p:cNvSpPr/>
            <p:nvPr/>
          </p:nvSpPr>
          <p:spPr>
            <a:xfrm>
              <a:off x="2294406" y="4461547"/>
              <a:ext cx="72000" cy="72000"/>
            </a:xfrm>
            <a:prstGeom prst="ellipse">
              <a:avLst/>
            </a:prstGeom>
            <a:solidFill>
              <a:srgbClr val="005BA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왼쪽 대괄호 102">
            <a:extLst>
              <a:ext uri="{FF2B5EF4-FFF2-40B4-BE49-F238E27FC236}">
                <a16:creationId xmlns:a16="http://schemas.microsoft.com/office/drawing/2014/main" id="{B537A6B7-6EE0-1222-FEA4-B65B63BF5890}"/>
              </a:ext>
            </a:extLst>
          </p:cNvPr>
          <p:cNvSpPr/>
          <p:nvPr/>
        </p:nvSpPr>
        <p:spPr>
          <a:xfrm rot="16200000">
            <a:off x="5995095" y="747055"/>
            <a:ext cx="194623" cy="7524000"/>
          </a:xfrm>
          <a:prstGeom prst="leftBracket">
            <a:avLst>
              <a:gd name="adj" fmla="val 210622"/>
            </a:avLst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C0C01708-D388-6763-95BF-642DD9B4654C}"/>
              </a:ext>
            </a:extLst>
          </p:cNvPr>
          <p:cNvCxnSpPr>
            <a:cxnSpLocks/>
            <a:stCxn id="99" idx="0"/>
          </p:cNvCxnSpPr>
          <p:nvPr/>
        </p:nvCxnSpPr>
        <p:spPr>
          <a:xfrm>
            <a:off x="6096000" y="4379572"/>
            <a:ext cx="0" cy="1072692"/>
          </a:xfrm>
          <a:prstGeom prst="line">
            <a:avLst/>
          </a:prstGeom>
          <a:ln>
            <a:solidFill>
              <a:srgbClr val="005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B691EB9-78F4-F907-F693-814710BBAB2C}"/>
              </a:ext>
            </a:extLst>
          </p:cNvPr>
          <p:cNvSpPr txBox="1"/>
          <p:nvPr/>
        </p:nvSpPr>
        <p:spPr>
          <a:xfrm>
            <a:off x="803548" y="5546714"/>
            <a:ext cx="1058494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“ </a:t>
            </a:r>
            <a:r>
              <a:rPr lang="ko-KR" altLang="en-US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번호판 인식 기반 주차 최적화 및 체계적인 보안 권한이 조화된 통합 스마트 병원 시스템</a:t>
            </a:r>
            <a:r>
              <a:rPr lang="en-US" altLang="ko-KR" sz="21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”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A4E4C2F3-8184-3ED1-066F-9A87270DE2AE}"/>
              </a:ext>
            </a:extLst>
          </p:cNvPr>
          <p:cNvSpPr txBox="1"/>
          <p:nvPr/>
        </p:nvSpPr>
        <p:spPr>
          <a:xfrm>
            <a:off x="1352242" y="440494"/>
            <a:ext cx="2853983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개요 </a:t>
            </a:r>
          </a:p>
        </p:txBody>
      </p:sp>
      <p:sp>
        <p:nvSpPr>
          <p:cNvPr id="107" name="화살표: 오각형 106">
            <a:extLst>
              <a:ext uri="{FF2B5EF4-FFF2-40B4-BE49-F238E27FC236}">
                <a16:creationId xmlns:a16="http://schemas.microsoft.com/office/drawing/2014/main" id="{2DB324CE-53F8-E38D-546F-98D53B53B67D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14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화살표: 오각형 56">
            <a:extLst>
              <a:ext uri="{FF2B5EF4-FFF2-40B4-BE49-F238E27FC236}">
                <a16:creationId xmlns:a16="http://schemas.microsoft.com/office/drawing/2014/main" id="{18ED55FE-27F4-5718-7A58-7DB0FA576B45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F73035-99FB-8F6E-C8A0-F7FB72B67B1F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주요 기능 및 운영 로직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8EF729-3948-983C-AF70-BFC02C59D88F}"/>
              </a:ext>
            </a:extLst>
          </p:cNvPr>
          <p:cNvSpPr txBox="1"/>
          <p:nvPr/>
        </p:nvSpPr>
        <p:spPr>
          <a:xfrm>
            <a:off x="1352242" y="716672"/>
            <a:ext cx="396700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프로젝트 주요 기능</a:t>
            </a:r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8E1A03D-8040-3CA2-271F-89E9843E2F00}"/>
              </a:ext>
            </a:extLst>
          </p:cNvPr>
          <p:cNvGrpSpPr/>
          <p:nvPr/>
        </p:nvGrpSpPr>
        <p:grpSpPr>
          <a:xfrm>
            <a:off x="398004" y="2587726"/>
            <a:ext cx="2647029" cy="3180836"/>
            <a:chOff x="511527" y="2757736"/>
            <a:chExt cx="2440355" cy="29324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CAE7245-A799-57C9-DB7F-3ADCBA1D4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13" b="6822"/>
            <a:stretch/>
          </p:blipFill>
          <p:spPr>
            <a:xfrm>
              <a:off x="511527" y="2757736"/>
              <a:ext cx="2299530" cy="170816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8A922D-FBA4-9A62-2114-0D8CF0B84F2B}"/>
                </a:ext>
              </a:extLst>
            </p:cNvPr>
            <p:cNvSpPr txBox="1"/>
            <p:nvPr/>
          </p:nvSpPr>
          <p:spPr>
            <a:xfrm>
              <a:off x="527084" y="5009228"/>
              <a:ext cx="2424798" cy="680991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21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OCR </a:t>
              </a:r>
              <a:r>
                <a:rPr lang="ko-KR" altLang="en-US" sz="2100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엔진 기반</a:t>
              </a:r>
              <a:endParaRPr lang="en-US" altLang="ko-KR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2100" dirty="0">
                  <a:solidFill>
                    <a:srgbClr val="333333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차량 번호 자동 판독</a:t>
              </a:r>
              <a:endParaRPr lang="en-US" altLang="ko-KR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0BAD13B-0F1A-0798-A7FB-AC6AEB802A46}"/>
                </a:ext>
              </a:extLst>
            </p:cNvPr>
            <p:cNvSpPr txBox="1"/>
            <p:nvPr/>
          </p:nvSpPr>
          <p:spPr>
            <a:xfrm>
              <a:off x="667909" y="4535408"/>
              <a:ext cx="214314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200" dirty="0">
                  <a:solidFill>
                    <a:srgbClr val="555555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LICENSE PLATE OCR</a:t>
              </a:r>
              <a:endPara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endParaRPr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496CC033-36C1-9AD3-0860-7AB741A323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t="12390" r="2338" b="21001"/>
          <a:stretch/>
        </p:blipFill>
        <p:spPr>
          <a:xfrm>
            <a:off x="3664536" y="2587726"/>
            <a:ext cx="1820796" cy="1497653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CBD4FB0F-5AC0-81CE-CEA8-7A50FD6D52B7}"/>
              </a:ext>
            </a:extLst>
          </p:cNvPr>
          <p:cNvSpPr txBox="1"/>
          <p:nvPr/>
        </p:nvSpPr>
        <p:spPr>
          <a:xfrm>
            <a:off x="3156322" y="5029897"/>
            <a:ext cx="283722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진료 데이터 연동 기반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예약 시스템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1E0E71C-9345-7D3E-071C-7437E9828D2D}"/>
              </a:ext>
            </a:extLst>
          </p:cNvPr>
          <p:cNvSpPr txBox="1"/>
          <p:nvPr/>
        </p:nvSpPr>
        <p:spPr>
          <a:xfrm>
            <a:off x="3264965" y="4515949"/>
            <a:ext cx="2619939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AUTO PARKING MAPPING</a:t>
            </a: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D6BEBA66-3B9E-70AF-F40E-DB148E5EF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47" b="18447"/>
          <a:stretch/>
        </p:blipFill>
        <p:spPr>
          <a:xfrm>
            <a:off x="6230660" y="2340780"/>
            <a:ext cx="2406606" cy="178770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1223940-A381-630F-C626-E7B8A6A9FFD4}"/>
              </a:ext>
            </a:extLst>
          </p:cNvPr>
          <p:cNvSpPr txBox="1"/>
          <p:nvPr/>
        </p:nvSpPr>
        <p:spPr>
          <a:xfrm>
            <a:off x="6089985" y="5029899"/>
            <a:ext cx="2687955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동선 최적화형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주차 구역 </a:t>
            </a:r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자동 매핑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D1ED6E-F839-9A1A-7B4F-81E0654461CC}"/>
              </a:ext>
            </a:extLst>
          </p:cNvPr>
          <p:cNvSpPr txBox="1"/>
          <p:nvPr/>
        </p:nvSpPr>
        <p:spPr>
          <a:xfrm>
            <a:off x="6190241" y="4515951"/>
            <a:ext cx="2487445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RESERVATION SYSTEM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644D796-2033-A811-04C6-83CDC418D8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1" b="4541"/>
          <a:stretch/>
        </p:blipFill>
        <p:spPr>
          <a:xfrm>
            <a:off x="9174058" y="1656884"/>
            <a:ext cx="2619939" cy="280387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E1347E7B-A2AF-A300-6321-231981D6E6DF}"/>
              </a:ext>
            </a:extLst>
          </p:cNvPr>
          <p:cNvSpPr txBox="1"/>
          <p:nvPr/>
        </p:nvSpPr>
        <p:spPr>
          <a:xfrm>
            <a:off x="8886035" y="5029897"/>
            <a:ext cx="2891087" cy="73866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pPr algn="ctr"/>
            <a:r>
              <a:rPr lang="ko-KR" altLang="en-US" sz="2100" dirty="0">
                <a:solidFill>
                  <a:srgbClr val="33333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계층별 접근 제어 기반</a:t>
            </a:r>
            <a:endParaRPr lang="en-US" altLang="ko-KR" sz="2100" dirty="0">
              <a:solidFill>
                <a:srgbClr val="333333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  <a:p>
            <a:pPr algn="ctr"/>
            <a:r>
              <a:rPr lang="en-US" altLang="ko-KR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VOC </a:t>
            </a:r>
            <a:r>
              <a:rPr lang="ko-KR" altLang="en-US" sz="2100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통합 관리</a:t>
            </a:r>
            <a:endParaRPr lang="en-US" altLang="ko-KR" sz="2100" dirty="0">
              <a:solidFill>
                <a:srgbClr val="005BAA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99B6BB-32C7-3F82-8D12-60E9283C49B8}"/>
              </a:ext>
            </a:extLst>
          </p:cNvPr>
          <p:cNvSpPr txBox="1"/>
          <p:nvPr/>
        </p:nvSpPr>
        <p:spPr>
          <a:xfrm>
            <a:off x="8886036" y="4515949"/>
            <a:ext cx="2891086" cy="300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555555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ROLE-BASED MANAGEMENT</a:t>
            </a:r>
            <a:endParaRPr lang="en-US" altLang="ko-KR" sz="1200" dirty="0">
              <a:solidFill>
                <a:srgbClr val="555555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613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FA5-E28D-1725-DAF3-1578B16C7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811D1514-6BFD-A1A7-E98D-71414092A5A2}"/>
              </a:ext>
            </a:extLst>
          </p:cNvPr>
          <p:cNvSpPr txBox="1"/>
          <p:nvPr/>
        </p:nvSpPr>
        <p:spPr>
          <a:xfrm>
            <a:off x="3635235" y="2261150"/>
            <a:ext cx="951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REST</a:t>
            </a:r>
          </a:p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API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3E9544-A518-3A54-AD02-C059D6223C72}"/>
              </a:ext>
            </a:extLst>
          </p:cNvPr>
          <p:cNvSpPr txBox="1"/>
          <p:nvPr/>
        </p:nvSpPr>
        <p:spPr>
          <a:xfrm>
            <a:off x="7607082" y="2525199"/>
            <a:ext cx="961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JDBC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25BC43-C30C-A633-8155-A696939D7587}"/>
              </a:ext>
            </a:extLst>
          </p:cNvPr>
          <p:cNvSpPr txBox="1"/>
          <p:nvPr/>
        </p:nvSpPr>
        <p:spPr>
          <a:xfrm>
            <a:off x="6217383" y="4080582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505F80-91E7-13E8-3581-AE910CCB04B1}"/>
              </a:ext>
            </a:extLst>
          </p:cNvPr>
          <p:cNvSpPr txBox="1"/>
          <p:nvPr/>
        </p:nvSpPr>
        <p:spPr>
          <a:xfrm>
            <a:off x="7704680" y="5142250"/>
            <a:ext cx="771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JNA</a:t>
            </a:r>
            <a:endParaRPr lang="ko-KR" altLang="en-US" dirty="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F743E-53DF-68FB-AA62-63B3F848C72F}"/>
              </a:ext>
            </a:extLst>
          </p:cNvPr>
          <p:cNvSpPr txBox="1"/>
          <p:nvPr/>
        </p:nvSpPr>
        <p:spPr>
          <a:xfrm>
            <a:off x="1395362" y="1318328"/>
            <a:ext cx="423327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아키텍처 및 모듈별 연동 기술 사양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26339-D5C3-B58D-595D-C939273E98C4}"/>
              </a:ext>
            </a:extLst>
          </p:cNvPr>
          <p:cNvSpPr txBox="1"/>
          <p:nvPr/>
        </p:nvSpPr>
        <p:spPr>
          <a:xfrm>
            <a:off x="1352242" y="716672"/>
            <a:ext cx="522723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개발 스택</a:t>
            </a:r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(Tech Stack)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06608B18-EE96-2F24-286D-B9912E8F6197}"/>
              </a:ext>
            </a:extLst>
          </p:cNvPr>
          <p:cNvSpPr/>
          <p:nvPr/>
        </p:nvSpPr>
        <p:spPr>
          <a:xfrm rot="5400000">
            <a:off x="120282" y="645145"/>
            <a:ext cx="1666822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D4234F4-9EA0-14D8-EA7D-4EC98318E8E7}"/>
              </a:ext>
            </a:extLst>
          </p:cNvPr>
          <p:cNvSpPr/>
          <p:nvPr/>
        </p:nvSpPr>
        <p:spPr>
          <a:xfrm>
            <a:off x="681928" y="2270580"/>
            <a:ext cx="2898832" cy="1936236"/>
          </a:xfrm>
          <a:prstGeom prst="roundRect">
            <a:avLst>
              <a:gd name="adj" fmla="val 5585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69B1BCD-3EEB-B6DC-8BB6-DD17FAD810CD}"/>
              </a:ext>
            </a:extLst>
          </p:cNvPr>
          <p:cNvSpPr/>
          <p:nvPr/>
        </p:nvSpPr>
        <p:spPr>
          <a:xfrm>
            <a:off x="945578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1A1241-E47E-69F6-B577-4B2EC0D2176B}"/>
              </a:ext>
            </a:extLst>
          </p:cNvPr>
          <p:cNvSpPr txBox="1"/>
          <p:nvPr/>
        </p:nvSpPr>
        <p:spPr>
          <a:xfrm>
            <a:off x="1400293" y="1954544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Front-end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D282E50-47E1-78DE-C80F-148C0BB16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081" y="2642818"/>
            <a:ext cx="551958" cy="54423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666213D-BE25-784F-875D-2244E62A8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695" y="3474253"/>
            <a:ext cx="1228691" cy="3145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그래픽 21">
            <a:extLst>
              <a:ext uri="{FF2B5EF4-FFF2-40B4-BE49-F238E27FC236}">
                <a16:creationId xmlns:a16="http://schemas.microsoft.com/office/drawing/2014/main" id="{00CA0326-D1CA-7E3E-3529-AD39553E2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695" y="2639991"/>
            <a:ext cx="1665902" cy="499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3D8C88-32BB-08D5-E714-804C5F42A4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483" y="3290290"/>
            <a:ext cx="646174" cy="6461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8BFDC89A-F436-E15D-EDE5-94E8F7FEBF98}"/>
              </a:ext>
            </a:extLst>
          </p:cNvPr>
          <p:cNvSpPr/>
          <p:nvPr/>
        </p:nvSpPr>
        <p:spPr>
          <a:xfrm>
            <a:off x="4646584" y="2210904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C7BB4F7-4E84-CE2A-47B3-AFCAA0EF4CC0}"/>
              </a:ext>
            </a:extLst>
          </p:cNvPr>
          <p:cNvSpPr/>
          <p:nvPr/>
        </p:nvSpPr>
        <p:spPr>
          <a:xfrm>
            <a:off x="4910234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12CB79-9C02-1E40-2689-D69C2787F147}"/>
              </a:ext>
            </a:extLst>
          </p:cNvPr>
          <p:cNvSpPr txBox="1"/>
          <p:nvPr/>
        </p:nvSpPr>
        <p:spPr>
          <a:xfrm>
            <a:off x="5364949" y="1954544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Back-end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0" name="Picture 6" descr="Spring Boot (symbol) logo">
            <a:extLst>
              <a:ext uri="{FF2B5EF4-FFF2-40B4-BE49-F238E27FC236}">
                <a16:creationId xmlns:a16="http://schemas.microsoft.com/office/drawing/2014/main" id="{1DDFCEEB-8A95-D45E-9C4A-F0414A861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768" y="2747097"/>
            <a:ext cx="727156" cy="72715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365FB7F-5F6C-6CF9-6D65-36AA3DEBED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2531" y="2504099"/>
            <a:ext cx="1100687" cy="110068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556EB8E1-C097-C9C3-B697-74C889E6D95E}"/>
              </a:ext>
            </a:extLst>
          </p:cNvPr>
          <p:cNvSpPr/>
          <p:nvPr/>
        </p:nvSpPr>
        <p:spPr>
          <a:xfrm>
            <a:off x="8611207" y="2210904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8F33F3F-49A1-8171-BCFA-AFF3CBFADE50}"/>
              </a:ext>
            </a:extLst>
          </p:cNvPr>
          <p:cNvSpPr/>
          <p:nvPr/>
        </p:nvSpPr>
        <p:spPr>
          <a:xfrm>
            <a:off x="8874857" y="1891389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175DEC-E704-7DD3-DF68-EEBD4DD0A7FB}"/>
              </a:ext>
            </a:extLst>
          </p:cNvPr>
          <p:cNvSpPr txBox="1"/>
          <p:nvPr/>
        </p:nvSpPr>
        <p:spPr>
          <a:xfrm>
            <a:off x="9233796" y="1954544"/>
            <a:ext cx="1653655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DB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47C21305-3E6A-946A-315E-B6E4E6AA9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6176" y="2487158"/>
            <a:ext cx="692923" cy="71459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329D89DA-C0AA-9787-2EB8-84A84B75C2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946" y="3243156"/>
            <a:ext cx="1946454" cy="4893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1029" name="사각형: 둥근 모서리 1028">
            <a:extLst>
              <a:ext uri="{FF2B5EF4-FFF2-40B4-BE49-F238E27FC236}">
                <a16:creationId xmlns:a16="http://schemas.microsoft.com/office/drawing/2014/main" id="{5291CF91-619F-706C-79D8-2C3CB5B95501}"/>
              </a:ext>
            </a:extLst>
          </p:cNvPr>
          <p:cNvSpPr/>
          <p:nvPr/>
        </p:nvSpPr>
        <p:spPr>
          <a:xfrm>
            <a:off x="4643115" y="5002611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031" name="사각형: 둥근 모서리 1030">
            <a:extLst>
              <a:ext uri="{FF2B5EF4-FFF2-40B4-BE49-F238E27FC236}">
                <a16:creationId xmlns:a16="http://schemas.microsoft.com/office/drawing/2014/main" id="{C6EC90A7-AD2D-70B7-2D1F-5247B3A6A967}"/>
              </a:ext>
            </a:extLst>
          </p:cNvPr>
          <p:cNvSpPr/>
          <p:nvPr/>
        </p:nvSpPr>
        <p:spPr>
          <a:xfrm>
            <a:off x="4906765" y="4683096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02E1A6A7-65C1-A256-6D58-ED857E37B832}"/>
              </a:ext>
            </a:extLst>
          </p:cNvPr>
          <p:cNvSpPr txBox="1"/>
          <p:nvPr/>
        </p:nvSpPr>
        <p:spPr>
          <a:xfrm>
            <a:off x="5361480" y="4746251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33" name="사각형: 둥근 모서리 1032">
            <a:extLst>
              <a:ext uri="{FF2B5EF4-FFF2-40B4-BE49-F238E27FC236}">
                <a16:creationId xmlns:a16="http://schemas.microsoft.com/office/drawing/2014/main" id="{4B511D32-A102-A82F-81C3-FC59D6F1A152}"/>
              </a:ext>
            </a:extLst>
          </p:cNvPr>
          <p:cNvSpPr/>
          <p:nvPr/>
        </p:nvSpPr>
        <p:spPr>
          <a:xfrm>
            <a:off x="8611207" y="5002611"/>
            <a:ext cx="2898832" cy="1631510"/>
          </a:xfrm>
          <a:prstGeom prst="roundRect">
            <a:avLst>
              <a:gd name="adj" fmla="val 0"/>
            </a:avLst>
          </a:prstGeom>
          <a:solidFill>
            <a:srgbClr val="F7F7F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7F7F7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034" name="사각형: 둥근 모서리 1033">
            <a:extLst>
              <a:ext uri="{FF2B5EF4-FFF2-40B4-BE49-F238E27FC236}">
                <a16:creationId xmlns:a16="http://schemas.microsoft.com/office/drawing/2014/main" id="{AA672AED-98CF-7155-8819-81234276C94B}"/>
              </a:ext>
            </a:extLst>
          </p:cNvPr>
          <p:cNvSpPr/>
          <p:nvPr/>
        </p:nvSpPr>
        <p:spPr>
          <a:xfrm>
            <a:off x="8874857" y="4683096"/>
            <a:ext cx="2371533" cy="502036"/>
          </a:xfrm>
          <a:prstGeom prst="roundRect">
            <a:avLst>
              <a:gd name="adj" fmla="val 0"/>
            </a:avLst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5AFE5C92-E58C-F6A2-E61A-1546DBCEF364}"/>
              </a:ext>
            </a:extLst>
          </p:cNvPr>
          <p:cNvSpPr txBox="1"/>
          <p:nvPr/>
        </p:nvSpPr>
        <p:spPr>
          <a:xfrm>
            <a:off x="9329572" y="4746251"/>
            <a:ext cx="1462102" cy="400110"/>
          </a:xfrm>
          <a:prstGeom prst="rect">
            <a:avLst/>
          </a:prstGeom>
          <a:noFill/>
        </p:spPr>
        <p:txBody>
          <a:bodyPr wrap="square" lIns="72000" rIns="0" spcCol="216000" rtlCol="0" anchor="ctr" anchorCtr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2" charset="-127"/>
              </a:rPr>
              <a:t>OCR Test</a:t>
            </a:r>
            <a:endParaRPr lang="ko-KR" altLang="en-US" sz="1850" b="1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2" charset="-127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BBA525E-9F6E-FC3E-8DE8-8CB7A503E1C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89" y="5831558"/>
            <a:ext cx="1534398" cy="6795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1CBC9F35-9791-E9E1-9828-A7AB2A4929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039" b="34152"/>
          <a:stretch/>
        </p:blipFill>
        <p:spPr>
          <a:xfrm>
            <a:off x="5249096" y="5318458"/>
            <a:ext cx="1573984" cy="38624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5BDBEFF8-648D-8DAD-416E-647787AED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56000" y="5396158"/>
            <a:ext cx="1228690" cy="37500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8768799F-3FC3-4ED3-D5C0-18FF66B930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1285" y="5958667"/>
            <a:ext cx="1538121" cy="43696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22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7" name="화살표: 왼쪽/오른쪽 1036">
            <a:extLst>
              <a:ext uri="{FF2B5EF4-FFF2-40B4-BE49-F238E27FC236}">
                <a16:creationId xmlns:a16="http://schemas.microsoft.com/office/drawing/2014/main" id="{CE2E425D-CCB5-25B7-1986-AB82194BEBC7}"/>
              </a:ext>
            </a:extLst>
          </p:cNvPr>
          <p:cNvSpPr/>
          <p:nvPr/>
        </p:nvSpPr>
        <p:spPr>
          <a:xfrm>
            <a:off x="3708357" y="3063959"/>
            <a:ext cx="805069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화살표: 왼쪽/오른쪽 1037">
            <a:extLst>
              <a:ext uri="{FF2B5EF4-FFF2-40B4-BE49-F238E27FC236}">
                <a16:creationId xmlns:a16="http://schemas.microsoft.com/office/drawing/2014/main" id="{2E424DBD-CBF1-6C27-AD70-4705915C9D61}"/>
              </a:ext>
            </a:extLst>
          </p:cNvPr>
          <p:cNvSpPr/>
          <p:nvPr/>
        </p:nvSpPr>
        <p:spPr>
          <a:xfrm>
            <a:off x="7690964" y="3058160"/>
            <a:ext cx="805069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0" name="화살표: 위쪽 1039">
            <a:extLst>
              <a:ext uri="{FF2B5EF4-FFF2-40B4-BE49-F238E27FC236}">
                <a16:creationId xmlns:a16="http://schemas.microsoft.com/office/drawing/2014/main" id="{B530CB60-55F1-034B-D465-E86DF6B35C88}"/>
              </a:ext>
            </a:extLst>
          </p:cNvPr>
          <p:cNvSpPr/>
          <p:nvPr/>
        </p:nvSpPr>
        <p:spPr>
          <a:xfrm rot="16200000">
            <a:off x="8029060" y="5287687"/>
            <a:ext cx="128888" cy="805070"/>
          </a:xfrm>
          <a:prstGeom prst="up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6" name="화살표: 왼쪽/오른쪽 1045">
            <a:extLst>
              <a:ext uri="{FF2B5EF4-FFF2-40B4-BE49-F238E27FC236}">
                <a16:creationId xmlns:a16="http://schemas.microsoft.com/office/drawing/2014/main" id="{533AA161-8663-AF56-DE9E-7CEFA0766301}"/>
              </a:ext>
            </a:extLst>
          </p:cNvPr>
          <p:cNvSpPr/>
          <p:nvPr/>
        </p:nvSpPr>
        <p:spPr>
          <a:xfrm rot="5400000">
            <a:off x="5698090" y="4198311"/>
            <a:ext cx="681944" cy="128888"/>
          </a:xfrm>
          <a:prstGeom prst="leftRightArrow">
            <a:avLst/>
          </a:prstGeom>
          <a:solidFill>
            <a:srgbClr val="005B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856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54B725-5AC5-1A6A-EBD5-C99972C042D3}"/>
              </a:ext>
            </a:extLst>
          </p:cNvPr>
          <p:cNvSpPr txBox="1"/>
          <p:nvPr/>
        </p:nvSpPr>
        <p:spPr>
          <a:xfrm>
            <a:off x="1352243" y="716672"/>
            <a:ext cx="257082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-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전체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BDE-641F-51A3-2294-0993C238D06C}"/>
              </a:ext>
            </a:extLst>
          </p:cNvPr>
          <p:cNvSpPr txBox="1"/>
          <p:nvPr/>
        </p:nvSpPr>
        <p:spPr>
          <a:xfrm>
            <a:off x="1395362" y="1318328"/>
            <a:ext cx="470063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유기적 서비스 연동을 위한 통합 데이터 모델링</a:t>
            </a:r>
          </a:p>
        </p:txBody>
      </p:sp>
      <p:pic>
        <p:nvPicPr>
          <p:cNvPr id="11" name="그림 10" descr="스크린샷, 다채로움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13E632-1813-4260-3042-6A4B9CBAB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561" y="1835268"/>
            <a:ext cx="11788877" cy="4745932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E9C8C5C2-6D26-FC66-B201-4989C665E087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114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8632E-8FBF-E4D2-B668-9394F35D2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3DA74E-E8E5-5600-8EA7-970EF9B856B7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차량</a:t>
            </a:r>
          </a:p>
        </p:txBody>
      </p:sp>
      <p:pic>
        <p:nvPicPr>
          <p:cNvPr id="13" name="그림 12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665234C-E284-8E86-D6CB-F042C21CB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21" y="1366283"/>
            <a:ext cx="11807287" cy="5409250"/>
          </a:xfrm>
          <a:prstGeom prst="rect">
            <a:avLst/>
          </a:prstGeom>
        </p:spPr>
      </p:pic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11F7D5F7-8798-615A-6E8A-5BE968B68BF8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1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B21A-D6A3-4DE2-5E73-9298B418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F9972BA-7D73-AFF8-C28E-EBBCD428B9DB}"/>
              </a:ext>
            </a:extLst>
          </p:cNvPr>
          <p:cNvSpPr txBox="1"/>
          <p:nvPr/>
        </p:nvSpPr>
        <p:spPr>
          <a:xfrm>
            <a:off x="1352242" y="716672"/>
            <a:ext cx="4507784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의료진</a:t>
            </a:r>
          </a:p>
        </p:txBody>
      </p:sp>
      <p:pic>
        <p:nvPicPr>
          <p:cNvPr id="5" name="그림 4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18ADA8-8A45-96E1-F84B-AEF9389EE8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" y="1964659"/>
            <a:ext cx="12034684" cy="3965682"/>
          </a:xfrm>
          <a:prstGeom prst="rect">
            <a:avLst/>
          </a:prstGeom>
        </p:spPr>
      </p:pic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DBFBC495-E246-4511-F368-2096D532B853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796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F27E3-A677-F0D8-8564-427333EC4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라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28FAE-D490-413F-6D64-80826B82E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07" y="479114"/>
            <a:ext cx="10863586" cy="6280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9147D6-0531-8542-DF13-5C8DC4F33114}"/>
              </a:ext>
            </a:extLst>
          </p:cNvPr>
          <p:cNvSpPr txBox="1"/>
          <p:nvPr/>
        </p:nvSpPr>
        <p:spPr>
          <a:xfrm>
            <a:off x="1352243" y="716672"/>
            <a:ext cx="4114492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ERD –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회원 및 행정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64B8C487-8074-817A-71AE-93F14922DF60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7364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603-F54F-7AED-1475-F3C0FA01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EC2E9C90-6F34-4D9F-508E-207FA9653D75}"/>
              </a:ext>
            </a:extLst>
          </p:cNvPr>
          <p:cNvSpPr txBox="1"/>
          <p:nvPr/>
        </p:nvSpPr>
        <p:spPr>
          <a:xfrm>
            <a:off x="1395362" y="1318328"/>
            <a:ext cx="5412942" cy="338554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6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사용자 그룹별 권한 할당을 통한 데이터 보안 및 업무 최적화</a:t>
            </a:r>
            <a:endParaRPr lang="en-US" altLang="ko-KR" sz="1600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3509F3-0C67-075D-7DF4-8AEA96548FAD}"/>
              </a:ext>
            </a:extLst>
          </p:cNvPr>
          <p:cNvSpPr txBox="1"/>
          <p:nvPr/>
        </p:nvSpPr>
        <p:spPr>
          <a:xfrm>
            <a:off x="1352242" y="716672"/>
            <a:ext cx="5080089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사용자 권한별 핵심 기능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BE36D4F-4890-159D-6EE5-56DD53ED8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04948"/>
              </p:ext>
            </p:extLst>
          </p:nvPr>
        </p:nvGraphicFramePr>
        <p:xfrm>
          <a:off x="769475" y="1952467"/>
          <a:ext cx="10653051" cy="43995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96527">
                  <a:extLst>
                    <a:ext uri="{9D8B030D-6E8A-4147-A177-3AD203B41FA5}">
                      <a16:colId xmlns:a16="http://schemas.microsoft.com/office/drawing/2014/main" val="176704968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11527856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270163099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3655236872"/>
                    </a:ext>
                  </a:extLst>
                </a:gridCol>
                <a:gridCol w="1989131">
                  <a:extLst>
                    <a:ext uri="{9D8B030D-6E8A-4147-A177-3AD203B41FA5}">
                      <a16:colId xmlns:a16="http://schemas.microsoft.com/office/drawing/2014/main" val="551503763"/>
                    </a:ext>
                  </a:extLst>
                </a:gridCol>
              </a:tblGrid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기능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일반회원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의료진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원무팀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행정</a:t>
                      </a:r>
                      <a:r>
                        <a:rPr lang="en-US" altLang="ko-KR" sz="2000" b="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-</a:t>
                      </a:r>
                      <a:r>
                        <a:rPr lang="ko-KR" altLang="en-US" sz="2000" b="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홍보팀</a:t>
                      </a:r>
                      <a:endParaRPr lang="ko-KR" altLang="en-US" sz="2000" b="0" dirty="0"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4825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차량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30263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12450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진료예약 강제삭제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4F4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446988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kern="12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  <a:cs typeface="+mn-cs"/>
                        </a:rPr>
                        <a:t>O</a:t>
                      </a:r>
                      <a:endParaRPr lang="ko-KR" altLang="en-US" sz="2000" kern="12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  <a:cs typeface="+mn-cs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425716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VOC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답변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</a:t>
                      </a:r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강제삭제 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52974"/>
                  </a:ext>
                </a:extLst>
              </a:tr>
              <a:tr h="7302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공지사항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|  FAQ</a:t>
                      </a:r>
                    </a:p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065497"/>
                  </a:ext>
                </a:extLst>
              </a:tr>
              <a:tr h="524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건강이야기 </a:t>
                      </a:r>
                      <a:r>
                        <a:rPr lang="en-US" altLang="ko-KR" sz="1800" b="1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CRUD</a:t>
                      </a:r>
                      <a:endParaRPr lang="ko-KR" altLang="en-US" sz="1800" b="1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C2E6">
                        <a:alpha val="4392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X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O</a:t>
                      </a:r>
                      <a:endParaRPr lang="ko-KR" altLang="en-US" sz="20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117998" marR="117998" marT="58999" marB="5899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900">
                        <a:alpha val="43922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361462"/>
                  </a:ext>
                </a:extLst>
              </a:tr>
            </a:tbl>
          </a:graphicData>
        </a:graphic>
      </p:graphicFrame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76D80D25-8E86-407A-1C75-5988D41E0F29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88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1CD3-0665-3F5C-2EB2-EFB03FDF3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57">
            <a:extLst>
              <a:ext uri="{FF2B5EF4-FFF2-40B4-BE49-F238E27FC236}">
                <a16:creationId xmlns:a16="http://schemas.microsoft.com/office/drawing/2014/main" id="{65507E23-510A-3985-8A3B-E359D8C030B1}"/>
              </a:ext>
            </a:extLst>
          </p:cNvPr>
          <p:cNvSpPr txBox="1"/>
          <p:nvPr/>
        </p:nvSpPr>
        <p:spPr>
          <a:xfrm>
            <a:off x="1395362" y="1318328"/>
            <a:ext cx="487931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1800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차량 번호판 인식</a:t>
            </a:r>
            <a:endParaRPr lang="en-US" altLang="ko-KR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176780-9784-E2AF-A064-783985FE4084}"/>
              </a:ext>
            </a:extLst>
          </p:cNvPr>
          <p:cNvSpPr txBox="1"/>
          <p:nvPr/>
        </p:nvSpPr>
        <p:spPr>
          <a:xfrm>
            <a:off x="1352243" y="716672"/>
            <a:ext cx="3199880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en-US" altLang="ko-KR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OCR </a:t>
            </a:r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프로세스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B475B2-E206-A0CC-434E-76BF34FC89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742772"/>
              </p:ext>
            </p:extLst>
          </p:nvPr>
        </p:nvGraphicFramePr>
        <p:xfrm>
          <a:off x="881068" y="2258540"/>
          <a:ext cx="10787215" cy="41971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0864">
                  <a:extLst>
                    <a:ext uri="{9D8B030D-6E8A-4147-A177-3AD203B41FA5}">
                      <a16:colId xmlns:a16="http://schemas.microsoft.com/office/drawing/2014/main" val="1589152366"/>
                    </a:ext>
                  </a:extLst>
                </a:gridCol>
                <a:gridCol w="1646372">
                  <a:extLst>
                    <a:ext uri="{9D8B030D-6E8A-4147-A177-3AD203B41FA5}">
                      <a16:colId xmlns:a16="http://schemas.microsoft.com/office/drawing/2014/main" val="1526323515"/>
                    </a:ext>
                  </a:extLst>
                </a:gridCol>
                <a:gridCol w="1646372">
                  <a:extLst>
                    <a:ext uri="{9D8B030D-6E8A-4147-A177-3AD203B41FA5}">
                      <a16:colId xmlns:a16="http://schemas.microsoft.com/office/drawing/2014/main" val="4245788062"/>
                    </a:ext>
                  </a:extLst>
                </a:gridCol>
                <a:gridCol w="2151875">
                  <a:extLst>
                    <a:ext uri="{9D8B030D-6E8A-4147-A177-3AD203B41FA5}">
                      <a16:colId xmlns:a16="http://schemas.microsoft.com/office/drawing/2014/main" val="343331227"/>
                    </a:ext>
                  </a:extLst>
                </a:gridCol>
                <a:gridCol w="1620866">
                  <a:extLst>
                    <a:ext uri="{9D8B030D-6E8A-4147-A177-3AD203B41FA5}">
                      <a16:colId xmlns:a16="http://schemas.microsoft.com/office/drawing/2014/main" val="341189197"/>
                    </a:ext>
                  </a:extLst>
                </a:gridCol>
                <a:gridCol w="1620866">
                  <a:extLst>
                    <a:ext uri="{9D8B030D-6E8A-4147-A177-3AD203B41FA5}">
                      <a16:colId xmlns:a16="http://schemas.microsoft.com/office/drawing/2014/main" val="3897355789"/>
                    </a:ext>
                  </a:extLst>
                </a:gridCol>
              </a:tblGrid>
              <a:tr h="52463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흑백화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이진화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52674"/>
                  </a:ext>
                </a:extLst>
              </a:tr>
              <a:tr h="524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86.9%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68.9%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18.0%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84.8%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59.3%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24.5%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extLst>
                  <a:ext uri="{0D108BD9-81ED-4DB2-BD59-A6C34878D82A}">
                    <a16:rowId xmlns:a16="http://schemas.microsoft.com/office/drawing/2014/main" val="2444758306"/>
                  </a:ext>
                </a:extLst>
              </a:tr>
              <a:tr h="52463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바이큐빅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보간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20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20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가우시안</a:t>
                      </a:r>
                      <a:r>
                        <a:rPr lang="ko-KR" altLang="en-U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 </a:t>
                      </a:r>
                      <a:r>
                        <a:rPr lang="ko-KR" altLang="en-US" sz="20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블러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20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9330721"/>
                  </a:ext>
                </a:extLst>
              </a:tr>
              <a:tr h="524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87.6%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66.4%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21.1%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90.2%</a:t>
                      </a:r>
                      <a:endParaRPr lang="ko-KR" altLang="en-US" sz="18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69.8%</a:t>
                      </a:r>
                      <a:endParaRPr lang="ko-KR" altLang="en-US" sz="18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b="1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20.5%</a:t>
                      </a:r>
                      <a:endParaRPr lang="ko-KR" altLang="en-US" sz="1800" b="1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>
                    <a:solidFill>
                      <a:srgbClr val="FBB900">
                        <a:alpha val="2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624491"/>
                  </a:ext>
                </a:extLst>
              </a:tr>
              <a:tr h="52463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에로전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x3,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521208"/>
                  </a:ext>
                </a:extLst>
              </a:tr>
              <a:tr h="524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87.0%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66.1%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21.0%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88.9%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65.9%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23.0%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extLst>
                  <a:ext uri="{0D108BD9-81ED-4DB2-BD59-A6C34878D82A}">
                    <a16:rowId xmlns:a16="http://schemas.microsoft.com/office/drawing/2014/main" val="1800427628"/>
                  </a:ext>
                </a:extLst>
              </a:tr>
              <a:tr h="524638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 err="1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딜레이션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명암 조절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확대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x2,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색상 반전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, 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Bold" panose="02000000000000000000" pitchFamily="2" charset="-127"/>
                          <a:ea typeface="G마켓 산스 TTF Bold" panose="02000000000000000000" pitchFamily="2" charset="-127"/>
                        </a:rPr>
                        <a:t>패딩</a:t>
                      </a:r>
                    </a:p>
                  </a:txBody>
                  <a:tcPr marL="96264" marR="96264" marT="48132" marB="48132" anchor="ctr">
                    <a:solidFill>
                      <a:srgbClr val="C9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62665"/>
                  </a:ext>
                </a:extLst>
              </a:tr>
              <a:tr h="524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89.9%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69.5%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20.4%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+</a:t>
                      </a:r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77.9%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완벽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67.1%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부분</a:t>
                      </a:r>
                      <a:r>
                        <a:rPr lang="en-US" altLang="ko-KR" sz="1800" dirty="0">
                          <a:solidFill>
                            <a:srgbClr val="222222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: 10.9%</a:t>
                      </a:r>
                      <a:endParaRPr lang="ko-KR" altLang="en-US" sz="1800" dirty="0">
                        <a:solidFill>
                          <a:srgbClr val="222222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marL="88092" marR="88092" marT="44045" marB="44045" anchor="ctr"/>
                </a:tc>
                <a:extLst>
                  <a:ext uri="{0D108BD9-81ED-4DB2-BD59-A6C34878D82A}">
                    <a16:rowId xmlns:a16="http://schemas.microsoft.com/office/drawing/2014/main" val="3072586674"/>
                  </a:ext>
                </a:extLst>
              </a:tr>
            </a:tbl>
          </a:graphicData>
        </a:graphic>
      </p:graphicFrame>
      <p:sp>
        <p:nvSpPr>
          <p:cNvPr id="4" name="화살표: 오각형 3">
            <a:extLst>
              <a:ext uri="{FF2B5EF4-FFF2-40B4-BE49-F238E27FC236}">
                <a16:creationId xmlns:a16="http://schemas.microsoft.com/office/drawing/2014/main" id="{B83F4791-1529-39DD-2041-FE8D4F29A8BF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DF243E6-10DE-6F46-7413-63F2AEF533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04" t="15226" r="8140" b="13571"/>
          <a:stretch/>
        </p:blipFill>
        <p:spPr>
          <a:xfrm>
            <a:off x="8449595" y="1318328"/>
            <a:ext cx="969264" cy="87966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FEB775-6009-D9B5-CA8C-258706835C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89" r="13378"/>
          <a:stretch/>
        </p:blipFill>
        <p:spPr>
          <a:xfrm>
            <a:off x="9418859" y="1361794"/>
            <a:ext cx="2249424" cy="79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452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5239DA-2C31-F400-45F9-07AB74149884}"/>
              </a:ext>
            </a:extLst>
          </p:cNvPr>
          <p:cNvSpPr txBox="1"/>
          <p:nvPr/>
        </p:nvSpPr>
        <p:spPr>
          <a:xfrm>
            <a:off x="1352242" y="716672"/>
            <a:ext cx="313847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 dirty="0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프로그램 시연</a:t>
            </a:r>
          </a:p>
        </p:txBody>
      </p:sp>
      <p:sp>
        <p:nvSpPr>
          <p:cNvPr id="24" name="화살표: 오각형 23">
            <a:extLst>
              <a:ext uri="{FF2B5EF4-FFF2-40B4-BE49-F238E27FC236}">
                <a16:creationId xmlns:a16="http://schemas.microsoft.com/office/drawing/2014/main" id="{BF5A0A7F-B08D-50A3-497B-C538B16EA872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20A4D9-DE68-8A7F-EAE3-E43FD06458ED}"/>
              </a:ext>
            </a:extLst>
          </p:cNvPr>
          <p:cNvSpPr txBox="1"/>
          <p:nvPr/>
        </p:nvSpPr>
        <p:spPr>
          <a:xfrm>
            <a:off x="1395362" y="1318328"/>
            <a:ext cx="2424798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시스템 통합 시연</a:t>
            </a:r>
            <a:endParaRPr lang="ko-KR" altLang="en-US" dirty="0">
              <a:solidFill>
                <a:srgbClr val="444444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Light" panose="02000403000000020004" pitchFamily="2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96A5BAC5-7F5A-9A0F-7A60-E41A4FE6EDDD}"/>
              </a:ext>
            </a:extLst>
          </p:cNvPr>
          <p:cNvGrpSpPr/>
          <p:nvPr/>
        </p:nvGrpSpPr>
        <p:grpSpPr>
          <a:xfrm>
            <a:off x="1068729" y="1909823"/>
            <a:ext cx="10054542" cy="4733234"/>
            <a:chOff x="844951" y="1792243"/>
            <a:chExt cx="10523519" cy="4931833"/>
          </a:xfrm>
        </p:grpSpPr>
        <p:pic>
          <p:nvPicPr>
            <p:cNvPr id="23" name="그림 22">
              <a:hlinkClick r:id="rId2"/>
              <a:extLst>
                <a:ext uri="{FF2B5EF4-FFF2-40B4-BE49-F238E27FC236}">
                  <a16:creationId xmlns:a16="http://schemas.microsoft.com/office/drawing/2014/main" id="{5C593B9C-E1D6-C8FD-84D1-E60D48B36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1" t="14010" r="315" b="6296"/>
            <a:stretch/>
          </p:blipFill>
          <p:spPr>
            <a:xfrm>
              <a:off x="1168891" y="1792243"/>
              <a:ext cx="9865561" cy="4466919"/>
            </a:xfrm>
            <a:prstGeom prst="rect">
              <a:avLst/>
            </a:prstGeom>
            <a:ln w="95250">
              <a:solidFill>
                <a:srgbClr val="22222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D12EE13-5769-2FEC-CFC9-3D36B7788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4951" y="6370964"/>
              <a:ext cx="10523519" cy="3531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8852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455DC8-BF25-57FB-B05A-3CCBA3CBEA1B}"/>
              </a:ext>
            </a:extLst>
          </p:cNvPr>
          <p:cNvSpPr txBox="1"/>
          <p:nvPr/>
        </p:nvSpPr>
        <p:spPr>
          <a:xfrm>
            <a:off x="1395362" y="1318328"/>
            <a:ext cx="6429124" cy="369332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dirty="0">
                <a:solidFill>
                  <a:srgbClr val="444444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Light" panose="02000403000000020004" pitchFamily="2" charset="-127"/>
              </a:rPr>
              <a:t>기술 고도화 및 사업 영역 확대를 통한 스마트 시티 인프라 구축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D8096-8265-2F47-F7AC-385D16D7CFBA}"/>
              </a:ext>
            </a:extLst>
          </p:cNvPr>
          <p:cNvSpPr txBox="1"/>
          <p:nvPr/>
        </p:nvSpPr>
        <p:spPr>
          <a:xfrm>
            <a:off x="1352243" y="716672"/>
            <a:ext cx="3585518" cy="646331"/>
          </a:xfrm>
          <a:prstGeom prst="rect">
            <a:avLst/>
          </a:prstGeom>
          <a:noFill/>
        </p:spPr>
        <p:txBody>
          <a:bodyPr wrap="square" lIns="72000" rIns="0" spcCol="216000" rtlCol="0">
            <a:spAutoFit/>
          </a:bodyPr>
          <a:lstStyle/>
          <a:p>
            <a:r>
              <a:rPr lang="ko-KR" altLang="en-US" sz="3600" b="1">
                <a:solidFill>
                  <a:srgbClr val="22222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rPr>
              <a:t>서비스 확장 계획</a:t>
            </a:r>
            <a:endParaRPr lang="ko-KR" altLang="en-US" sz="3600" b="1" dirty="0">
              <a:solidFill>
                <a:srgbClr val="22222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3D3EB4B9-ACCE-ABE6-64D1-64ABCD28799D}"/>
              </a:ext>
            </a:extLst>
          </p:cNvPr>
          <p:cNvSpPr/>
          <p:nvPr/>
        </p:nvSpPr>
        <p:spPr>
          <a:xfrm rot="5400000">
            <a:off x="125253" y="640175"/>
            <a:ext cx="1656880" cy="376538"/>
          </a:xfrm>
          <a:prstGeom prst="homePlate">
            <a:avLst/>
          </a:prstGeom>
          <a:solidFill>
            <a:srgbClr val="005BA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8EAAA23-1F10-7288-1628-B3A4A3795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2802" y="1965175"/>
            <a:ext cx="3931438" cy="2146165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3" name="그룹 32">
            <a:extLst>
              <a:ext uri="{FF2B5EF4-FFF2-40B4-BE49-F238E27FC236}">
                <a16:creationId xmlns:a16="http://schemas.microsoft.com/office/drawing/2014/main" id="{5F4F1D6A-0093-E84C-F892-7C5ED880DC9F}"/>
              </a:ext>
            </a:extLst>
          </p:cNvPr>
          <p:cNvGrpSpPr/>
          <p:nvPr/>
        </p:nvGrpSpPr>
        <p:grpSpPr>
          <a:xfrm>
            <a:off x="5218060" y="2161812"/>
            <a:ext cx="6536578" cy="1752890"/>
            <a:chOff x="5025005" y="2251156"/>
            <a:chExt cx="6536578" cy="17528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2CE657-3AC6-660E-877F-08B4FB4D4890}"/>
                </a:ext>
              </a:extLst>
            </p:cNvPr>
            <p:cNvSpPr txBox="1"/>
            <p:nvPr/>
          </p:nvSpPr>
          <p:spPr>
            <a:xfrm>
              <a:off x="5025005" y="2251156"/>
              <a:ext cx="3687306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AI </a:t>
              </a:r>
              <a:r>
                <a:rPr lang="ko-KR" altLang="en-US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기반 차량 인식 고도화</a:t>
              </a:r>
              <a:endParaRPr lang="ko-KR" altLang="en-US" sz="23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40E9F1F-865A-40FF-2AAA-CB7A517E3677}"/>
                </a:ext>
              </a:extLst>
            </p:cNvPr>
            <p:cNvSpPr txBox="1"/>
            <p:nvPr/>
          </p:nvSpPr>
          <p:spPr>
            <a:xfrm>
              <a:off x="5025005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Python YOLO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기반의 딥러닝 객체 탐지 모델 도입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D2BA176-F73A-56B5-C522-C5847E6B34A1}"/>
                </a:ext>
              </a:extLst>
            </p:cNvPr>
            <p:cNvSpPr txBox="1"/>
            <p:nvPr/>
          </p:nvSpPr>
          <p:spPr>
            <a:xfrm>
              <a:off x="5025005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차량 객체 추적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(Object Tracking)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을 통한 주차 유도 자동화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C24F0BF-6A02-97F9-7C84-DB8547D70766}"/>
                </a:ext>
              </a:extLst>
            </p:cNvPr>
            <p:cNvSpPr txBox="1"/>
            <p:nvPr/>
          </p:nvSpPr>
          <p:spPr>
            <a:xfrm>
              <a:off x="5025005" y="3234968"/>
              <a:ext cx="5752471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기상 악화 및 야간 환경에서의 </a:t>
              </a: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OCR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인식 정밀도 개선</a:t>
              </a:r>
            </a:p>
          </p:txBody>
        </p:sp>
      </p:grpSp>
      <p:pic>
        <p:nvPicPr>
          <p:cNvPr id="28" name="그림 27">
            <a:extLst>
              <a:ext uri="{FF2B5EF4-FFF2-40B4-BE49-F238E27FC236}">
                <a16:creationId xmlns:a16="http://schemas.microsoft.com/office/drawing/2014/main" id="{BE8F26F5-112C-FFC0-7D67-B4325E037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2802" y="4398632"/>
            <a:ext cx="3931438" cy="2144420"/>
          </a:xfrm>
          <a:prstGeom prst="rect">
            <a:avLst/>
          </a:prstGeom>
          <a:ln w="85725">
            <a:solidFill>
              <a:srgbClr val="22222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0" name="그룹 39">
            <a:extLst>
              <a:ext uri="{FF2B5EF4-FFF2-40B4-BE49-F238E27FC236}">
                <a16:creationId xmlns:a16="http://schemas.microsoft.com/office/drawing/2014/main" id="{091D21DA-37FA-4026-4E48-648C07716B87}"/>
              </a:ext>
            </a:extLst>
          </p:cNvPr>
          <p:cNvGrpSpPr/>
          <p:nvPr/>
        </p:nvGrpSpPr>
        <p:grpSpPr>
          <a:xfrm>
            <a:off x="5218060" y="4594397"/>
            <a:ext cx="6536578" cy="1752890"/>
            <a:chOff x="5025004" y="2251156"/>
            <a:chExt cx="6536578" cy="175289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80D737-06EB-A16D-FF40-8E51949B3B07}"/>
                </a:ext>
              </a:extLst>
            </p:cNvPr>
            <p:cNvSpPr txBox="1"/>
            <p:nvPr/>
          </p:nvSpPr>
          <p:spPr>
            <a:xfrm>
              <a:off x="5025004" y="2251156"/>
              <a:ext cx="4409599" cy="446276"/>
            </a:xfrm>
            <a:prstGeom prst="rect">
              <a:avLst/>
            </a:prstGeom>
            <a:solidFill>
              <a:srgbClr val="005BAA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E-Mobility </a:t>
              </a:r>
              <a:r>
                <a:rPr lang="ko-KR" altLang="en-US" sz="2300" dirty="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연동형 스마트 파킹</a:t>
              </a:r>
              <a:endParaRPr lang="ko-KR" altLang="en-US" sz="23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CA5332-D0C8-1BC7-CBC1-B24856A38F2D}"/>
                </a:ext>
              </a:extLst>
            </p:cNvPr>
            <p:cNvSpPr txBox="1"/>
            <p:nvPr/>
          </p:nvSpPr>
          <p:spPr>
            <a:xfrm>
              <a:off x="5025004" y="2840350"/>
              <a:ext cx="5480594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전기차</a:t>
              </a:r>
              <a:r>
                <a:rPr lang="en-US" altLang="ko-KR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(EV)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구역 자동 배정 및 점유 현황 관제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67EAFC6-A135-F109-514C-CB0155FBD00B}"/>
                </a:ext>
              </a:extLst>
            </p:cNvPr>
            <p:cNvSpPr txBox="1"/>
            <p:nvPr/>
          </p:nvSpPr>
          <p:spPr>
            <a:xfrm>
              <a:off x="5025004" y="3629585"/>
              <a:ext cx="6536578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altLang="ko-KR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IoT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센서 연동을 </a:t>
              </a: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통한 실시간 주차 시각화 대시보드 구축</a:t>
              </a:r>
              <a:endParaRPr lang="en-US" altLang="ko-KR" dirty="0">
                <a:solidFill>
                  <a:srgbClr val="333333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462E588-D737-0A7F-A41F-A768C6D7E9CA}"/>
                </a:ext>
              </a:extLst>
            </p:cNvPr>
            <p:cNvSpPr txBox="1"/>
            <p:nvPr/>
          </p:nvSpPr>
          <p:spPr>
            <a:xfrm>
              <a:off x="5025005" y="3234968"/>
              <a:ext cx="5622660" cy="3744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ko-KR" altLang="en-US" dirty="0">
                  <a:solidFill>
                    <a:srgbClr val="333333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충전 시간과 주차 요금을 결합한 </a:t>
              </a:r>
              <a:r>
                <a:rPr lang="ko-KR" altLang="en-US" dirty="0">
                  <a:solidFill>
                    <a:srgbClr val="005BAA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통합 정산 시스템 확장</a:t>
              </a:r>
              <a:endParaRPr lang="en-US" altLang="ko-KR" dirty="0">
                <a:solidFill>
                  <a:srgbClr val="005BAA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2385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6AD5759-CDAB-2FB6-FB11-7A3E8C8C2402}"/>
              </a:ext>
            </a:extLst>
          </p:cNvPr>
          <p:cNvGrpSpPr/>
          <p:nvPr/>
        </p:nvGrpSpPr>
        <p:grpSpPr>
          <a:xfrm>
            <a:off x="3221182" y="2522959"/>
            <a:ext cx="5749631" cy="1812083"/>
            <a:chOff x="3221182" y="2644170"/>
            <a:chExt cx="5749631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D8207C-DAEB-8A27-C4CF-FEC4AA4681E2}"/>
                </a:ext>
              </a:extLst>
            </p:cNvPr>
            <p:cNvSpPr txBox="1"/>
            <p:nvPr/>
          </p:nvSpPr>
          <p:spPr>
            <a:xfrm>
              <a:off x="3221182" y="2644170"/>
              <a:ext cx="5749631" cy="1569659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en-US" altLang="ko-KR" sz="9600" b="1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Q &amp; A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789B9FE-AAB5-3733-E507-E46F9B98BA31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51571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A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B563B8-2B14-2771-F290-75727C765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8C2AF975-B0CF-DF6B-33F5-500C21AE5827}"/>
              </a:ext>
            </a:extLst>
          </p:cNvPr>
          <p:cNvGrpSpPr/>
          <p:nvPr/>
        </p:nvGrpSpPr>
        <p:grpSpPr>
          <a:xfrm>
            <a:off x="2856501" y="2522959"/>
            <a:ext cx="6478999" cy="1812083"/>
            <a:chOff x="2856501" y="2644170"/>
            <a:chExt cx="6478999" cy="1812083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3721DBE-280E-06F5-3542-E016FEE54D30}"/>
                </a:ext>
              </a:extLst>
            </p:cNvPr>
            <p:cNvSpPr txBox="1"/>
            <p:nvPr/>
          </p:nvSpPr>
          <p:spPr>
            <a:xfrm>
              <a:off x="2856501" y="2644170"/>
              <a:ext cx="6478999" cy="1569660"/>
            </a:xfrm>
            <a:prstGeom prst="rect">
              <a:avLst/>
            </a:prstGeom>
            <a:noFill/>
          </p:spPr>
          <p:txBody>
            <a:bodyPr wrap="square" lIns="72000" rIns="0" spcCol="216000" rtlCol="0">
              <a:spAutoFit/>
            </a:bodyPr>
            <a:lstStyle/>
            <a:p>
              <a:pPr algn="ctr"/>
              <a:r>
                <a:rPr lang="ko-KR" altLang="en-US" sz="9600" b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Pretendard Medium" panose="02000603000000020004" pitchFamily="2" charset="-127"/>
                </a:rPr>
                <a:t>감사합니다</a:t>
              </a:r>
              <a:endParaRPr lang="ko-KR" altLang="en-US" sz="96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Medium" panose="02000603000000020004" pitchFamily="2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1FC04AB-A90A-B332-B365-AA5E53F459E5}"/>
                </a:ext>
              </a:extLst>
            </p:cNvPr>
            <p:cNvSpPr/>
            <p:nvPr/>
          </p:nvSpPr>
          <p:spPr>
            <a:xfrm>
              <a:off x="3578504" y="4213829"/>
              <a:ext cx="5034987" cy="242424"/>
            </a:xfrm>
            <a:prstGeom prst="rect">
              <a:avLst/>
            </a:prstGeom>
            <a:solidFill>
              <a:srgbClr val="FBB90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175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5BA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6400</TotalTime>
  <Words>967</Words>
  <Application>Microsoft Office PowerPoint</Application>
  <PresentationFormat>와이드스크린</PresentationFormat>
  <Paragraphs>193</Paragraphs>
  <Slides>16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Google Sans Text</vt:lpstr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동현 임</dc:creator>
  <cp:lastModifiedBy>User</cp:lastModifiedBy>
  <cp:revision>310</cp:revision>
  <dcterms:created xsi:type="dcterms:W3CDTF">2026-02-13T09:15:51Z</dcterms:created>
  <dcterms:modified xsi:type="dcterms:W3CDTF">2026-02-23T03:51:49Z</dcterms:modified>
</cp:coreProperties>
</file>