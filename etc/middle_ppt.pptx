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94" r:id="rId2"/>
    <p:sldId id="279" r:id="rId3"/>
    <p:sldId id="280" r:id="rId4"/>
    <p:sldId id="275" r:id="rId5"/>
    <p:sldId id="266" r:id="rId6"/>
    <p:sldId id="295" r:id="rId7"/>
    <p:sldId id="263" r:id="rId8"/>
    <p:sldId id="290" r:id="rId9"/>
    <p:sldId id="287" r:id="rId10"/>
    <p:sldId id="288" r:id="rId11"/>
    <p:sldId id="286" r:id="rId12"/>
    <p:sldId id="289" r:id="rId13"/>
    <p:sldId id="260" r:id="rId14"/>
    <p:sldId id="262" r:id="rId15"/>
    <p:sldId id="264" r:id="rId16"/>
    <p:sldId id="285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900"/>
    <a:srgbClr val="005BAA"/>
    <a:srgbClr val="333333"/>
    <a:srgbClr val="000000"/>
    <a:srgbClr val="7C7E84"/>
    <a:srgbClr val="222222"/>
    <a:srgbClr val="555555"/>
    <a:srgbClr val="84C2E6"/>
    <a:srgbClr val="C9E4F4"/>
    <a:srgbClr val="D9F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8C131C-CF48-4014-97DD-DD6736A6C487}" v="41" dt="2026-02-15T09:32:50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20" autoAdjust="0"/>
    <p:restoredTop sz="95026" autoAdjust="0"/>
  </p:normalViewPr>
  <p:slideViewPr>
    <p:cSldViewPr snapToGrid="0">
      <p:cViewPr varScale="1">
        <p:scale>
          <a:sx n="50" d="100"/>
          <a:sy n="50" d="100"/>
        </p:scale>
        <p:origin x="67" y="6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현 임" userId="bfd0dec5d22372d9" providerId="LiveId" clId="{F2D5EDD2-1DF9-4194-8BFE-0FE246D3B9F2}"/>
    <pc:docChg chg="custSel addSld delSld modSld sldOrd">
      <pc:chgData name="동현 임" userId="bfd0dec5d22372d9" providerId="LiveId" clId="{F2D5EDD2-1DF9-4194-8BFE-0FE246D3B9F2}" dt="2026-02-15T09:32:54.516" v="486" actId="1076"/>
      <pc:docMkLst>
        <pc:docMk/>
      </pc:docMkLst>
      <pc:sldChg chg="modSp mod">
        <pc:chgData name="동현 임" userId="bfd0dec5d22372d9" providerId="LiveId" clId="{F2D5EDD2-1DF9-4194-8BFE-0FE246D3B9F2}" dt="2026-02-13T09:26:42.964" v="72" actId="20577"/>
        <pc:sldMkLst>
          <pc:docMk/>
          <pc:sldMk cId="2378888442" sldId="256"/>
        </pc:sldMkLst>
        <pc:spChg chg="mod">
          <ac:chgData name="동현 임" userId="bfd0dec5d22372d9" providerId="LiveId" clId="{F2D5EDD2-1DF9-4194-8BFE-0FE246D3B9F2}" dt="2026-02-13T09:26:42.964" v="72" actId="20577"/>
          <ac:spMkLst>
            <pc:docMk/>
            <pc:sldMk cId="2378888442" sldId="256"/>
            <ac:spMk id="2" creationId="{AB394C6C-5EDD-8BD5-678E-F894E7A37153}"/>
          </ac:spMkLst>
        </pc:spChg>
      </pc:sldChg>
      <pc:sldChg chg="addSp delSp modSp new del mod">
        <pc:chgData name="동현 임" userId="bfd0dec5d22372d9" providerId="LiveId" clId="{F2D5EDD2-1DF9-4194-8BFE-0FE246D3B9F2}" dt="2026-02-15T09:32:45.268" v="484" actId="47"/>
        <pc:sldMkLst>
          <pc:docMk/>
          <pc:sldMk cId="1550544180" sldId="259"/>
        </pc:sldMkLst>
      </pc:sldChg>
      <pc:sldChg chg="modSp new mod">
        <pc:chgData name="동현 임" userId="bfd0dec5d22372d9" providerId="LiveId" clId="{F2D5EDD2-1DF9-4194-8BFE-0FE246D3B9F2}" dt="2026-02-13T09:18:46.029" v="36" actId="20577"/>
        <pc:sldMkLst>
          <pc:docMk/>
          <pc:sldMk cId="2438852705" sldId="260"/>
        </pc:sldMkLst>
        <pc:spChg chg="mod">
          <ac:chgData name="동현 임" userId="bfd0dec5d22372d9" providerId="LiveId" clId="{F2D5EDD2-1DF9-4194-8BFE-0FE246D3B9F2}" dt="2026-02-13T09:18:46.029" v="36" actId="20577"/>
          <ac:spMkLst>
            <pc:docMk/>
            <pc:sldMk cId="2438852705" sldId="260"/>
            <ac:spMk id="2" creationId="{43B13596-3057-7122-89D9-9526DE051053}"/>
          </ac:spMkLst>
        </pc:spChg>
      </pc:sldChg>
      <pc:sldChg chg="modSp new mod">
        <pc:chgData name="동현 임" userId="bfd0dec5d22372d9" providerId="LiveId" clId="{F2D5EDD2-1DF9-4194-8BFE-0FE246D3B9F2}" dt="2026-02-13T09:32:40.882" v="207" actId="20577"/>
        <pc:sldMkLst>
          <pc:docMk/>
          <pc:sldMk cId="1399677907" sldId="261"/>
        </pc:sldMkLst>
        <pc:spChg chg="mod">
          <ac:chgData name="동현 임" userId="bfd0dec5d22372d9" providerId="LiveId" clId="{F2D5EDD2-1DF9-4194-8BFE-0FE246D3B9F2}" dt="2026-02-13T09:32:40.882" v="207" actId="20577"/>
          <ac:spMkLst>
            <pc:docMk/>
            <pc:sldMk cId="1399677907" sldId="261"/>
            <ac:spMk id="2" creationId="{FC90ED56-9C29-4926-1DEA-65809AF4E635}"/>
          </ac:spMkLst>
        </pc:spChg>
        <pc:spChg chg="mod">
          <ac:chgData name="동현 임" userId="bfd0dec5d22372d9" providerId="LiveId" clId="{F2D5EDD2-1DF9-4194-8BFE-0FE246D3B9F2}" dt="2026-02-13T09:29:45.010" v="199" actId="20577"/>
          <ac:spMkLst>
            <pc:docMk/>
            <pc:sldMk cId="1399677907" sldId="261"/>
            <ac:spMk id="3" creationId="{FE8C6DF4-ECB8-2924-392E-B359ED717C0A}"/>
          </ac:spMkLst>
        </pc:spChg>
      </pc:sldChg>
      <pc:sldChg chg="modSp new mod">
        <pc:chgData name="동현 임" userId="bfd0dec5d22372d9" providerId="LiveId" clId="{F2D5EDD2-1DF9-4194-8BFE-0FE246D3B9F2}" dt="2026-02-13T09:42:54.279" v="438" actId="20577"/>
        <pc:sldMkLst>
          <pc:docMk/>
          <pc:sldMk cId="2452385403" sldId="262"/>
        </pc:sldMkLst>
        <pc:spChg chg="mod">
          <ac:chgData name="동현 임" userId="bfd0dec5d22372d9" providerId="LiveId" clId="{F2D5EDD2-1DF9-4194-8BFE-0FE246D3B9F2}" dt="2026-02-13T09:36:28.445" v="403" actId="20577"/>
          <ac:spMkLst>
            <pc:docMk/>
            <pc:sldMk cId="2452385403" sldId="262"/>
            <ac:spMk id="2" creationId="{E66B6C3E-C791-DDAD-16F5-A0BE9DDB04E1}"/>
          </ac:spMkLst>
        </pc:spChg>
        <pc:spChg chg="mod">
          <ac:chgData name="동현 임" userId="bfd0dec5d22372d9" providerId="LiveId" clId="{F2D5EDD2-1DF9-4194-8BFE-0FE246D3B9F2}" dt="2026-02-13T09:42:54.279" v="438" actId="20577"/>
          <ac:spMkLst>
            <pc:docMk/>
            <pc:sldMk cId="2452385403" sldId="262"/>
            <ac:spMk id="3" creationId="{A4BDD89D-DD72-1F8C-E763-51A29E113000}"/>
          </ac:spMkLst>
        </pc:spChg>
      </pc:sldChg>
      <pc:sldChg chg="addSp delSp modSp new mod">
        <pc:chgData name="동현 임" userId="bfd0dec5d22372d9" providerId="LiveId" clId="{F2D5EDD2-1DF9-4194-8BFE-0FE246D3B9F2}" dt="2026-02-13T10:25:41.597" v="442" actId="962"/>
        <pc:sldMkLst>
          <pc:docMk/>
          <pc:sldMk cId="2942114968" sldId="263"/>
        </pc:sldMkLst>
        <pc:spChg chg="mod">
          <ac:chgData name="동현 임" userId="bfd0dec5d22372d9" providerId="LiveId" clId="{F2D5EDD2-1DF9-4194-8BFE-0FE246D3B9F2}" dt="2026-02-13T09:25:54.082" v="58" actId="20577"/>
          <ac:spMkLst>
            <pc:docMk/>
            <pc:sldMk cId="2942114968" sldId="263"/>
            <ac:spMk id="2" creationId="{DD19D4FD-FB44-603F-3436-4A9A9C6A3E01}"/>
          </ac:spMkLst>
        </pc:spChg>
        <pc:picChg chg="add mod ord">
          <ac:chgData name="동현 임" userId="bfd0dec5d22372d9" providerId="LiveId" clId="{F2D5EDD2-1DF9-4194-8BFE-0FE246D3B9F2}" dt="2026-02-13T10:25:41.597" v="442" actId="962"/>
          <ac:picMkLst>
            <pc:docMk/>
            <pc:sldMk cId="2942114968" sldId="263"/>
            <ac:picMk id="5" creationId="{64DD1A14-8C53-3AC7-DD35-8F75DC41AAEB}"/>
          </ac:picMkLst>
        </pc:picChg>
      </pc:sldChg>
      <pc:sldChg chg="modSp new mod">
        <pc:chgData name="동현 임" userId="bfd0dec5d22372d9" providerId="LiveId" clId="{F2D5EDD2-1DF9-4194-8BFE-0FE246D3B9F2}" dt="2026-02-13T09:37:11.568" v="405" actId="20577"/>
        <pc:sldMkLst>
          <pc:docMk/>
          <pc:sldMk cId="2351571111" sldId="264"/>
        </pc:sldMkLst>
        <pc:spChg chg="mod">
          <ac:chgData name="동현 임" userId="bfd0dec5d22372d9" providerId="LiveId" clId="{F2D5EDD2-1DF9-4194-8BFE-0FE246D3B9F2}" dt="2026-02-13T09:37:11.568" v="405" actId="20577"/>
          <ac:spMkLst>
            <pc:docMk/>
            <pc:sldMk cId="2351571111" sldId="264"/>
            <ac:spMk id="2" creationId="{5216A149-741F-F144-81C1-81F53235EF94}"/>
          </ac:spMkLst>
        </pc:spChg>
      </pc:sldChg>
      <pc:sldChg chg="modSp new mod">
        <pc:chgData name="동현 임" userId="bfd0dec5d22372d9" providerId="LiveId" clId="{F2D5EDD2-1DF9-4194-8BFE-0FE246D3B9F2}" dt="2026-02-13T09:29:11.034" v="118" actId="20577"/>
        <pc:sldMkLst>
          <pc:docMk/>
          <pc:sldMk cId="926187128" sldId="265"/>
        </pc:sldMkLst>
        <pc:spChg chg="mod">
          <ac:chgData name="동현 임" userId="bfd0dec5d22372d9" providerId="LiveId" clId="{F2D5EDD2-1DF9-4194-8BFE-0FE246D3B9F2}" dt="2026-02-13T09:29:11.034" v="118" actId="20577"/>
          <ac:spMkLst>
            <pc:docMk/>
            <pc:sldMk cId="926187128" sldId="265"/>
            <ac:spMk id="2" creationId="{B58B0DE7-5E3A-CA22-999A-B05BC0DBCB30}"/>
          </ac:spMkLst>
        </pc:spChg>
      </pc:sldChg>
      <pc:sldChg chg="modSp new mod">
        <pc:chgData name="동현 임" userId="bfd0dec5d22372d9" providerId="LiveId" clId="{F2D5EDD2-1DF9-4194-8BFE-0FE246D3B9F2}" dt="2026-02-13T09:34:16.163" v="332" actId="20577"/>
        <pc:sldMkLst>
          <pc:docMk/>
          <pc:sldMk cId="2318613653" sldId="266"/>
        </pc:sldMkLst>
        <pc:spChg chg="mod">
          <ac:chgData name="동현 임" userId="bfd0dec5d22372d9" providerId="LiveId" clId="{F2D5EDD2-1DF9-4194-8BFE-0FE246D3B9F2}" dt="2026-02-13T09:32:49.712" v="238" actId="20577"/>
          <ac:spMkLst>
            <pc:docMk/>
            <pc:sldMk cId="2318613653" sldId="266"/>
            <ac:spMk id="2" creationId="{97152DDE-CD3C-A6B4-142D-593D750FA4C9}"/>
          </ac:spMkLst>
        </pc:spChg>
        <pc:spChg chg="mod">
          <ac:chgData name="동현 임" userId="bfd0dec5d22372d9" providerId="LiveId" clId="{F2D5EDD2-1DF9-4194-8BFE-0FE246D3B9F2}" dt="2026-02-13T09:34:16.163" v="332" actId="20577"/>
          <ac:spMkLst>
            <pc:docMk/>
            <pc:sldMk cId="2318613653" sldId="266"/>
            <ac:spMk id="3" creationId="{31D54D74-E755-A389-BADA-086A527239B7}"/>
          </ac:spMkLst>
        </pc:spChg>
      </pc:sldChg>
      <pc:sldChg chg="modSp new mod ord">
        <pc:chgData name="동현 임" userId="bfd0dec5d22372d9" providerId="LiveId" clId="{F2D5EDD2-1DF9-4194-8BFE-0FE246D3B9F2}" dt="2026-02-13T09:40:10.271" v="407"/>
        <pc:sldMkLst>
          <pc:docMk/>
          <pc:sldMk cId="3882659255" sldId="267"/>
        </pc:sldMkLst>
        <pc:spChg chg="mod">
          <ac:chgData name="동현 임" userId="bfd0dec5d22372d9" providerId="LiveId" clId="{F2D5EDD2-1DF9-4194-8BFE-0FE246D3B9F2}" dt="2026-02-13T09:36:11.289" v="396" actId="20577"/>
          <ac:spMkLst>
            <pc:docMk/>
            <pc:sldMk cId="3882659255" sldId="267"/>
            <ac:spMk id="2" creationId="{8AEE3CCD-E787-CFFE-4FFC-48E31384DA4A}"/>
          </ac:spMkLst>
        </pc:spChg>
      </pc:sldChg>
      <pc:sldChg chg="addSp modSp mod">
        <pc:chgData name="동현 임" userId="bfd0dec5d22372d9" providerId="LiveId" clId="{F2D5EDD2-1DF9-4194-8BFE-0FE246D3B9F2}" dt="2026-02-15T09:32:54.516" v="486" actId="1076"/>
        <pc:sldMkLst>
          <pc:docMk/>
          <pc:sldMk cId="3726856799" sldId="268"/>
        </pc:sldMkLst>
        <pc:spChg chg="add mod">
          <ac:chgData name="동현 임" userId="bfd0dec5d22372d9" providerId="LiveId" clId="{F2D5EDD2-1DF9-4194-8BFE-0FE246D3B9F2}" dt="2026-02-15T09:32:54.516" v="486" actId="1076"/>
          <ac:spMkLst>
            <pc:docMk/>
            <pc:sldMk cId="3726856799" sldId="268"/>
            <ac:spMk id="3" creationId="{F3505F80-91E7-13E8-3581-AE910CCB04B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EE5050-B506-4CB7-B3F3-1DE654A50863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6AC8CF-0D47-458D-9159-C7F8CBC444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8573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C0C5C-FE38-C61C-6BBC-20D49D02B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221DC1-6650-2F9C-DE1D-35492599C9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34D0F5-F028-E7C1-FACD-BAD99976E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FD987-75C3-684E-472C-C59105ED5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843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56D5-41B9-37ED-A8BB-1F70356BD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AB8623-A89B-1D82-EE50-55E394B49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4D3F88-094E-F221-FC79-749EB5153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766AB1-21DF-8F3E-7F64-8F7778CD8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895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CC56-679E-944D-44A5-A95BA7DB7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699F98-AE37-80A8-937B-3DDD762CB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25789D-CEA7-DE4F-6E46-064C27ECB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dirty="0">
              <a:solidFill>
                <a:srgbClr val="1F1F1F"/>
              </a:solidFill>
              <a:effectLst/>
              <a:latin typeface="Google Sans Tex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946C5-15CC-7D72-9A43-CCE143D2E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923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8CBD3-B156-05FF-9BD1-D7C9D1459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3A2766-E9CC-2C61-1929-748A0B2F7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EC1857-84F6-5F74-3E85-A601DA6D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수업 때 배운 거 복습 및 </a:t>
            </a:r>
            <a:r>
              <a:rPr lang="en-US" altLang="ko-KR" sz="12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예습 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&gt;&gt;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대본에 넣어도 좋을 것 같아요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추가 참고내용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기획 배경</a:t>
            </a:r>
            <a:r>
              <a:rPr lang="en-US" altLang="ko-KR" dirty="0"/>
              <a:t>: </a:t>
            </a:r>
            <a:r>
              <a:rPr lang="ko-KR" altLang="en-US" dirty="0"/>
              <a:t>주차 및 예약 과정의 병목 현상을 해소하고</a:t>
            </a:r>
            <a:r>
              <a:rPr lang="en-US" altLang="ko-KR" dirty="0"/>
              <a:t>, </a:t>
            </a:r>
            <a:r>
              <a:rPr lang="ko-KR" altLang="en-US" dirty="0"/>
              <a:t>환자의 민감 정보를 보호하기 위한 </a:t>
            </a:r>
            <a:r>
              <a:rPr lang="ko-KR" altLang="en-US" b="1" dirty="0"/>
              <a:t>계층별 접근 제어 시스템</a:t>
            </a:r>
            <a:r>
              <a:rPr lang="ko-KR" altLang="en-US" dirty="0"/>
              <a:t>과 </a:t>
            </a:r>
            <a:r>
              <a:rPr lang="ko-KR" altLang="en-US" dirty="0" err="1"/>
              <a:t>원무팀</a:t>
            </a:r>
            <a:r>
              <a:rPr lang="ko-KR" altLang="en-US" dirty="0"/>
              <a:t> 중심의 </a:t>
            </a:r>
            <a:r>
              <a:rPr lang="ko-KR" altLang="en-US" b="1" dirty="0"/>
              <a:t>전문적인 고객 응대 체계</a:t>
            </a:r>
            <a:r>
              <a:rPr lang="ko-KR" altLang="en-US" dirty="0"/>
              <a:t>를 구축하여 운영 프로세스의 투명성 및 보안성 강화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기획 목적</a:t>
            </a:r>
            <a:r>
              <a:rPr lang="en-US" altLang="ko-KR" dirty="0"/>
              <a:t>: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환자 중심의 의료 서비스 접근성 향상과 병원 행정 운영의 최적화를 실현하고</a:t>
            </a:r>
            <a:r>
              <a:rPr lang="en-US" altLang="ko-KR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고도화된 권한 제어 기반의 보안 설계를 통해 시스템 안전성 및 데이터 신뢰성 확보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52D5F6-9BF8-46F1-8C96-888DC932B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8001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>
              <a:solidFill>
                <a:srgbClr val="555555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722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5D68-8E3A-27EF-A542-B72311796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6E6E6-E290-4868-6899-810547708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41E953-2720-DCB9-B2EF-2530E6FBF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D2BCE2-5337-8266-7516-6BC369FD61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197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8467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7D5E-6F87-C514-32EE-D06BEC474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DADD6B-F743-1A36-8E28-BDF20E7E0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D419C-E480-4FA0-FF81-9D0E9984E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8A3D87-1E35-42FD-B2EE-327499FD7D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916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1FED-86FC-33D5-C112-9FC553859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5C3177-B333-1201-0A25-E14EDDAB5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3ADA5B-DF67-0FEE-EDA5-DC798FD22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3F72F-170B-89CA-7B8C-4EF459CB3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0533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70AD1-6D7A-ED0E-A32F-75E98595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1FC7C4-A62D-38E6-C300-E037AB825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3F3BDE-C4CF-739F-0032-3DD278C0B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3278D5-5CC8-7888-59F3-D0B34C054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10366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49453-8124-DB00-BB2C-A227F9B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02EE24-ADB6-F1E9-232C-5128B287F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4D5EC7-1B32-60DE-E246-F30B83210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00E89C-56EA-0BB5-CC8A-1F4F316382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458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81EE-54F6-1A64-4A5F-A4D94FD0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9E6AA8-A564-9524-8BB2-522E8F708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D81CF5-6FAE-45F7-8F9A-0EDE6A817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E6584D-FF6B-6C6B-903C-138FB9826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132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endParaRPr lang="ko-KR" altLang="en-US" sz="1050" b="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046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0BAF8-A3E1-97BA-5798-C76F22F3F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99B761-6AB7-42FB-A019-3BC2C3B326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2493A0-5AD3-9E57-05E4-7B13343E4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5B805F-4155-EBB9-201E-70604ACCB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E0CA2-738E-9821-2EC4-66EEC006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68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95429-A8A1-F1BB-F076-03C133EBA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1CA7DE-44C5-7D14-FD3B-B63CBBB68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A63728-87A1-F516-AE74-5F5F95EA6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0F53BF-8659-5210-C460-A65F382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35381-333D-45BD-1766-7BD409F1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693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62DE32-F742-055B-431C-227046F41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E848-F45D-B69B-B516-FD7E7BF5F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3DF0AF-8C04-EE74-B329-7F750AE15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63276-7D0C-3306-2C6A-1F66A6759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32C795-6880-049C-4CE7-3A907CCE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79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D39DE0-1CB1-A92F-D071-720EA3491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E458A8-862F-ED5D-86E8-7B36C7492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6E22E4-514F-A4E3-5A7C-6B76AE95E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696917-3A57-E7D5-DAC4-A5E72115A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F605F5-5050-C089-4162-2858A0C7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22F21A-8F93-00B6-FC08-DB56EC91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89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1A9C9-ED98-838C-83A7-762E8DDB5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ACDD53-FD02-D45E-583A-DD0559E5C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6B27CB-29BE-4040-CE9B-9A6EDF330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CE86C15-7E83-5653-8E2F-301B7BCC19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60488F-8C27-276B-A1CE-250EF6677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91777F-BBC5-6B38-2DAE-63B5F822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DF02F7-165A-2FB7-9B18-E061DF285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8CF0B8-9032-B85C-D6DA-658A0E1B3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3968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A6C13-8B1C-45B4-4D0F-86B4C1072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7858E08-D8A7-EFCD-3F30-D9122F83B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948F560-9781-6A15-BB60-D4C4AC404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A81A96-BD17-852F-E2AA-25E3E22D4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74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5D7240-849A-4A75-C1AD-EE4A568F2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F65F436-3723-3D55-C366-A88D85D8D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EFF4F-A88D-CF73-CCAD-2862FB7E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521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2B2FE-429D-7948-B97D-62135C56A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BE13B-449D-9C07-80D6-62CB4B906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5A42B7-8992-A9EB-D73B-C90BC209DC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6FDD84-35F9-2B85-552B-E1BD50C50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4372BC-0D18-B7A4-0E19-CA294BFA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AF4CE7-062D-45D5-69A9-2EC6BC68D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82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6E9A5-737F-30C4-BED9-410ACF2ED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8EC146-B2C7-53B6-9D75-3B545C6E75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BA682C2-BC9E-900C-E8F6-5F62BA4E3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C4D52E-0752-1B61-9BF5-01F3B26B6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C45B4A-BFA6-A502-EE5E-99394B91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33A9A5-A0D1-DCB4-271F-B2C0BD239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707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5B5E7-D290-0377-407D-2F6FC7424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8D4D51-AF6A-AAAF-C1F5-28447C1E85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253970-5003-A9ED-27A1-5C899AF5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213175-A271-28EC-E349-26FF2D547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E012D3-1314-C133-C3DE-FAF1FE98B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07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2EAD24-CCCC-694D-5E9A-07BE9A7531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66FEDCE-01BC-404B-C76C-4EB715F4A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3B8C3C-FED7-71D1-395C-F491171A6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F3DE5-1C11-2EEC-4723-24BA624F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FA729E-D082-ED0E-79E4-F4B6CC55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15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A08788-2CB6-D05F-1B81-32C7D159E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5210A9-BCB2-03DC-56E9-9879B2FCA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619A8E-997A-5DE9-FF7C-CBA2A3151C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97760-439D-4DDF-87BC-9953330ED46A}" type="datetimeFigureOut">
              <a:rPr lang="ko-KR" altLang="en-US" smtClean="0"/>
              <a:t>2026-02-24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F9924F-87AB-FCF9-4751-68D997243E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9F8B42-41E5-1F05-88CA-97499EB0E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59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26" Type="http://schemas.openxmlformats.org/officeDocument/2006/relationships/image" Target="../media/image45.png"/><Relationship Id="rId3" Type="http://schemas.openxmlformats.org/officeDocument/2006/relationships/image" Target="../media/image22.png"/><Relationship Id="rId21" Type="http://schemas.openxmlformats.org/officeDocument/2006/relationships/image" Target="../media/image40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5" Type="http://schemas.openxmlformats.org/officeDocument/2006/relationships/image" Target="../media/image4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5.png"/><Relationship Id="rId20" Type="http://schemas.openxmlformats.org/officeDocument/2006/relationships/image" Target="../media/image39.png"/><Relationship Id="rId29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11" Type="http://schemas.openxmlformats.org/officeDocument/2006/relationships/image" Target="../media/image30.png"/><Relationship Id="rId24" Type="http://schemas.openxmlformats.org/officeDocument/2006/relationships/image" Target="../media/image43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23" Type="http://schemas.openxmlformats.org/officeDocument/2006/relationships/image" Target="../media/image42.png"/><Relationship Id="rId28" Type="http://schemas.openxmlformats.org/officeDocument/2006/relationships/image" Target="../media/image47.png"/><Relationship Id="rId10" Type="http://schemas.openxmlformats.org/officeDocument/2006/relationships/image" Target="../media/image29.png"/><Relationship Id="rId19" Type="http://schemas.openxmlformats.org/officeDocument/2006/relationships/image" Target="../media/image38.sv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Relationship Id="rId22" Type="http://schemas.openxmlformats.org/officeDocument/2006/relationships/image" Target="../media/image41.png"/><Relationship Id="rId27" Type="http://schemas.openxmlformats.org/officeDocument/2006/relationships/image" Target="../media/image46.svg"/><Relationship Id="rId30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jpg"/><Relationship Id="rId3" Type="http://schemas.openxmlformats.org/officeDocument/2006/relationships/image" Target="../media/image54.png"/><Relationship Id="rId7" Type="http://schemas.openxmlformats.org/officeDocument/2006/relationships/image" Target="../media/image5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jpg"/><Relationship Id="rId5" Type="http://schemas.openxmlformats.org/officeDocument/2006/relationships/image" Target="../media/image56.jpg"/><Relationship Id="rId4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hyperlink" Target="http://localhost:5173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1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47B904-E6C5-31D1-A13B-535EA34DD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6B908D84-DD13-02DE-9786-9742AE6C62A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림 2" descr="파란색 유리 건물">
            <a:extLst>
              <a:ext uri="{FF2B5EF4-FFF2-40B4-BE49-F238E27FC236}">
                <a16:creationId xmlns:a16="http://schemas.microsoft.com/office/drawing/2014/main" id="{6855E744-98EF-70E2-00B6-6496E72BF4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70" b="787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BA73722-B4D8-637E-E673-9D1294ED8882}"/>
              </a:ext>
            </a:extLst>
          </p:cNvPr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tx1">
              <a:alpha val="36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59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A2FB51-72C3-EB47-1BC7-50E0A25A75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27" y="6001426"/>
            <a:ext cx="859963" cy="42580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1631D21-23F7-3FED-3E84-5A1185E662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691" y="6080742"/>
            <a:ext cx="1294118" cy="2671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740AEE-B24B-52B3-D19B-FBDE9A7F6BD5}"/>
              </a:ext>
            </a:extLst>
          </p:cNvPr>
          <p:cNvSpPr txBox="1"/>
          <p:nvPr/>
        </p:nvSpPr>
        <p:spPr>
          <a:xfrm>
            <a:off x="807228" y="2974336"/>
            <a:ext cx="593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KDT 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선도기업형 훈련과정 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[</a:t>
            </a:r>
            <a:r>
              <a:rPr lang="ko-KR" altLang="en-US" sz="1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에스트래픽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]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스마트 </a:t>
            </a:r>
            <a:r>
              <a:rPr lang="ko-KR" altLang="en-US" sz="1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모빌리티</a:t>
            </a:r>
            <a:r>
              <a:rPr lang="ko-KR" altLang="en-US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DX Academy</a:t>
            </a:r>
            <a:endParaRPr lang="ko-KR" altLang="en-US" sz="1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84DCFEC9-3ED9-BF97-FE05-18968630EC5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372" y="1224432"/>
            <a:ext cx="2761294" cy="3113888"/>
          </a:xfrm>
          <a:prstGeom prst="rect">
            <a:avLst/>
          </a:prstGeom>
          <a:effectLst/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4438557-E8C9-3F81-12D1-1D013542E3F7}"/>
              </a:ext>
            </a:extLst>
          </p:cNvPr>
          <p:cNvSpPr txBox="1"/>
          <p:nvPr/>
        </p:nvSpPr>
        <p:spPr>
          <a:xfrm>
            <a:off x="807228" y="1224432"/>
            <a:ext cx="4729972" cy="1777410"/>
          </a:xfrm>
          <a:prstGeom prst="rect">
            <a:avLst/>
          </a:prstGeom>
          <a:noFill/>
        </p:spPr>
        <p:txBody>
          <a:bodyPr vert="horz" wrap="square" lIns="72000" rIns="72000" spcCol="216000" rtlCol="0" anchor="ctr" anchorCtr="0">
            <a:spAutoFit/>
          </a:bodyPr>
          <a:lstStyle/>
          <a:p>
            <a:pPr>
              <a:lnSpc>
                <a:spcPct val="90000"/>
              </a:lnSpc>
            </a:pPr>
            <a:r>
              <a:rPr lang="ko-KR" altLang="en-US" sz="6000" spc="-150" dirty="0" err="1">
                <a:solidFill>
                  <a:srgbClr val="FBB9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ExtraBold" panose="02000903000000020004" pitchFamily="2" charset="-127"/>
              </a:rPr>
              <a:t>서울에스병원</a:t>
            </a:r>
            <a:endParaRPr lang="en-US" altLang="ko-KR" sz="6000" spc="-150" dirty="0">
              <a:solidFill>
                <a:srgbClr val="FBB9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ExtraBold" panose="02000903000000020004" pitchFamily="2" charset="-127"/>
            </a:endParaRPr>
          </a:p>
          <a:p>
            <a:pPr>
              <a:lnSpc>
                <a:spcPct val="90000"/>
              </a:lnSpc>
            </a:pPr>
            <a:r>
              <a:rPr lang="ko-KR" altLang="en-US" sz="6000" spc="-1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ExtraBold" panose="02000903000000020004" pitchFamily="2" charset="-127"/>
              </a:rPr>
              <a:t>종합 시스템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E6C4AF-CD46-2E68-AF1D-2DB515999B5C}"/>
              </a:ext>
            </a:extLst>
          </p:cNvPr>
          <p:cNvSpPr txBox="1"/>
          <p:nvPr/>
        </p:nvSpPr>
        <p:spPr>
          <a:xfrm>
            <a:off x="807228" y="3742102"/>
            <a:ext cx="4508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임동현</a:t>
            </a:r>
            <a:r>
              <a:rPr lang="en-US" altLang="ko-KR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팀장</a:t>
            </a:r>
            <a:r>
              <a:rPr lang="en-US" altLang="ko-KR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r>
              <a:rPr lang="ko-KR" altLang="en-US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 </a:t>
            </a:r>
            <a:r>
              <a:rPr lang="en-US" altLang="ko-KR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b="1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임소리</a:t>
            </a:r>
            <a:r>
              <a:rPr lang="ko-KR" altLang="en-US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 </a:t>
            </a:r>
            <a:r>
              <a:rPr lang="en-US" altLang="ko-KR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오종석  </a:t>
            </a:r>
            <a:r>
              <a:rPr lang="en-US" altLang="ko-KR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|  </a:t>
            </a:r>
            <a:r>
              <a:rPr lang="ko-KR" altLang="en-US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하재영</a:t>
            </a:r>
          </a:p>
        </p:txBody>
      </p:sp>
    </p:spTree>
    <p:extLst>
      <p:ext uri="{BB962C8B-B14F-4D97-AF65-F5344CB8AC3E}">
        <p14:creationId xmlns:p14="http://schemas.microsoft.com/office/powerpoint/2010/main" val="3466168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207A5-0A5C-0584-FE01-FDB8DDC1D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E91FAA6-F822-78F1-F865-D9BC0D8942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78305042-497C-8E69-709E-D5D7A0903766}"/>
              </a:ext>
            </a:extLst>
          </p:cNvPr>
          <p:cNvSpPr txBox="1"/>
          <p:nvPr/>
        </p:nvSpPr>
        <p:spPr>
          <a:xfrm>
            <a:off x="6035293" y="2300004"/>
            <a:ext cx="3094115" cy="4616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4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기술 및 데이터 설계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A68BCC-DE1E-245C-195B-FF984EA07992}"/>
              </a:ext>
            </a:extLst>
          </p:cNvPr>
          <p:cNvSpPr txBox="1"/>
          <p:nvPr/>
        </p:nvSpPr>
        <p:spPr>
          <a:xfrm>
            <a:off x="6035293" y="2676486"/>
            <a:ext cx="3447643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개발 스택  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데이터 구조 설계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(ERD)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562049EF-B59C-96C3-16DC-56EC30BDD587}"/>
              </a:ext>
            </a:extLst>
          </p:cNvPr>
          <p:cNvGrpSpPr/>
          <p:nvPr/>
        </p:nvGrpSpPr>
        <p:grpSpPr>
          <a:xfrm>
            <a:off x="4771628" y="2235334"/>
            <a:ext cx="936709" cy="936709"/>
            <a:chOff x="4887494" y="2084364"/>
            <a:chExt cx="936709" cy="936709"/>
          </a:xfrm>
        </p:grpSpPr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06640220-505C-366E-1076-E98FDEC1C9E6}"/>
                </a:ext>
              </a:extLst>
            </p:cNvPr>
            <p:cNvSpPr/>
            <p:nvPr/>
          </p:nvSpPr>
          <p:spPr>
            <a:xfrm>
              <a:off x="4887494" y="2084364"/>
              <a:ext cx="936709" cy="936709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4" name="그래픽 73" descr="클라우드 컴퓨팅 단색으로 채워진">
              <a:extLst>
                <a:ext uri="{FF2B5EF4-FFF2-40B4-BE49-F238E27FC236}">
                  <a16:creationId xmlns:a16="http://schemas.microsoft.com/office/drawing/2014/main" id="{33CBFA86-4E59-BD02-2262-32CAE85D4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035162" y="2232032"/>
              <a:ext cx="641373" cy="641373"/>
            </a:xfrm>
            <a:prstGeom prst="rect">
              <a:avLst/>
            </a:prstGeom>
          </p:spPr>
        </p:pic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50C0F8B-0761-4801-1D56-3FB709D54B59}"/>
              </a:ext>
            </a:extLst>
          </p:cNvPr>
          <p:cNvSpPr txBox="1"/>
          <p:nvPr/>
        </p:nvSpPr>
        <p:spPr>
          <a:xfrm>
            <a:off x="6035293" y="3823764"/>
            <a:ext cx="3520431" cy="4616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4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핵심 기술 로직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3A70F2-CC5E-ACD3-9D48-BE239F35BDBB}"/>
              </a:ext>
            </a:extLst>
          </p:cNvPr>
          <p:cNvSpPr txBox="1"/>
          <p:nvPr/>
        </p:nvSpPr>
        <p:spPr>
          <a:xfrm>
            <a:off x="6035293" y="4184366"/>
            <a:ext cx="5520068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사용자 권한별 매트릭스  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차량 번호판 인식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OCR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프로세스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7923E5BA-120D-3DF4-80C3-F8B4F30A934D}"/>
              </a:ext>
            </a:extLst>
          </p:cNvPr>
          <p:cNvGrpSpPr/>
          <p:nvPr/>
        </p:nvGrpSpPr>
        <p:grpSpPr>
          <a:xfrm>
            <a:off x="4771628" y="3751154"/>
            <a:ext cx="936709" cy="936709"/>
            <a:chOff x="4808161" y="3557529"/>
            <a:chExt cx="936709" cy="936709"/>
          </a:xfrm>
        </p:grpSpPr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240DA147-2B6C-05B2-1A38-89E104107BD4}"/>
                </a:ext>
              </a:extLst>
            </p:cNvPr>
            <p:cNvSpPr/>
            <p:nvPr/>
          </p:nvSpPr>
          <p:spPr>
            <a:xfrm>
              <a:off x="4808161" y="3557529"/>
              <a:ext cx="936709" cy="936709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6" name="그래픽 75" descr="팔레트 단색으로 채워진">
              <a:extLst>
                <a:ext uri="{FF2B5EF4-FFF2-40B4-BE49-F238E27FC236}">
                  <a16:creationId xmlns:a16="http://schemas.microsoft.com/office/drawing/2014/main" id="{4185D4D3-9AD9-284C-DC14-7C1F3D82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67554" y="3716922"/>
              <a:ext cx="617923" cy="61792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C744BEE-93DA-D7AD-2ED5-91D66CC9D662}"/>
              </a:ext>
            </a:extLst>
          </p:cNvPr>
          <p:cNvSpPr txBox="1"/>
          <p:nvPr/>
        </p:nvSpPr>
        <p:spPr>
          <a:xfrm>
            <a:off x="6035293" y="788031"/>
            <a:ext cx="2238687" cy="4616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4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기획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ABB2D9-9916-0A7B-9FED-833F1AAFCBCD}"/>
              </a:ext>
            </a:extLst>
          </p:cNvPr>
          <p:cNvSpPr txBox="1"/>
          <p:nvPr/>
        </p:nvSpPr>
        <p:spPr>
          <a:xfrm>
            <a:off x="6035293" y="1156818"/>
            <a:ext cx="5315084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팀원 역할 정의  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 개요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 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 주요 기능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9C1B9F-F163-D13E-E2D6-E2DF1ADBDF37}"/>
              </a:ext>
            </a:extLst>
          </p:cNvPr>
          <p:cNvGrpSpPr/>
          <p:nvPr/>
        </p:nvGrpSpPr>
        <p:grpSpPr>
          <a:xfrm>
            <a:off x="4771628" y="719514"/>
            <a:ext cx="936709" cy="936709"/>
            <a:chOff x="4808161" y="719514"/>
            <a:chExt cx="936709" cy="936709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B59629EC-2484-C89D-BB99-449BC39E7DED}"/>
                </a:ext>
              </a:extLst>
            </p:cNvPr>
            <p:cNvSpPr/>
            <p:nvPr/>
          </p:nvSpPr>
          <p:spPr>
            <a:xfrm>
              <a:off x="4808161" y="719514"/>
              <a:ext cx="936709" cy="936709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78" name="그래픽 77" descr="문서 단색으로 채워진">
              <a:extLst>
                <a:ext uri="{FF2B5EF4-FFF2-40B4-BE49-F238E27FC236}">
                  <a16:creationId xmlns:a16="http://schemas.microsoft.com/office/drawing/2014/main" id="{D515F44A-AC6C-E677-D3C4-CAD7B61FB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988669" y="900022"/>
              <a:ext cx="575693" cy="575693"/>
            </a:xfrm>
            <a:prstGeom prst="rect">
              <a:avLst/>
            </a:prstGeom>
          </p:spPr>
        </p:pic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25EF9FE-08CD-5084-853F-9E8639FB9535}"/>
              </a:ext>
            </a:extLst>
          </p:cNvPr>
          <p:cNvSpPr txBox="1"/>
          <p:nvPr/>
        </p:nvSpPr>
        <p:spPr>
          <a:xfrm>
            <a:off x="6035293" y="5341309"/>
            <a:ext cx="3941284" cy="461665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4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 시연 </a:t>
            </a:r>
            <a:r>
              <a:rPr lang="en-US" altLang="ko-KR" sz="24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&amp; </a:t>
            </a:r>
            <a:r>
              <a:rPr lang="ko-KR" altLang="en-US" sz="24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향후 계획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EBBAF1-0814-2BA6-2E17-8D4E798B21C9}"/>
              </a:ext>
            </a:extLst>
          </p:cNvPr>
          <p:cNvSpPr txBox="1"/>
          <p:nvPr/>
        </p:nvSpPr>
        <p:spPr>
          <a:xfrm>
            <a:off x="6035293" y="5698460"/>
            <a:ext cx="4632707" cy="430887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통합 시연   </a:t>
            </a:r>
            <a:r>
              <a:rPr lang="en-US" altLang="ko-KR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|   </a:t>
            </a:r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서비스 확장성 및 고도화 계획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3344407-59D5-5DB5-2F88-C7948589ECF0}"/>
              </a:ext>
            </a:extLst>
          </p:cNvPr>
          <p:cNvGrpSpPr/>
          <p:nvPr/>
        </p:nvGrpSpPr>
        <p:grpSpPr>
          <a:xfrm>
            <a:off x="4771628" y="5266974"/>
            <a:ext cx="936709" cy="936709"/>
            <a:chOff x="4808161" y="5401391"/>
            <a:chExt cx="936709" cy="936709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BBF19D0-80A8-EEE6-9045-BCFF78953D13}"/>
                </a:ext>
              </a:extLst>
            </p:cNvPr>
            <p:cNvSpPr/>
            <p:nvPr/>
          </p:nvSpPr>
          <p:spPr>
            <a:xfrm>
              <a:off x="4808161" y="5401391"/>
              <a:ext cx="936709" cy="936709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80" name="그래픽 79" descr="과녁 단색으로 채워진">
              <a:extLst>
                <a:ext uri="{FF2B5EF4-FFF2-40B4-BE49-F238E27FC236}">
                  <a16:creationId xmlns:a16="http://schemas.microsoft.com/office/drawing/2014/main" id="{6282B66F-32A7-1E6A-0DE4-2B472C1F5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959672" y="5552903"/>
              <a:ext cx="633687" cy="633684"/>
            </a:xfrm>
            <a:prstGeom prst="rect">
              <a:avLst/>
            </a:prstGeom>
          </p:spPr>
        </p:pic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F7D9812E-DCDD-7C52-CC2E-C29B5CA7D9CB}"/>
              </a:ext>
            </a:extLst>
          </p:cNvPr>
          <p:cNvSpPr txBox="1"/>
          <p:nvPr/>
        </p:nvSpPr>
        <p:spPr>
          <a:xfrm>
            <a:off x="1352242" y="716672"/>
            <a:ext cx="11236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목차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3DDD9C0-13C0-5692-287C-D6B664D271E4}"/>
              </a:ext>
            </a:extLst>
          </p:cNvPr>
          <p:cNvSpPr txBox="1"/>
          <p:nvPr/>
        </p:nvSpPr>
        <p:spPr>
          <a:xfrm>
            <a:off x="1352242" y="1318328"/>
            <a:ext cx="231551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PROJECT INDEX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A048A958-AC37-B58F-120B-7ED4911575C1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761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EE27D-30E1-3300-5395-E4F8EE21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사각형: 둥근 위쪽 모서리 89">
            <a:extLst>
              <a:ext uri="{FF2B5EF4-FFF2-40B4-BE49-F238E27FC236}">
                <a16:creationId xmlns:a16="http://schemas.microsoft.com/office/drawing/2014/main" id="{038CF090-4651-7A79-45E9-C81A20FA6C7D}"/>
              </a:ext>
            </a:extLst>
          </p:cNvPr>
          <p:cNvSpPr/>
          <p:nvPr/>
        </p:nvSpPr>
        <p:spPr>
          <a:xfrm>
            <a:off x="10185496" y="4313337"/>
            <a:ext cx="1397998" cy="408389"/>
          </a:xfrm>
          <a:prstGeom prst="round2SameRect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24F2508-DD86-E1EE-2E4B-AEC7D8050C85}"/>
              </a:ext>
            </a:extLst>
          </p:cNvPr>
          <p:cNvSpPr/>
          <p:nvPr/>
        </p:nvSpPr>
        <p:spPr>
          <a:xfrm>
            <a:off x="7082717" y="4702851"/>
            <a:ext cx="4748464" cy="1731839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85" name="사각형: 둥근 위쪽 모서리 84">
            <a:extLst>
              <a:ext uri="{FF2B5EF4-FFF2-40B4-BE49-F238E27FC236}">
                <a16:creationId xmlns:a16="http://schemas.microsoft.com/office/drawing/2014/main" id="{9BCFB563-09A0-A3FD-3494-73D3432AB93C}"/>
              </a:ext>
            </a:extLst>
          </p:cNvPr>
          <p:cNvSpPr/>
          <p:nvPr/>
        </p:nvSpPr>
        <p:spPr>
          <a:xfrm>
            <a:off x="4787341" y="4314113"/>
            <a:ext cx="1397998" cy="408389"/>
          </a:xfrm>
          <a:prstGeom prst="round2SameRect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435E303-A79A-4A0F-96E2-8CA6A38F2EB6}"/>
              </a:ext>
            </a:extLst>
          </p:cNvPr>
          <p:cNvSpPr/>
          <p:nvPr/>
        </p:nvSpPr>
        <p:spPr>
          <a:xfrm>
            <a:off x="1682629" y="4702851"/>
            <a:ext cx="4748464" cy="1731839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39" name="사각형: 둥근 위쪽 모서리 38">
            <a:extLst>
              <a:ext uri="{FF2B5EF4-FFF2-40B4-BE49-F238E27FC236}">
                <a16:creationId xmlns:a16="http://schemas.microsoft.com/office/drawing/2014/main" id="{8549AB29-8979-025F-0892-A70A88E97D99}"/>
              </a:ext>
            </a:extLst>
          </p:cNvPr>
          <p:cNvSpPr/>
          <p:nvPr/>
        </p:nvSpPr>
        <p:spPr>
          <a:xfrm>
            <a:off x="9307570" y="1923757"/>
            <a:ext cx="1397998" cy="408389"/>
          </a:xfrm>
          <a:prstGeom prst="round2SameRect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6C68805-6647-65C7-F706-06CB7B205FEE}"/>
              </a:ext>
            </a:extLst>
          </p:cNvPr>
          <p:cNvSpPr/>
          <p:nvPr/>
        </p:nvSpPr>
        <p:spPr>
          <a:xfrm>
            <a:off x="6172107" y="2304180"/>
            <a:ext cx="4748464" cy="1731839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C7004837-E9B7-C7B2-380F-8004DD75F75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화살표: 오각형 26">
            <a:extLst>
              <a:ext uri="{FF2B5EF4-FFF2-40B4-BE49-F238E27FC236}">
                <a16:creationId xmlns:a16="http://schemas.microsoft.com/office/drawing/2014/main" id="{B1414956-A752-AD83-72C6-714EDE4398CF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BBA82E-8E86-CEEA-E729-042A2057E8B4}"/>
              </a:ext>
            </a:extLst>
          </p:cNvPr>
          <p:cNvSpPr txBox="1"/>
          <p:nvPr/>
        </p:nvSpPr>
        <p:spPr>
          <a:xfrm>
            <a:off x="1395362" y="1318328"/>
            <a:ext cx="2578069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Black" panose="02000A03000000020004" pitchFamily="2" charset="-127"/>
              </a:rPr>
              <a:t>팀원 개인 담당 업무 소개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85C993-DFC5-5DD5-7088-CE5991DDCCA7}"/>
              </a:ext>
            </a:extLst>
          </p:cNvPr>
          <p:cNvSpPr txBox="1"/>
          <p:nvPr/>
        </p:nvSpPr>
        <p:spPr>
          <a:xfrm>
            <a:off x="1352243" y="716672"/>
            <a:ext cx="197631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Black" panose="02000A03000000020004" pitchFamily="2" charset="-127"/>
              </a:rPr>
              <a:t>팀원 역할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715E41A-24BD-6A82-40C8-DB84EA5BC4DD}"/>
              </a:ext>
            </a:extLst>
          </p:cNvPr>
          <p:cNvSpPr txBox="1"/>
          <p:nvPr/>
        </p:nvSpPr>
        <p:spPr>
          <a:xfrm>
            <a:off x="10195619" y="4343924"/>
            <a:ext cx="1377751" cy="377026"/>
          </a:xfrm>
          <a:prstGeom prst="rect">
            <a:avLst/>
          </a:prstGeom>
          <a:noFill/>
        </p:spPr>
        <p:txBody>
          <a:bodyPr wrap="square" lIns="72000" rIns="72000" spcCol="216000" rtlCol="0" anchor="ctr" anchorCtr="0">
            <a:spAutoFit/>
          </a:bodyPr>
          <a:lstStyle/>
          <a:p>
            <a:pPr algn="ctr"/>
            <a:r>
              <a:rPr lang="ko-KR" altLang="en-US" sz="185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프론트 엔드</a:t>
            </a: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05C92C59-3FE9-913D-ED53-330F6344A0BC}"/>
              </a:ext>
            </a:extLst>
          </p:cNvPr>
          <p:cNvSpPr/>
          <p:nvPr/>
        </p:nvSpPr>
        <p:spPr>
          <a:xfrm>
            <a:off x="3908828" y="1923757"/>
            <a:ext cx="1397998" cy="408389"/>
          </a:xfrm>
          <a:prstGeom prst="round2SameRect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50289D-EB1C-6FC9-C6D4-9A431D1BFB6E}"/>
              </a:ext>
            </a:extLst>
          </p:cNvPr>
          <p:cNvSpPr txBox="1"/>
          <p:nvPr/>
        </p:nvSpPr>
        <p:spPr>
          <a:xfrm>
            <a:off x="4123477" y="1953568"/>
            <a:ext cx="856750" cy="377026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ko-KR" altLang="en-US" sz="185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백 엔드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BF60FC-8D55-73A7-DA9B-08E26518FE26}"/>
              </a:ext>
            </a:extLst>
          </p:cNvPr>
          <p:cNvSpPr/>
          <p:nvPr/>
        </p:nvSpPr>
        <p:spPr>
          <a:xfrm>
            <a:off x="802042" y="2304180"/>
            <a:ext cx="4748464" cy="1731839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C88510B-28A7-4492-20CD-D601C242B54B}"/>
              </a:ext>
            </a:extLst>
          </p:cNvPr>
          <p:cNvSpPr/>
          <p:nvPr/>
        </p:nvSpPr>
        <p:spPr>
          <a:xfrm>
            <a:off x="364240" y="1909661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127BE03-0C1A-F208-06CB-517F6B0237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470" y="1922166"/>
            <a:ext cx="1551988" cy="17501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0F9847C-79C0-FBE8-9D62-5DC000076F7F}"/>
              </a:ext>
            </a:extLst>
          </p:cNvPr>
          <p:cNvSpPr txBox="1"/>
          <p:nvPr/>
        </p:nvSpPr>
        <p:spPr>
          <a:xfrm>
            <a:off x="2011924" y="2505897"/>
            <a:ext cx="1508338" cy="353943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7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임동현 </a:t>
            </a:r>
            <a:r>
              <a:rPr lang="en-US" altLang="ko-KR" sz="17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| </a:t>
            </a:r>
            <a:r>
              <a:rPr lang="ko-KR" altLang="en-US" sz="1700" dirty="0">
                <a:solidFill>
                  <a:srgbClr val="005BA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팀장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80BEFF-52FD-2984-D1C4-0D595C62DAE3}"/>
              </a:ext>
            </a:extLst>
          </p:cNvPr>
          <p:cNvSpPr txBox="1"/>
          <p:nvPr/>
        </p:nvSpPr>
        <p:spPr>
          <a:xfrm>
            <a:off x="2011924" y="2872940"/>
            <a:ext cx="3264422" cy="97719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ts val="2300"/>
              </a:lnSpc>
            </a:pP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DB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및 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ERD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설계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시스템 통합 백 엔드 구축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pPr>
              <a:lnSpc>
                <a:spcPts val="2300"/>
              </a:lnSpc>
            </a:pP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연동 번호판 판독 로직 개발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255876-DEFE-CCAF-C181-11BAF3CC1A9E}"/>
              </a:ext>
            </a:extLst>
          </p:cNvPr>
          <p:cNvSpPr txBox="1"/>
          <p:nvPr/>
        </p:nvSpPr>
        <p:spPr>
          <a:xfrm>
            <a:off x="9522219" y="1953568"/>
            <a:ext cx="856750" cy="377026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ko-KR" altLang="en-US" sz="185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백 엔드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49139C1-0977-397C-CEF6-1ED28D2CF0A0}"/>
              </a:ext>
            </a:extLst>
          </p:cNvPr>
          <p:cNvSpPr/>
          <p:nvPr/>
        </p:nvSpPr>
        <p:spPr>
          <a:xfrm>
            <a:off x="5762982" y="1909661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70F4953-99F3-F8C3-153C-45004A387001}"/>
              </a:ext>
            </a:extLst>
          </p:cNvPr>
          <p:cNvSpPr txBox="1"/>
          <p:nvPr/>
        </p:nvSpPr>
        <p:spPr>
          <a:xfrm>
            <a:off x="7410666" y="2671396"/>
            <a:ext cx="1508338" cy="353943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7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오종석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392F5A-AEDC-3AB1-6C74-05B2BF9F0209}"/>
              </a:ext>
            </a:extLst>
          </p:cNvPr>
          <p:cNvSpPr txBox="1"/>
          <p:nvPr/>
        </p:nvSpPr>
        <p:spPr>
          <a:xfrm>
            <a:off x="7410666" y="3002394"/>
            <a:ext cx="3264422" cy="682238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주차장 시스템 백 엔드 구축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진료 연동 정산 로직 구축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8C6B9E-0D72-B1C8-2121-5A23A86ACE78}"/>
              </a:ext>
            </a:extLst>
          </p:cNvPr>
          <p:cNvSpPr txBox="1"/>
          <p:nvPr/>
        </p:nvSpPr>
        <p:spPr>
          <a:xfrm>
            <a:off x="4769465" y="4343924"/>
            <a:ext cx="1397554" cy="377026"/>
          </a:xfrm>
          <a:prstGeom prst="rect">
            <a:avLst/>
          </a:prstGeom>
          <a:noFill/>
        </p:spPr>
        <p:txBody>
          <a:bodyPr wrap="square" lIns="72000" rIns="72000" spcCol="216000" rtlCol="0" anchor="ctr" anchorCtr="0">
            <a:spAutoFit/>
          </a:bodyPr>
          <a:lstStyle/>
          <a:p>
            <a:pPr algn="ctr"/>
            <a:r>
              <a:rPr lang="ko-KR" altLang="en-US" sz="185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프론트 엔드</a:t>
            </a:r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6918A542-3DA0-A1B7-6F3A-E2482657832D}"/>
              </a:ext>
            </a:extLst>
          </p:cNvPr>
          <p:cNvSpPr/>
          <p:nvPr/>
        </p:nvSpPr>
        <p:spPr>
          <a:xfrm>
            <a:off x="1242753" y="4300017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A276055-C7F6-7D34-ACDC-15D2CC328706}"/>
              </a:ext>
            </a:extLst>
          </p:cNvPr>
          <p:cNvSpPr txBox="1"/>
          <p:nvPr/>
        </p:nvSpPr>
        <p:spPr>
          <a:xfrm>
            <a:off x="2890437" y="5043730"/>
            <a:ext cx="1508338" cy="353943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700" dirty="0" err="1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임소리</a:t>
            </a:r>
            <a:endParaRPr lang="ko-KR" altLang="en-US" sz="1700" dirty="0">
              <a:solidFill>
                <a:srgbClr val="005BAA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47B401A-2503-720B-D233-C86DF4328B73}"/>
              </a:ext>
            </a:extLst>
          </p:cNvPr>
          <p:cNvSpPr txBox="1"/>
          <p:nvPr/>
        </p:nvSpPr>
        <p:spPr>
          <a:xfrm>
            <a:off x="2890437" y="5410773"/>
            <a:ext cx="3264422" cy="682238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사용자 접점 서비스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(Web/Kiosk)</a:t>
            </a:r>
          </a:p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통합 프론트 엔드 개발 및 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UI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875310A-DE81-F1F4-47AD-828532B2025F}"/>
              </a:ext>
            </a:extLst>
          </p:cNvPr>
          <p:cNvSpPr/>
          <p:nvPr/>
        </p:nvSpPr>
        <p:spPr>
          <a:xfrm>
            <a:off x="6641495" y="4300017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5C3238-D6B3-2577-9E48-5C9E810414E0}"/>
              </a:ext>
            </a:extLst>
          </p:cNvPr>
          <p:cNvSpPr txBox="1"/>
          <p:nvPr/>
        </p:nvSpPr>
        <p:spPr>
          <a:xfrm>
            <a:off x="8289179" y="5043730"/>
            <a:ext cx="1508338" cy="353943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700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하재영</a:t>
            </a:r>
            <a:endParaRPr lang="ko-KR" altLang="en-US" sz="1700" dirty="0">
              <a:solidFill>
                <a:srgbClr val="005BAA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80DDDE-854C-94D5-EF71-ACB66329A5EB}"/>
              </a:ext>
            </a:extLst>
          </p:cNvPr>
          <p:cNvSpPr txBox="1"/>
          <p:nvPr/>
        </p:nvSpPr>
        <p:spPr>
          <a:xfrm>
            <a:off x="8289179" y="5410773"/>
            <a:ext cx="3264422" cy="682238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실시간 주차 </a:t>
            </a:r>
            <a:r>
              <a:rPr lang="ko-KR" altLang="en-US" sz="1700" dirty="0" err="1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현황판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UI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차량 위치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이용 요금 정보 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UI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B7E9E2F4-B185-F8EC-7A7F-F866ED6536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6372" y="1909661"/>
            <a:ext cx="1549488" cy="17473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1BC8546-3A38-841E-7A7B-8A498A4D86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78520" y="4228897"/>
            <a:ext cx="1608449" cy="181383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A9EAB8F-445A-71CE-8704-910E4C584B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05856" y="4271446"/>
            <a:ext cx="1641850" cy="185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254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EBE511-BC92-5332-A863-52FA9EF76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0AE8F27-35C4-BCB0-CF3B-A1FBA4B5E010}"/>
              </a:ext>
            </a:extLst>
          </p:cNvPr>
          <p:cNvSpPr/>
          <p:nvPr/>
        </p:nvSpPr>
        <p:spPr>
          <a:xfrm>
            <a:off x="760167" y="5065061"/>
            <a:ext cx="10671666" cy="1352517"/>
          </a:xfrm>
          <a:prstGeom prst="roundRect">
            <a:avLst>
              <a:gd name="adj" fmla="val 682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55F83F0-1B3F-B3DF-8239-F44EDB48BE37}"/>
              </a:ext>
            </a:extLst>
          </p:cNvPr>
          <p:cNvSpPr/>
          <p:nvPr/>
        </p:nvSpPr>
        <p:spPr>
          <a:xfrm>
            <a:off x="8138230" y="2168411"/>
            <a:ext cx="3284728" cy="2246764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FC06C35-63F0-023B-5468-C4EBD11062CD}"/>
              </a:ext>
            </a:extLst>
          </p:cNvPr>
          <p:cNvSpPr/>
          <p:nvPr/>
        </p:nvSpPr>
        <p:spPr>
          <a:xfrm>
            <a:off x="4449199" y="2168411"/>
            <a:ext cx="3284728" cy="2246764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6429A78-08BC-829F-AAED-D2A63EB22D48}"/>
              </a:ext>
            </a:extLst>
          </p:cNvPr>
          <p:cNvSpPr/>
          <p:nvPr/>
        </p:nvSpPr>
        <p:spPr>
          <a:xfrm>
            <a:off x="760168" y="2168411"/>
            <a:ext cx="3284728" cy="2246764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1B5B2B97-896A-A0A0-3D3F-5CAA8EEE130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A08EC369-C93B-87FA-670F-D31933497D87}"/>
              </a:ext>
            </a:extLst>
          </p:cNvPr>
          <p:cNvSpPr txBox="1"/>
          <p:nvPr/>
        </p:nvSpPr>
        <p:spPr>
          <a:xfrm>
            <a:off x="1395362" y="1050095"/>
            <a:ext cx="41011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프로젝트명</a:t>
            </a:r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서울에스병원</a:t>
            </a:r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종합 시스템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954E3F-00D0-86D5-AB0A-7DBF0374A6BD}"/>
              </a:ext>
            </a:extLst>
          </p:cNvPr>
          <p:cNvSpPr txBox="1"/>
          <p:nvPr/>
        </p:nvSpPr>
        <p:spPr>
          <a:xfrm>
            <a:off x="1395361" y="1378869"/>
            <a:ext cx="313732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개발 기간</a:t>
            </a:r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26.01.26 ~ 02.20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3" name="사각형: 둥근 위쪽 모서리 72">
            <a:extLst>
              <a:ext uri="{FF2B5EF4-FFF2-40B4-BE49-F238E27FC236}">
                <a16:creationId xmlns:a16="http://schemas.microsoft.com/office/drawing/2014/main" id="{FA8953CD-5B97-39D5-2779-59EFC188468D}"/>
              </a:ext>
            </a:extLst>
          </p:cNvPr>
          <p:cNvSpPr/>
          <p:nvPr/>
        </p:nvSpPr>
        <p:spPr>
          <a:xfrm flipV="1">
            <a:off x="983396" y="2173121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69C23D-57B0-F2CA-D0BA-DFFCD371092D}"/>
              </a:ext>
            </a:extLst>
          </p:cNvPr>
          <p:cNvSpPr txBox="1"/>
          <p:nvPr/>
        </p:nvSpPr>
        <p:spPr>
          <a:xfrm>
            <a:off x="1013099" y="2188510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F601923-B6E6-2CB8-7CA9-8CA677FA5865}"/>
              </a:ext>
            </a:extLst>
          </p:cNvPr>
          <p:cNvSpPr txBox="1"/>
          <p:nvPr/>
        </p:nvSpPr>
        <p:spPr>
          <a:xfrm>
            <a:off x="983396" y="2781085"/>
            <a:ext cx="851599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 dirty="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</a:t>
            </a:r>
            <a:endParaRPr lang="en-US" altLang="ko-KR" sz="2000" dirty="0">
              <a:solidFill>
                <a:srgbClr val="005BA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6C759794-81AA-8844-4505-18CC806E1454}"/>
              </a:ext>
            </a:extLst>
          </p:cNvPr>
          <p:cNvCxnSpPr>
            <a:cxnSpLocks/>
          </p:cNvCxnSpPr>
          <p:nvPr/>
        </p:nvCxnSpPr>
        <p:spPr>
          <a:xfrm>
            <a:off x="1055539" y="3300511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8A2C4E1C-5920-38EA-3C94-24D6B20C61BE}"/>
              </a:ext>
            </a:extLst>
          </p:cNvPr>
          <p:cNvSpPr txBox="1"/>
          <p:nvPr/>
        </p:nvSpPr>
        <p:spPr>
          <a:xfrm>
            <a:off x="1013098" y="3419827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>
                <a:solidFill>
                  <a:srgbClr val="333333"/>
                </a:solidFill>
              </a:rPr>
              <a:t>OCR </a:t>
            </a:r>
            <a:r>
              <a:rPr lang="ko-KR" altLang="en-US" dirty="0">
                <a:solidFill>
                  <a:srgbClr val="333333"/>
                </a:solidFill>
              </a:rPr>
              <a:t>기반 입</a:t>
            </a:r>
            <a:r>
              <a:rPr lang="en-US" altLang="ko-KR" dirty="0">
                <a:solidFill>
                  <a:srgbClr val="333333"/>
                </a:solidFill>
              </a:rPr>
              <a:t>·</a:t>
            </a:r>
            <a:r>
              <a:rPr lang="ko-KR" altLang="en-US" dirty="0" err="1">
                <a:solidFill>
                  <a:srgbClr val="333333"/>
                </a:solidFill>
              </a:rPr>
              <a:t>출차</a:t>
            </a:r>
            <a:r>
              <a:rPr lang="ko-KR" altLang="en-US" dirty="0">
                <a:solidFill>
                  <a:srgbClr val="333333"/>
                </a:solidFill>
              </a:rPr>
              <a:t> 시스템</a:t>
            </a:r>
            <a:r>
              <a:rPr lang="en-US" altLang="ko-KR" dirty="0">
                <a:solidFill>
                  <a:srgbClr val="333333"/>
                </a:solidFill>
              </a:rPr>
              <a:t> </a:t>
            </a:r>
            <a:r>
              <a:rPr lang="ko-KR" altLang="en-US" dirty="0">
                <a:solidFill>
                  <a:srgbClr val="333333"/>
                </a:solidFill>
              </a:rPr>
              <a:t>운영 및 예약</a:t>
            </a:r>
            <a:r>
              <a:rPr lang="en-US" altLang="ko-KR" dirty="0">
                <a:solidFill>
                  <a:srgbClr val="333333"/>
                </a:solidFill>
              </a:rPr>
              <a:t>·</a:t>
            </a:r>
            <a:r>
              <a:rPr lang="ko-KR" altLang="en-US" dirty="0">
                <a:solidFill>
                  <a:srgbClr val="333333"/>
                </a:solidFill>
              </a:rPr>
              <a:t>민원 통합 관리를</a:t>
            </a:r>
            <a:endParaRPr lang="en-US" altLang="ko-KR" dirty="0">
              <a:solidFill>
                <a:srgbClr val="333333"/>
              </a:solidFill>
            </a:endParaRPr>
          </a:p>
          <a:p>
            <a:r>
              <a:rPr lang="ko-KR" altLang="en-US" dirty="0">
                <a:solidFill>
                  <a:srgbClr val="333333"/>
                </a:solidFill>
              </a:rPr>
              <a:t>지원하는 스마트 병원 솔루션</a:t>
            </a:r>
            <a:endParaRPr lang="en-US" altLang="ko-KR" dirty="0">
              <a:solidFill>
                <a:srgbClr val="333333"/>
              </a:solidFill>
            </a:endParaRPr>
          </a:p>
        </p:txBody>
      </p:sp>
      <p:sp>
        <p:nvSpPr>
          <p:cNvPr id="82" name="사각형: 둥근 위쪽 모서리 81">
            <a:extLst>
              <a:ext uri="{FF2B5EF4-FFF2-40B4-BE49-F238E27FC236}">
                <a16:creationId xmlns:a16="http://schemas.microsoft.com/office/drawing/2014/main" id="{78B5BFBF-7B9E-6E2B-E62A-C211742FDD52}"/>
              </a:ext>
            </a:extLst>
          </p:cNvPr>
          <p:cNvSpPr/>
          <p:nvPr/>
        </p:nvSpPr>
        <p:spPr>
          <a:xfrm flipV="1">
            <a:off x="4676865" y="2168645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1AD789-8C81-90AD-D95B-89C6218B3D12}"/>
              </a:ext>
            </a:extLst>
          </p:cNvPr>
          <p:cNvSpPr txBox="1"/>
          <p:nvPr/>
        </p:nvSpPr>
        <p:spPr>
          <a:xfrm>
            <a:off x="4706568" y="2184034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2BA775-21A0-48B6-F3CF-B8F10C2A9504}"/>
              </a:ext>
            </a:extLst>
          </p:cNvPr>
          <p:cNvSpPr txBox="1"/>
          <p:nvPr/>
        </p:nvSpPr>
        <p:spPr>
          <a:xfrm>
            <a:off x="4676865" y="2776609"/>
            <a:ext cx="1674774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배경</a:t>
            </a:r>
            <a:endParaRPr lang="en-US" altLang="ko-KR" sz="2000" dirty="0">
              <a:solidFill>
                <a:srgbClr val="005BA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B5FBB7FD-8ED3-C47E-9209-661D8FD82D71}"/>
              </a:ext>
            </a:extLst>
          </p:cNvPr>
          <p:cNvCxnSpPr>
            <a:cxnSpLocks/>
          </p:cNvCxnSpPr>
          <p:nvPr/>
        </p:nvCxnSpPr>
        <p:spPr>
          <a:xfrm>
            <a:off x="4749008" y="3296035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281AA76-1D92-7C1E-48F2-583F74A34F4B}"/>
              </a:ext>
            </a:extLst>
          </p:cNvPr>
          <p:cNvSpPr txBox="1"/>
          <p:nvPr/>
        </p:nvSpPr>
        <p:spPr>
          <a:xfrm>
            <a:off x="4706567" y="3415351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5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웹 통합 병원 시스템 고도화 및 차량 번호판 인식 프로세스 선행 연구를 통한 병원 솔루션 구현</a:t>
            </a:r>
            <a:endParaRPr lang="en-US" altLang="ko-KR" sz="15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8" name="사각형: 둥근 위쪽 모서리 87">
            <a:extLst>
              <a:ext uri="{FF2B5EF4-FFF2-40B4-BE49-F238E27FC236}">
                <a16:creationId xmlns:a16="http://schemas.microsoft.com/office/drawing/2014/main" id="{E1C7CE5E-7F36-CCD2-AD95-25A61F5EA487}"/>
              </a:ext>
            </a:extLst>
          </p:cNvPr>
          <p:cNvSpPr/>
          <p:nvPr/>
        </p:nvSpPr>
        <p:spPr>
          <a:xfrm flipV="1">
            <a:off x="8370334" y="2164169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9EAA152-ED11-3B31-447A-7E02769998D5}"/>
              </a:ext>
            </a:extLst>
          </p:cNvPr>
          <p:cNvSpPr txBox="1"/>
          <p:nvPr/>
        </p:nvSpPr>
        <p:spPr>
          <a:xfrm>
            <a:off x="8400037" y="2179558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58B52E8-B2FF-2931-66A2-D0216777B605}"/>
              </a:ext>
            </a:extLst>
          </p:cNvPr>
          <p:cNvSpPr txBox="1"/>
          <p:nvPr/>
        </p:nvSpPr>
        <p:spPr>
          <a:xfrm>
            <a:off x="8370334" y="2772133"/>
            <a:ext cx="1756892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목적</a:t>
            </a:r>
            <a:endParaRPr lang="en-US" altLang="ko-KR" sz="2000" dirty="0">
              <a:solidFill>
                <a:srgbClr val="005BA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95916542-9D40-02D5-A31B-C389B3D7C367}"/>
              </a:ext>
            </a:extLst>
          </p:cNvPr>
          <p:cNvCxnSpPr>
            <a:cxnSpLocks/>
          </p:cNvCxnSpPr>
          <p:nvPr/>
        </p:nvCxnSpPr>
        <p:spPr>
          <a:xfrm>
            <a:off x="8442477" y="3291559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5DCD97B0-D611-2467-F247-91F439117967}"/>
              </a:ext>
            </a:extLst>
          </p:cNvPr>
          <p:cNvSpPr txBox="1"/>
          <p:nvPr/>
        </p:nvSpPr>
        <p:spPr>
          <a:xfrm>
            <a:off x="8400036" y="3410875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ko-KR" altLang="en-US" dirty="0">
                <a:solidFill>
                  <a:srgbClr val="333333"/>
                </a:solidFill>
              </a:rPr>
              <a:t>환자 중심 서비스 접근성</a:t>
            </a:r>
            <a:r>
              <a:rPr lang="en-US" altLang="ko-KR" dirty="0">
                <a:solidFill>
                  <a:srgbClr val="333333"/>
                </a:solidFill>
              </a:rPr>
              <a:t>·</a:t>
            </a:r>
            <a:r>
              <a:rPr lang="ko-KR" altLang="en-US" dirty="0">
                <a:solidFill>
                  <a:srgbClr val="333333"/>
                </a:solidFill>
              </a:rPr>
              <a:t>편의성 강화 및 고도화된 보안 기반</a:t>
            </a:r>
            <a:endParaRPr lang="en-US" altLang="ko-KR" dirty="0">
              <a:solidFill>
                <a:srgbClr val="333333"/>
              </a:solidFill>
            </a:endParaRPr>
          </a:p>
          <a:p>
            <a:r>
              <a:rPr lang="ko-KR" altLang="en-US" dirty="0">
                <a:solidFill>
                  <a:srgbClr val="333333"/>
                </a:solidFill>
              </a:rPr>
              <a:t>행정 최적화</a:t>
            </a:r>
            <a:endParaRPr lang="en-US" altLang="ko-KR" dirty="0">
              <a:solidFill>
                <a:srgbClr val="333333"/>
              </a:solidFill>
            </a:endParaRPr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0683F2D2-1885-6E49-4412-C3D0E1B5CCBF}"/>
              </a:ext>
            </a:extLst>
          </p:cNvPr>
          <p:cNvGrpSpPr/>
          <p:nvPr/>
        </p:nvGrpSpPr>
        <p:grpSpPr>
          <a:xfrm>
            <a:off x="2213406" y="4298572"/>
            <a:ext cx="234000" cy="234000"/>
            <a:chOff x="2213406" y="4380547"/>
            <a:chExt cx="234000" cy="234000"/>
          </a:xfrm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9D818853-7FAC-6D18-E128-A5C75B7FA1BA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77E76060-29B0-2E01-893F-52DC786A27AE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FE1B00D0-B56A-19D3-F11F-26DA9FE4CAB1}"/>
              </a:ext>
            </a:extLst>
          </p:cNvPr>
          <p:cNvGrpSpPr/>
          <p:nvPr/>
        </p:nvGrpSpPr>
        <p:grpSpPr>
          <a:xfrm>
            <a:off x="5979000" y="4298572"/>
            <a:ext cx="234000" cy="234000"/>
            <a:chOff x="2213406" y="4380547"/>
            <a:chExt cx="234000" cy="234000"/>
          </a:xfrm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9534CD63-2B46-AE37-4AA3-D6B2E4E3911C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07FB2564-A757-EBE3-A9D3-98AD0B122E19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FD50ED4D-EBFA-D32C-3612-510369278C59}"/>
              </a:ext>
            </a:extLst>
          </p:cNvPr>
          <p:cNvGrpSpPr/>
          <p:nvPr/>
        </p:nvGrpSpPr>
        <p:grpSpPr>
          <a:xfrm>
            <a:off x="9738346" y="4298572"/>
            <a:ext cx="234000" cy="234000"/>
            <a:chOff x="2213406" y="4380547"/>
            <a:chExt cx="234000" cy="234000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F27D7BAA-EE34-5094-9351-836C8949D805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5B704159-707D-D6AC-332E-30B851B44E5E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왼쪽 대괄호 102">
            <a:extLst>
              <a:ext uri="{FF2B5EF4-FFF2-40B4-BE49-F238E27FC236}">
                <a16:creationId xmlns:a16="http://schemas.microsoft.com/office/drawing/2014/main" id="{B537A6B7-6EE0-1222-FEA4-B65B63BF5890}"/>
              </a:ext>
            </a:extLst>
          </p:cNvPr>
          <p:cNvSpPr/>
          <p:nvPr/>
        </p:nvSpPr>
        <p:spPr>
          <a:xfrm rot="16200000">
            <a:off x="5975407" y="766743"/>
            <a:ext cx="233999" cy="7524000"/>
          </a:xfrm>
          <a:prstGeom prst="leftBracket">
            <a:avLst>
              <a:gd name="adj" fmla="val 210622"/>
            </a:avLst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C0C01708-D388-6763-95BF-642DD9B4654C}"/>
              </a:ext>
            </a:extLst>
          </p:cNvPr>
          <p:cNvCxnSpPr>
            <a:cxnSpLocks/>
            <a:stCxn id="99" idx="0"/>
          </p:cNvCxnSpPr>
          <p:nvPr/>
        </p:nvCxnSpPr>
        <p:spPr>
          <a:xfrm>
            <a:off x="6096000" y="4379572"/>
            <a:ext cx="0" cy="1072692"/>
          </a:xfrm>
          <a:prstGeom prst="line">
            <a:avLst/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B691EB9-78F4-F907-F693-814710BBAB2C}"/>
              </a:ext>
            </a:extLst>
          </p:cNvPr>
          <p:cNvSpPr txBox="1"/>
          <p:nvPr/>
        </p:nvSpPr>
        <p:spPr>
          <a:xfrm>
            <a:off x="803548" y="5546714"/>
            <a:ext cx="1058494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1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“ </a:t>
            </a:r>
            <a:r>
              <a:rPr lang="ko-KR" altLang="en-US" sz="21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번호판 인식 기반 주차 최적화 및 체계적인 보안 권한이 조화된 통합 스마트 병원 시스템 </a:t>
            </a:r>
            <a:r>
              <a:rPr lang="en-US" altLang="ko-KR" sz="21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”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4E4C2F3-8184-3ED1-066F-9A87270DE2AE}"/>
              </a:ext>
            </a:extLst>
          </p:cNvPr>
          <p:cNvSpPr txBox="1"/>
          <p:nvPr/>
        </p:nvSpPr>
        <p:spPr>
          <a:xfrm>
            <a:off x="1352242" y="440494"/>
            <a:ext cx="2853983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개요 </a:t>
            </a:r>
          </a:p>
        </p:txBody>
      </p:sp>
      <p:sp>
        <p:nvSpPr>
          <p:cNvPr id="107" name="화살표: 오각형 106">
            <a:extLst>
              <a:ext uri="{FF2B5EF4-FFF2-40B4-BE49-F238E27FC236}">
                <a16:creationId xmlns:a16="http://schemas.microsoft.com/office/drawing/2014/main" id="{2DB324CE-53F8-E38D-546F-98D53B53B67D}"/>
              </a:ext>
            </a:extLst>
          </p:cNvPr>
          <p:cNvSpPr/>
          <p:nvPr/>
        </p:nvSpPr>
        <p:spPr>
          <a:xfrm rot="5400000">
            <a:off x="120282" y="645145"/>
            <a:ext cx="1666822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14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화살표: 오각형 56">
            <a:extLst>
              <a:ext uri="{FF2B5EF4-FFF2-40B4-BE49-F238E27FC236}">
                <a16:creationId xmlns:a16="http://schemas.microsoft.com/office/drawing/2014/main" id="{18ED55FE-27F4-5718-7A58-7DB0FA576B45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F73035-99FB-8F6E-C8A0-F7FB72B67B1F}"/>
              </a:ext>
            </a:extLst>
          </p:cNvPr>
          <p:cNvSpPr txBox="1"/>
          <p:nvPr/>
        </p:nvSpPr>
        <p:spPr>
          <a:xfrm>
            <a:off x="1395362" y="1318328"/>
            <a:ext cx="24247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주요 기능 및 운영 로직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B8EF729-3948-983C-AF70-BFC02C59D88F}"/>
              </a:ext>
            </a:extLst>
          </p:cNvPr>
          <p:cNvSpPr txBox="1"/>
          <p:nvPr/>
        </p:nvSpPr>
        <p:spPr>
          <a:xfrm>
            <a:off x="1352242" y="716672"/>
            <a:ext cx="396700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주요 기능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CAE7245-A799-57C9-DB7F-3ADCBA1D4B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13" b="6822"/>
          <a:stretch/>
        </p:blipFill>
        <p:spPr>
          <a:xfrm>
            <a:off x="398004" y="2587726"/>
            <a:ext cx="2494278" cy="18528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8A922D-FBA4-9A62-2114-0D8CF0B84F2B}"/>
              </a:ext>
            </a:extLst>
          </p:cNvPr>
          <p:cNvSpPr txBox="1"/>
          <p:nvPr/>
        </p:nvSpPr>
        <p:spPr>
          <a:xfrm>
            <a:off x="414879" y="5029898"/>
            <a:ext cx="2630154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en-US" altLang="ko-KR" sz="2100" dirty="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sz="2100" dirty="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엔진 기반</a:t>
            </a:r>
            <a:endParaRPr lang="en-US" altLang="ko-KR" sz="2100" dirty="0">
              <a:solidFill>
                <a:srgbClr val="005BAA"/>
              </a:solidFill>
              <a:effectLst>
                <a:outerShdw blurRad="38100" dist="38100" dir="2700000" algn="tl">
                  <a:srgbClr val="000000">
                    <a:alpha val="31000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sz="2100" dirty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차량 번호 자동 판독</a:t>
            </a:r>
            <a:endParaRPr lang="en-US" altLang="ko-KR" sz="2100" dirty="0">
              <a:solidFill>
                <a:srgbClr val="333333"/>
              </a:solidFill>
              <a:effectLst>
                <a:outerShdw blurRad="38100" dist="38100" dir="2700000" algn="tl">
                  <a:srgbClr val="000000">
                    <a:alpha val="31000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0BAD13B-0F1A-0798-A7FB-AC6AEB802A46}"/>
              </a:ext>
            </a:extLst>
          </p:cNvPr>
          <p:cNvSpPr txBox="1"/>
          <p:nvPr/>
        </p:nvSpPr>
        <p:spPr>
          <a:xfrm>
            <a:off x="567630" y="4515950"/>
            <a:ext cx="2324651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LICENSE PLATE OCR</a:t>
            </a:r>
            <a:endParaRPr lang="en-US" altLang="ko-KR" sz="1200" dirty="0">
              <a:solidFill>
                <a:srgbClr val="555555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496CC033-36C1-9AD3-0860-7AB741A323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t="12390" r="2338" b="21001"/>
          <a:stretch/>
        </p:blipFill>
        <p:spPr>
          <a:xfrm>
            <a:off x="6451750" y="2587726"/>
            <a:ext cx="1820796" cy="149765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CBD4FB0F-5AC0-81CE-CEA8-7A50FD6D52B7}"/>
              </a:ext>
            </a:extLst>
          </p:cNvPr>
          <p:cNvSpPr txBox="1"/>
          <p:nvPr/>
        </p:nvSpPr>
        <p:spPr>
          <a:xfrm>
            <a:off x="5943536" y="5029897"/>
            <a:ext cx="2837225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진료 데이터 연동 기반</a:t>
            </a:r>
            <a:endParaRPr lang="en-US" altLang="ko-KR" sz="2100" dirty="0">
              <a:solidFill>
                <a:srgbClr val="333333"/>
              </a:solidFill>
              <a:effectLst>
                <a:outerShdw blurRad="38100" dist="38100" dir="2700000" algn="tl">
                  <a:srgbClr val="000000">
                    <a:alpha val="31000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sz="2100" dirty="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예약 시스템</a:t>
            </a:r>
            <a:endParaRPr lang="en-US" altLang="ko-KR" sz="2100" dirty="0">
              <a:solidFill>
                <a:srgbClr val="005BAA"/>
              </a:solidFill>
              <a:effectLst>
                <a:outerShdw blurRad="38100" dist="38100" dir="2700000" algn="tl">
                  <a:srgbClr val="000000">
                    <a:alpha val="31000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1E0E71C-9345-7D3E-071C-7437E9828D2D}"/>
              </a:ext>
            </a:extLst>
          </p:cNvPr>
          <p:cNvSpPr txBox="1"/>
          <p:nvPr/>
        </p:nvSpPr>
        <p:spPr>
          <a:xfrm>
            <a:off x="3184314" y="4515949"/>
            <a:ext cx="2619939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AUTO PARKING MAPPING</a:t>
            </a: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D6BEBA66-3B9E-70AF-F40E-DB148E5EF6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47" b="18447"/>
          <a:stretch/>
        </p:blipFill>
        <p:spPr>
          <a:xfrm>
            <a:off x="3290982" y="2340780"/>
            <a:ext cx="2406606" cy="178770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1223940-A381-630F-C626-E7B8A6A9FFD4}"/>
              </a:ext>
            </a:extLst>
          </p:cNvPr>
          <p:cNvSpPr txBox="1"/>
          <p:nvPr/>
        </p:nvSpPr>
        <p:spPr>
          <a:xfrm>
            <a:off x="3150307" y="5029899"/>
            <a:ext cx="2687955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동선 최적화형</a:t>
            </a:r>
            <a:endParaRPr lang="en-US" altLang="ko-KR" sz="2100" dirty="0">
              <a:solidFill>
                <a:srgbClr val="333333"/>
              </a:solidFill>
              <a:effectLst>
                <a:outerShdw blurRad="38100" dist="38100" dir="2700000" algn="tl">
                  <a:srgbClr val="000000">
                    <a:alpha val="31000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sz="2100" dirty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주차 구역 </a:t>
            </a:r>
            <a:r>
              <a:rPr lang="ko-KR" altLang="en-US" sz="2100" dirty="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자동 매핑</a:t>
            </a:r>
            <a:endParaRPr lang="en-US" altLang="ko-KR" sz="2100" dirty="0">
              <a:solidFill>
                <a:srgbClr val="005BAA"/>
              </a:solidFill>
              <a:effectLst>
                <a:outerShdw blurRad="38100" dist="38100" dir="2700000" algn="tl">
                  <a:srgbClr val="000000">
                    <a:alpha val="31000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8D1ED6E-F839-9A1A-7B4F-81E0654461CC}"/>
              </a:ext>
            </a:extLst>
          </p:cNvPr>
          <p:cNvSpPr txBox="1"/>
          <p:nvPr/>
        </p:nvSpPr>
        <p:spPr>
          <a:xfrm>
            <a:off x="6118425" y="4515951"/>
            <a:ext cx="2487445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RESERVATION SYSTEM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2644D796-2033-A811-04C6-83CDC418D8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41" b="4541"/>
          <a:stretch/>
        </p:blipFill>
        <p:spPr>
          <a:xfrm>
            <a:off x="9174058" y="1656884"/>
            <a:ext cx="2619939" cy="280387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E1347E7B-A2AF-A300-6321-231981D6E6DF}"/>
              </a:ext>
            </a:extLst>
          </p:cNvPr>
          <p:cNvSpPr txBox="1"/>
          <p:nvPr/>
        </p:nvSpPr>
        <p:spPr>
          <a:xfrm>
            <a:off x="8886035" y="5029897"/>
            <a:ext cx="2891087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권한별 접근 제어 기반</a:t>
            </a:r>
            <a:endParaRPr lang="en-US" altLang="ko-KR" sz="2100" dirty="0">
              <a:solidFill>
                <a:srgbClr val="333333"/>
              </a:solidFill>
              <a:effectLst>
                <a:outerShdw blurRad="38100" dist="38100" dir="2700000" algn="tl">
                  <a:srgbClr val="000000">
                    <a:alpha val="31000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en-US" altLang="ko-KR" sz="2100" dirty="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VOC </a:t>
            </a:r>
            <a:r>
              <a:rPr lang="ko-KR" altLang="en-US" sz="2100" dirty="0">
                <a:solidFill>
                  <a:srgbClr val="005BAA"/>
                </a:solidFill>
                <a:effectLst>
                  <a:outerShdw blurRad="38100" dist="38100" dir="2700000" algn="tl">
                    <a:srgbClr val="000000">
                      <a:alpha val="31000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관리</a:t>
            </a:r>
            <a:endParaRPr lang="en-US" altLang="ko-KR" sz="2100" dirty="0">
              <a:solidFill>
                <a:srgbClr val="005BAA"/>
              </a:solidFill>
              <a:effectLst>
                <a:outerShdw blurRad="38100" dist="38100" dir="2700000" algn="tl">
                  <a:srgbClr val="000000">
                    <a:alpha val="31000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99B6BB-32C7-3F82-8D12-60E9283C49B8}"/>
              </a:ext>
            </a:extLst>
          </p:cNvPr>
          <p:cNvSpPr txBox="1"/>
          <p:nvPr/>
        </p:nvSpPr>
        <p:spPr>
          <a:xfrm>
            <a:off x="8886036" y="4515949"/>
            <a:ext cx="2891086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ROLE-BASED MANAGEMENT</a:t>
            </a:r>
            <a:endParaRPr lang="en-US" altLang="ko-KR" sz="1200" dirty="0">
              <a:solidFill>
                <a:srgbClr val="555555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8613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4D7-4B91-3865-780C-2871F851E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F6CD4991-1973-2B01-423D-E41AC3F11430}"/>
              </a:ext>
            </a:extLst>
          </p:cNvPr>
          <p:cNvSpPr/>
          <p:nvPr/>
        </p:nvSpPr>
        <p:spPr>
          <a:xfrm>
            <a:off x="774812" y="5097033"/>
            <a:ext cx="1382731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271056B-0F43-AD83-AC45-5253904B4FEC}"/>
              </a:ext>
            </a:extLst>
          </p:cNvPr>
          <p:cNvSpPr/>
          <p:nvPr/>
        </p:nvSpPr>
        <p:spPr>
          <a:xfrm>
            <a:off x="593014" y="5517564"/>
            <a:ext cx="1746326" cy="1056602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4716EE-283A-2980-B414-DB095AD9EEE0}"/>
              </a:ext>
            </a:extLst>
          </p:cNvPr>
          <p:cNvSpPr txBox="1"/>
          <p:nvPr/>
        </p:nvSpPr>
        <p:spPr>
          <a:xfrm>
            <a:off x="1395362" y="1318328"/>
            <a:ext cx="4233278" cy="369332"/>
          </a:xfrm>
          <a:prstGeom prst="rect">
            <a:avLst/>
          </a:prstGeom>
          <a:noFill/>
        </p:spPr>
        <p:txBody>
          <a:bodyPr wrap="square" lIns="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아키텍처 및 모듈별 연동 기술 사양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C1E670-D605-A5D3-9FBA-2B7860FD855C}"/>
              </a:ext>
            </a:extLst>
          </p:cNvPr>
          <p:cNvSpPr txBox="1"/>
          <p:nvPr/>
        </p:nvSpPr>
        <p:spPr>
          <a:xfrm>
            <a:off x="1352242" y="716672"/>
            <a:ext cx="5227234" cy="646331"/>
          </a:xfrm>
          <a:prstGeom prst="rect">
            <a:avLst/>
          </a:prstGeom>
          <a:noFill/>
        </p:spPr>
        <p:txBody>
          <a:bodyPr wrap="square" lIns="0" rIns="0" spcCol="216000" rtlCol="0">
            <a:spAutoFit/>
          </a:bodyPr>
          <a:lstStyle/>
          <a:p>
            <a:r>
              <a:rPr lang="ko-KR" altLang="en-US" sz="360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개발 스택</a:t>
            </a:r>
            <a:r>
              <a:rPr lang="en-US" altLang="ko-KR" sz="360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(Tech Stack)</a:t>
            </a:r>
            <a:endParaRPr lang="ko-KR" altLang="en-US" sz="3600" dirty="0">
              <a:solidFill>
                <a:srgbClr val="22222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44C57F44-E9B9-6C74-5C9E-6F37DC16DF20}"/>
              </a:ext>
            </a:extLst>
          </p:cNvPr>
          <p:cNvSpPr/>
          <p:nvPr/>
        </p:nvSpPr>
        <p:spPr>
          <a:xfrm rot="5400000">
            <a:off x="120282" y="645145"/>
            <a:ext cx="1666822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4D6D79F-733E-EB8B-AFF1-27B20F308418}"/>
              </a:ext>
            </a:extLst>
          </p:cNvPr>
          <p:cNvSpPr/>
          <p:nvPr/>
        </p:nvSpPr>
        <p:spPr>
          <a:xfrm>
            <a:off x="8773166" y="4617999"/>
            <a:ext cx="2371533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74129E-4A43-A6BF-9998-1CC93AF75729}"/>
              </a:ext>
            </a:extLst>
          </p:cNvPr>
          <p:cNvSpPr/>
          <p:nvPr/>
        </p:nvSpPr>
        <p:spPr>
          <a:xfrm>
            <a:off x="8318878" y="5075189"/>
            <a:ext cx="3280108" cy="1498977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7014419-D96D-389A-C3F1-49996D311043}"/>
              </a:ext>
            </a:extLst>
          </p:cNvPr>
          <p:cNvSpPr/>
          <p:nvPr/>
        </p:nvSpPr>
        <p:spPr>
          <a:xfrm>
            <a:off x="4808848" y="4623448"/>
            <a:ext cx="2371533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B132CFB-EDAA-7DA9-F26A-042BDD01D6F8}"/>
              </a:ext>
            </a:extLst>
          </p:cNvPr>
          <p:cNvSpPr/>
          <p:nvPr/>
        </p:nvSpPr>
        <p:spPr>
          <a:xfrm>
            <a:off x="4354560" y="5080638"/>
            <a:ext cx="3280108" cy="1498977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4BF72AC-DEFA-A213-4D99-9FF93DF40CAB}"/>
              </a:ext>
            </a:extLst>
          </p:cNvPr>
          <p:cNvSpPr/>
          <p:nvPr/>
        </p:nvSpPr>
        <p:spPr>
          <a:xfrm>
            <a:off x="8773166" y="1826292"/>
            <a:ext cx="2371533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151EB51-4C26-CB63-1044-26A6C2C8D6F3}"/>
              </a:ext>
            </a:extLst>
          </p:cNvPr>
          <p:cNvSpPr/>
          <p:nvPr/>
        </p:nvSpPr>
        <p:spPr>
          <a:xfrm>
            <a:off x="8318878" y="2283482"/>
            <a:ext cx="3280108" cy="2000108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007C16E-7503-53C1-E8EE-47D19E1F11AB}"/>
              </a:ext>
            </a:extLst>
          </p:cNvPr>
          <p:cNvSpPr/>
          <p:nvPr/>
        </p:nvSpPr>
        <p:spPr>
          <a:xfrm>
            <a:off x="4808848" y="1826599"/>
            <a:ext cx="2371533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FBE7D7-85C3-526A-BE8E-B00EE41BF695}"/>
              </a:ext>
            </a:extLst>
          </p:cNvPr>
          <p:cNvSpPr/>
          <p:nvPr/>
        </p:nvSpPr>
        <p:spPr>
          <a:xfrm>
            <a:off x="4354560" y="2283789"/>
            <a:ext cx="3280108" cy="2000108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28BCC6F-9234-73BE-A54B-15845272B112}"/>
              </a:ext>
            </a:extLst>
          </p:cNvPr>
          <p:cNvSpPr/>
          <p:nvPr/>
        </p:nvSpPr>
        <p:spPr>
          <a:xfrm>
            <a:off x="856665" y="1831741"/>
            <a:ext cx="2371533" cy="502036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75F0795-3992-450C-4C15-8363BCF25826}"/>
              </a:ext>
            </a:extLst>
          </p:cNvPr>
          <p:cNvSpPr/>
          <p:nvPr/>
        </p:nvSpPr>
        <p:spPr>
          <a:xfrm>
            <a:off x="593015" y="2283484"/>
            <a:ext cx="2898832" cy="2602494"/>
          </a:xfrm>
          <a:prstGeom prst="roundRect">
            <a:avLst>
              <a:gd name="adj" fmla="val 682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8EC609-BB93-ED3C-B5D2-C8DAE0184976}"/>
              </a:ext>
            </a:extLst>
          </p:cNvPr>
          <p:cNvSpPr txBox="1"/>
          <p:nvPr/>
        </p:nvSpPr>
        <p:spPr>
          <a:xfrm>
            <a:off x="1311380" y="1885064"/>
            <a:ext cx="1462102" cy="400110"/>
          </a:xfrm>
          <a:prstGeom prst="rect">
            <a:avLst/>
          </a:prstGeom>
          <a:noFill/>
        </p:spPr>
        <p:txBody>
          <a:bodyPr wrap="square" lIns="0" rIns="0" spcCol="216000" rtlCol="0" anchor="ctr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Front-end</a:t>
            </a:r>
            <a:endParaRPr lang="ko-KR" altLang="en-US" sz="18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B281B7C-4902-B2A5-7994-1592549DE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84" y="3172441"/>
            <a:ext cx="550333" cy="54262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C7554CE-EA9F-301B-DE7D-09A0A753F3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4556" y="3294008"/>
            <a:ext cx="1236936" cy="31665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그래픽 21">
            <a:extLst>
              <a:ext uri="{FF2B5EF4-FFF2-40B4-BE49-F238E27FC236}">
                <a16:creationId xmlns:a16="http://schemas.microsoft.com/office/drawing/2014/main" id="{C1BBF7A7-E4DB-C675-FBF1-8FAD3B6F6A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5580" y="2420170"/>
            <a:ext cx="1772098" cy="530966"/>
          </a:xfrm>
          <a:prstGeom prst="rect">
            <a:avLst/>
          </a:prstGeom>
          <a:effectLst/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FDC8EB06-1A06-EFF2-0E2A-52722E1F64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948" y="3153485"/>
            <a:ext cx="625258" cy="625258"/>
          </a:xfrm>
          <a:prstGeom prst="rect">
            <a:avLst/>
          </a:prstGeom>
          <a:effectLst/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FAB4DC8C-CA55-0F89-6036-FD517CA9CF6A}"/>
              </a:ext>
            </a:extLst>
          </p:cNvPr>
          <p:cNvSpPr txBox="1"/>
          <p:nvPr/>
        </p:nvSpPr>
        <p:spPr>
          <a:xfrm>
            <a:off x="5263563" y="1894896"/>
            <a:ext cx="1462102" cy="400110"/>
          </a:xfrm>
          <a:prstGeom prst="rect">
            <a:avLst/>
          </a:prstGeom>
          <a:noFill/>
        </p:spPr>
        <p:txBody>
          <a:bodyPr wrap="square" lIns="0" rIns="0" spcCol="216000" rtlCol="0" anchor="ctr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Back-end</a:t>
            </a:r>
            <a:endParaRPr lang="ko-KR" altLang="en-US" sz="18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30" name="Picture 6" descr="Spring Boot (symbol) logo">
            <a:extLst>
              <a:ext uri="{FF2B5EF4-FFF2-40B4-BE49-F238E27FC236}">
                <a16:creationId xmlns:a16="http://schemas.microsoft.com/office/drawing/2014/main" id="{B16622C7-909D-46C0-3AE6-CEF681AF9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7289" y="2375767"/>
            <a:ext cx="595735" cy="595735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D8932AEE-1572-726E-011F-446DE49F319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30" r="8927"/>
          <a:stretch/>
        </p:blipFill>
        <p:spPr>
          <a:xfrm>
            <a:off x="6470517" y="2941139"/>
            <a:ext cx="946087" cy="1213799"/>
          </a:xfrm>
          <a:prstGeom prst="rect">
            <a:avLst/>
          </a:prstGeom>
          <a:effectLst/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4797514B-54DE-0598-31EA-BC9728CB33D8}"/>
              </a:ext>
            </a:extLst>
          </p:cNvPr>
          <p:cNvSpPr txBox="1"/>
          <p:nvPr/>
        </p:nvSpPr>
        <p:spPr>
          <a:xfrm>
            <a:off x="9132105" y="1894896"/>
            <a:ext cx="1653655" cy="400110"/>
          </a:xfrm>
          <a:prstGeom prst="rect">
            <a:avLst/>
          </a:prstGeom>
          <a:noFill/>
        </p:spPr>
        <p:txBody>
          <a:bodyPr wrap="square" lIns="0" rIns="0" spcCol="216000" rtlCol="0" anchor="ctr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DB</a:t>
            </a:r>
            <a:endParaRPr lang="ko-KR" altLang="en-US" sz="18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97BDA54B-5ADA-DA66-6D94-2552420006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8480" y="2623171"/>
            <a:ext cx="692923" cy="71459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25B57479-51C5-3188-0141-D60BAA09495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0982" y="3496081"/>
            <a:ext cx="2403874" cy="604400"/>
          </a:xfrm>
          <a:prstGeom prst="rect">
            <a:avLst/>
          </a:prstGeom>
          <a:effectLst/>
        </p:spPr>
      </p:pic>
      <p:sp>
        <p:nvSpPr>
          <p:cNvPr id="1032" name="TextBox 1031">
            <a:extLst>
              <a:ext uri="{FF2B5EF4-FFF2-40B4-BE49-F238E27FC236}">
                <a16:creationId xmlns:a16="http://schemas.microsoft.com/office/drawing/2014/main" id="{4A9463C2-0C4E-2796-4F0B-4583B6EEEAD4}"/>
              </a:ext>
            </a:extLst>
          </p:cNvPr>
          <p:cNvSpPr txBox="1"/>
          <p:nvPr/>
        </p:nvSpPr>
        <p:spPr>
          <a:xfrm>
            <a:off x="5263563" y="4686603"/>
            <a:ext cx="1462102" cy="400110"/>
          </a:xfrm>
          <a:prstGeom prst="rect">
            <a:avLst/>
          </a:prstGeom>
          <a:noFill/>
        </p:spPr>
        <p:txBody>
          <a:bodyPr wrap="square" lIns="0" rIns="0" spcCol="216000" rtlCol="0" anchor="ctr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</a:t>
            </a:r>
            <a:endParaRPr lang="ko-KR" altLang="en-US" sz="18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BBEE9B3C-64A9-72D9-CFF0-A6F95126E3DA}"/>
              </a:ext>
            </a:extLst>
          </p:cNvPr>
          <p:cNvSpPr txBox="1"/>
          <p:nvPr/>
        </p:nvSpPr>
        <p:spPr>
          <a:xfrm>
            <a:off x="9227881" y="4686603"/>
            <a:ext cx="1462102" cy="400110"/>
          </a:xfrm>
          <a:prstGeom prst="rect">
            <a:avLst/>
          </a:prstGeom>
          <a:noFill/>
        </p:spPr>
        <p:txBody>
          <a:bodyPr wrap="square" lIns="0" rIns="0" spcCol="216000" rtlCol="0" anchor="ctr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 Test</a:t>
            </a:r>
            <a:endParaRPr lang="ko-KR" altLang="en-US" sz="18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4845448-B4E2-A219-0C3D-31B16D9763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7635" y="5752642"/>
            <a:ext cx="1534398" cy="679520"/>
          </a:xfrm>
          <a:prstGeom prst="rect">
            <a:avLst/>
          </a:prstGeom>
          <a:effectLst/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806B8ACA-EB12-43BF-E967-7A31709000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39" b="34152"/>
          <a:stretch/>
        </p:blipFill>
        <p:spPr>
          <a:xfrm>
            <a:off x="5155990" y="5258810"/>
            <a:ext cx="1573984" cy="386249"/>
          </a:xfrm>
          <a:prstGeom prst="rect">
            <a:avLst/>
          </a:prstGeom>
          <a:effectLst/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332248F6-5F4F-4A8B-62BE-760809590A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7087" y="5336510"/>
            <a:ext cx="1228690" cy="37500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D0E394E1-3245-2C10-9574-DE808BE1A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2372" y="5899019"/>
            <a:ext cx="1538121" cy="43696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C1A77D9-AAE0-9BB9-64EE-752268CBBCE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283" y="2480024"/>
            <a:ext cx="506857" cy="506857"/>
          </a:xfrm>
          <a:prstGeom prst="rect">
            <a:avLst/>
          </a:prstGeom>
          <a:effectLst/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4613670-2F2C-E30E-D954-9CB15EA27FB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37" t="3189" r="30937" b="3269"/>
          <a:stretch/>
        </p:blipFill>
        <p:spPr>
          <a:xfrm>
            <a:off x="1743483" y="3879929"/>
            <a:ext cx="574947" cy="793474"/>
          </a:xfrm>
          <a:prstGeom prst="rect">
            <a:avLst/>
          </a:prstGeom>
          <a:effectLst/>
        </p:spPr>
      </p:pic>
      <p:pic>
        <p:nvPicPr>
          <p:cNvPr id="13" name="그래픽 12">
            <a:extLst>
              <a:ext uri="{FF2B5EF4-FFF2-40B4-BE49-F238E27FC236}">
                <a16:creationId xmlns:a16="http://schemas.microsoft.com/office/drawing/2014/main" id="{0F7942A3-C8E2-3E4E-90FA-51DDD788FBD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85899" y="5186279"/>
            <a:ext cx="674903" cy="125532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BBEA7E4-98A1-0447-CD91-F7F86EAEB83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207" y="5726301"/>
            <a:ext cx="643939" cy="64393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8C2F3D6D-4A8F-93F5-EB4A-48605BD65A7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75" t="24959" r="7021" b="22449"/>
          <a:stretch/>
        </p:blipFill>
        <p:spPr>
          <a:xfrm>
            <a:off x="9442530" y="2587101"/>
            <a:ext cx="1143373" cy="73151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7ACAE0A-ED90-C7F2-15FD-DA3CFCE204F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7327" y="2575560"/>
            <a:ext cx="789794" cy="789794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190BD480-89B9-62F3-D76D-B4B495EF7AC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1088" y="3099473"/>
            <a:ext cx="595735" cy="59573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7E8D00F5-A92F-E85A-CB66-FD9F1C4F7BB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208" y="3744730"/>
            <a:ext cx="1626807" cy="41178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C57A92A6-921D-F009-339E-E45F7C358C23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623" y="3019545"/>
            <a:ext cx="940107" cy="669826"/>
          </a:xfrm>
          <a:prstGeom prst="rect">
            <a:avLst/>
          </a:prstGeom>
        </p:spPr>
      </p:pic>
      <p:pic>
        <p:nvPicPr>
          <p:cNvPr id="45" name="그래픽 44">
            <a:extLst>
              <a:ext uri="{FF2B5EF4-FFF2-40B4-BE49-F238E27FC236}">
                <a16:creationId xmlns:a16="http://schemas.microsoft.com/office/drawing/2014/main" id="{1846D381-512F-D825-2369-9F583E37E934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203956" y="2375588"/>
            <a:ext cx="663374" cy="595735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A6666F8-6083-4A3E-4C68-2E73DE1D3EC4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121" y="3879930"/>
            <a:ext cx="733032" cy="793473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D6BF7715-F78B-E267-9F1D-ACE3FBCA8A30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318" y="3879929"/>
            <a:ext cx="793474" cy="793474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5F4377A5-C409-089E-E1EF-635148FCFB29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9104" y="5653559"/>
            <a:ext cx="726174" cy="403430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1CBFA641-0FF6-E20F-FBB6-684A94B341C9}"/>
              </a:ext>
            </a:extLst>
          </p:cNvPr>
          <p:cNvSpPr txBox="1"/>
          <p:nvPr/>
        </p:nvSpPr>
        <p:spPr>
          <a:xfrm>
            <a:off x="1038013" y="5160188"/>
            <a:ext cx="856329" cy="400110"/>
          </a:xfrm>
          <a:prstGeom prst="rect">
            <a:avLst/>
          </a:prstGeom>
          <a:noFill/>
        </p:spPr>
        <p:txBody>
          <a:bodyPr wrap="square" lIns="0" rIns="0" spcCol="216000" rtlCol="0" anchor="ctr" anchorCtr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</a:t>
            </a:r>
            <a:endParaRPr lang="ko-KR" altLang="en-US" sz="18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37" name="화살표: 왼쪽/오른쪽 1036">
            <a:extLst>
              <a:ext uri="{FF2B5EF4-FFF2-40B4-BE49-F238E27FC236}">
                <a16:creationId xmlns:a16="http://schemas.microsoft.com/office/drawing/2014/main" id="{3B5F0081-02AD-E4DF-231C-F95E735177E8}"/>
              </a:ext>
            </a:extLst>
          </p:cNvPr>
          <p:cNvSpPr/>
          <p:nvPr/>
        </p:nvSpPr>
        <p:spPr>
          <a:xfrm>
            <a:off x="3456320" y="3340399"/>
            <a:ext cx="929198" cy="245381"/>
          </a:xfrm>
          <a:prstGeom prst="leftRightArrow">
            <a:avLst>
              <a:gd name="adj1" fmla="val 31605"/>
              <a:gd name="adj2" fmla="val 96174"/>
            </a:avLst>
          </a:prstGeom>
          <a:solidFill>
            <a:srgbClr val="FBB9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화살표: 왼쪽/오른쪽 58">
            <a:extLst>
              <a:ext uri="{FF2B5EF4-FFF2-40B4-BE49-F238E27FC236}">
                <a16:creationId xmlns:a16="http://schemas.microsoft.com/office/drawing/2014/main" id="{AE24FCD1-1D5F-84D8-78EC-C23B85DF9C6F}"/>
              </a:ext>
            </a:extLst>
          </p:cNvPr>
          <p:cNvSpPr/>
          <p:nvPr/>
        </p:nvSpPr>
        <p:spPr>
          <a:xfrm>
            <a:off x="7529679" y="3340399"/>
            <a:ext cx="929198" cy="245381"/>
          </a:xfrm>
          <a:prstGeom prst="leftRightArrow">
            <a:avLst>
              <a:gd name="adj1" fmla="val 31605"/>
              <a:gd name="adj2" fmla="val 96174"/>
            </a:avLst>
          </a:prstGeom>
          <a:solidFill>
            <a:srgbClr val="FBB9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화살표: 왼쪽/오른쪽 59">
            <a:extLst>
              <a:ext uri="{FF2B5EF4-FFF2-40B4-BE49-F238E27FC236}">
                <a16:creationId xmlns:a16="http://schemas.microsoft.com/office/drawing/2014/main" id="{2B79A6FD-3972-F017-0054-EFC1C1FD037C}"/>
              </a:ext>
            </a:extLst>
          </p:cNvPr>
          <p:cNvSpPr/>
          <p:nvPr/>
        </p:nvSpPr>
        <p:spPr>
          <a:xfrm rot="5400000">
            <a:off x="4173293" y="4563913"/>
            <a:ext cx="929198" cy="245381"/>
          </a:xfrm>
          <a:prstGeom prst="leftRightArrow">
            <a:avLst>
              <a:gd name="adj1" fmla="val 31605"/>
              <a:gd name="adj2" fmla="val 96174"/>
            </a:avLst>
          </a:prstGeom>
          <a:solidFill>
            <a:srgbClr val="FBB9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화살표: 왼쪽 62">
            <a:extLst>
              <a:ext uri="{FF2B5EF4-FFF2-40B4-BE49-F238E27FC236}">
                <a16:creationId xmlns:a16="http://schemas.microsoft.com/office/drawing/2014/main" id="{9E7AF574-56A7-4017-7A90-FCEBE64037DE}"/>
              </a:ext>
            </a:extLst>
          </p:cNvPr>
          <p:cNvSpPr/>
          <p:nvPr/>
        </p:nvSpPr>
        <p:spPr>
          <a:xfrm>
            <a:off x="7538212" y="5724330"/>
            <a:ext cx="903650" cy="245381"/>
          </a:xfrm>
          <a:prstGeom prst="leftArrow">
            <a:avLst>
              <a:gd name="adj1" fmla="val 31368"/>
              <a:gd name="adj2" fmla="val 93475"/>
            </a:avLst>
          </a:prstGeom>
          <a:solidFill>
            <a:srgbClr val="FBB9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AFF477-356C-D4BE-D701-EB09FFD67593}"/>
              </a:ext>
            </a:extLst>
          </p:cNvPr>
          <p:cNvSpPr txBox="1"/>
          <p:nvPr/>
        </p:nvSpPr>
        <p:spPr>
          <a:xfrm>
            <a:off x="7508257" y="2948334"/>
            <a:ext cx="961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JDBC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9A1DE6-E907-0615-B18D-E76764D2C0CB}"/>
              </a:ext>
            </a:extLst>
          </p:cNvPr>
          <p:cNvSpPr txBox="1"/>
          <p:nvPr/>
        </p:nvSpPr>
        <p:spPr>
          <a:xfrm>
            <a:off x="7630855" y="5419852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JNA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B20EF2-23E6-81CC-38FF-FB5B6A197AEA}"/>
              </a:ext>
            </a:extLst>
          </p:cNvPr>
          <p:cNvSpPr txBox="1"/>
          <p:nvPr/>
        </p:nvSpPr>
        <p:spPr>
          <a:xfrm>
            <a:off x="3445261" y="2706463"/>
            <a:ext cx="951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REST</a:t>
            </a:r>
          </a:p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API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6BD7ED-E6E1-7322-AF48-EA4FBFEF20A8}"/>
              </a:ext>
            </a:extLst>
          </p:cNvPr>
          <p:cNvSpPr txBox="1"/>
          <p:nvPr/>
        </p:nvSpPr>
        <p:spPr>
          <a:xfrm>
            <a:off x="3810021" y="4507425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JNA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5821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4B725-5AC5-1A6A-EBD5-C99972C042D3}"/>
              </a:ext>
            </a:extLst>
          </p:cNvPr>
          <p:cNvSpPr txBox="1"/>
          <p:nvPr/>
        </p:nvSpPr>
        <p:spPr>
          <a:xfrm>
            <a:off x="1352243" y="716672"/>
            <a:ext cx="257082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-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전체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B8BDE-641F-51A3-2294-0993C238D06C}"/>
              </a:ext>
            </a:extLst>
          </p:cNvPr>
          <p:cNvSpPr txBox="1"/>
          <p:nvPr/>
        </p:nvSpPr>
        <p:spPr>
          <a:xfrm>
            <a:off x="1395362" y="1318328"/>
            <a:ext cx="470063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통합 데이터 모델링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F13E632-1813-4260-3042-6A4B9CBAB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1561" y="1835268"/>
            <a:ext cx="11788876" cy="4745932"/>
          </a:xfrm>
          <a:prstGeom prst="rect">
            <a:avLst/>
          </a:prstGeom>
        </p:spPr>
      </p:pic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E9C8C5C2-6D26-FC66-B201-4989C665E087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114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632E-8FBF-E4D2-B668-9394F35D2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3DA74E-E8E5-5600-8EA7-970EF9B856B7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차량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665234C-E284-8E86-D6CB-F042C21CB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356" y="1363003"/>
            <a:ext cx="11807287" cy="5409249"/>
          </a:xfrm>
          <a:prstGeom prst="rect">
            <a:avLst/>
          </a:prstGeom>
        </p:spPr>
      </p:pic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11F7D5F7-8798-615A-6E8A-5BE968B68BF8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C8EEC67-6748-D7D4-66C4-C535A0D36C89}"/>
              </a:ext>
            </a:extLst>
          </p:cNvPr>
          <p:cNvSpPr/>
          <p:nvPr/>
        </p:nvSpPr>
        <p:spPr>
          <a:xfrm>
            <a:off x="5685689" y="1057214"/>
            <a:ext cx="1770226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7182E3-A0FE-DA3D-CAA4-ED6ACD1DB1E8}"/>
              </a:ext>
            </a:extLst>
          </p:cNvPr>
          <p:cNvSpPr txBox="1"/>
          <p:nvPr/>
        </p:nvSpPr>
        <p:spPr>
          <a:xfrm>
            <a:off x="5825245" y="1110901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회원 테이블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A0CC8E3-EAA8-099C-E254-444BD09913F3}"/>
              </a:ext>
            </a:extLst>
          </p:cNvPr>
          <p:cNvSpPr/>
          <p:nvPr/>
        </p:nvSpPr>
        <p:spPr>
          <a:xfrm>
            <a:off x="9817203" y="1057214"/>
            <a:ext cx="2182439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F6DB0-CF4D-0C3C-89D4-6A56B21924F5}"/>
              </a:ext>
            </a:extLst>
          </p:cNvPr>
          <p:cNvSpPr txBox="1"/>
          <p:nvPr/>
        </p:nvSpPr>
        <p:spPr>
          <a:xfrm>
            <a:off x="9879936" y="1110901"/>
            <a:ext cx="2056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회원 </a:t>
            </a:r>
            <a:r>
              <a:rPr lang="ko-KR" altLang="en-US"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차량 테이블</a:t>
            </a:r>
            <a:endParaRPr lang="ko-KR" altLang="en-US" sz="2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15DDDD7A-9B98-1B53-3454-E2A24EE0046A}"/>
              </a:ext>
            </a:extLst>
          </p:cNvPr>
          <p:cNvSpPr/>
          <p:nvPr/>
        </p:nvSpPr>
        <p:spPr>
          <a:xfrm>
            <a:off x="10026113" y="4475673"/>
            <a:ext cx="1910797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533EDC-85AE-3440-3249-89DDD1B48C5E}"/>
              </a:ext>
            </a:extLst>
          </p:cNvPr>
          <p:cNvSpPr txBox="1"/>
          <p:nvPr/>
        </p:nvSpPr>
        <p:spPr>
          <a:xfrm>
            <a:off x="10112523" y="4529360"/>
            <a:ext cx="17379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주차장 테이블</a:t>
            </a:r>
            <a:endParaRPr lang="ko-KR" altLang="en-US" sz="2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80A232B-F1F8-4BF5-1BAA-E060AD31A6CE}"/>
              </a:ext>
            </a:extLst>
          </p:cNvPr>
          <p:cNvSpPr/>
          <p:nvPr/>
        </p:nvSpPr>
        <p:spPr>
          <a:xfrm>
            <a:off x="5711650" y="4475673"/>
            <a:ext cx="2480807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rgbClr val="F7F7F7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7C6A2C-2F1F-C0E3-AB9D-94CFC3E2E1BD}"/>
              </a:ext>
            </a:extLst>
          </p:cNvPr>
          <p:cNvSpPr txBox="1"/>
          <p:nvPr/>
        </p:nvSpPr>
        <p:spPr>
          <a:xfrm>
            <a:off x="5685689" y="4529360"/>
            <a:ext cx="25327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입출차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로그 테이블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0B1F358-282E-3908-6E04-874E5012297F}"/>
              </a:ext>
            </a:extLst>
          </p:cNvPr>
          <p:cNvSpPr/>
          <p:nvPr/>
        </p:nvSpPr>
        <p:spPr>
          <a:xfrm>
            <a:off x="2417103" y="4475673"/>
            <a:ext cx="1770226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48E473-6B40-460C-54DA-59A6E2ECC2EA}"/>
              </a:ext>
            </a:extLst>
          </p:cNvPr>
          <p:cNvSpPr txBox="1"/>
          <p:nvPr/>
        </p:nvSpPr>
        <p:spPr>
          <a:xfrm>
            <a:off x="2556659" y="4529360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결제 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테이블</a:t>
            </a:r>
          </a:p>
        </p:txBody>
      </p:sp>
    </p:spTree>
    <p:extLst>
      <p:ext uri="{BB962C8B-B14F-4D97-AF65-F5344CB8AC3E}">
        <p14:creationId xmlns:p14="http://schemas.microsoft.com/office/powerpoint/2010/main" val="1212912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B21A-D6A3-4DE2-5E73-9298B418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9972BA-7D73-AFF8-C28E-EBBCD428B9DB}"/>
              </a:ext>
            </a:extLst>
          </p:cNvPr>
          <p:cNvSpPr txBox="1"/>
          <p:nvPr/>
        </p:nvSpPr>
        <p:spPr>
          <a:xfrm>
            <a:off x="1352242" y="716672"/>
            <a:ext cx="450778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의료진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418ADA8-8A45-96E1-F84B-AEF9389EE8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658" y="1966075"/>
            <a:ext cx="12034684" cy="3962849"/>
          </a:xfrm>
          <a:prstGeom prst="rect">
            <a:avLst/>
          </a:prstGeom>
        </p:spPr>
      </p:pic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DBFBC495-E246-4511-F368-2096D532B853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DECCC783-3E27-548F-C2B0-B2FFB67C5325}"/>
              </a:ext>
            </a:extLst>
          </p:cNvPr>
          <p:cNvSpPr/>
          <p:nvPr/>
        </p:nvSpPr>
        <p:spPr>
          <a:xfrm>
            <a:off x="5825075" y="4383925"/>
            <a:ext cx="1894270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44685E-70F8-BFDE-809C-539E77FF6D1C}"/>
              </a:ext>
            </a:extLst>
          </p:cNvPr>
          <p:cNvSpPr txBox="1"/>
          <p:nvPr/>
        </p:nvSpPr>
        <p:spPr>
          <a:xfrm>
            <a:off x="5903222" y="4437612"/>
            <a:ext cx="17379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의료진 테이블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A203577-2F97-F270-65D5-DDFF886ADF7F}"/>
              </a:ext>
            </a:extLst>
          </p:cNvPr>
          <p:cNvSpPr/>
          <p:nvPr/>
        </p:nvSpPr>
        <p:spPr>
          <a:xfrm>
            <a:off x="1575805" y="2238661"/>
            <a:ext cx="1770226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3A3CC4-9F05-1104-8E57-FF5799F9AEC5}"/>
              </a:ext>
            </a:extLst>
          </p:cNvPr>
          <p:cNvSpPr txBox="1"/>
          <p:nvPr/>
        </p:nvSpPr>
        <p:spPr>
          <a:xfrm>
            <a:off x="1715361" y="2292348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회원 테이블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3AF76B8-4A38-2075-8ECD-5EEFC938E4CF}"/>
              </a:ext>
            </a:extLst>
          </p:cNvPr>
          <p:cNvSpPr/>
          <p:nvPr/>
        </p:nvSpPr>
        <p:spPr>
          <a:xfrm>
            <a:off x="6096000" y="1557737"/>
            <a:ext cx="2240218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70E1F-45AB-6C25-053C-89B8A1A63B1F}"/>
              </a:ext>
            </a:extLst>
          </p:cNvPr>
          <p:cNvSpPr txBox="1"/>
          <p:nvPr/>
        </p:nvSpPr>
        <p:spPr>
          <a:xfrm>
            <a:off x="6096000" y="1611424"/>
            <a:ext cx="22402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의료 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부서 테이블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0E1B915-4C47-BD2F-9637-D475D21093F6}"/>
              </a:ext>
            </a:extLst>
          </p:cNvPr>
          <p:cNvSpPr/>
          <p:nvPr/>
        </p:nvSpPr>
        <p:spPr>
          <a:xfrm>
            <a:off x="9734086" y="2438716"/>
            <a:ext cx="2240218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B9843A-9C26-0330-09B0-CA5A7953231D}"/>
              </a:ext>
            </a:extLst>
          </p:cNvPr>
          <p:cNvSpPr txBox="1"/>
          <p:nvPr/>
        </p:nvSpPr>
        <p:spPr>
          <a:xfrm>
            <a:off x="9734086" y="2492403"/>
            <a:ext cx="22402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진료 예약 테이블</a:t>
            </a:r>
          </a:p>
        </p:txBody>
      </p:sp>
    </p:spTree>
    <p:extLst>
      <p:ext uri="{BB962C8B-B14F-4D97-AF65-F5344CB8AC3E}">
        <p14:creationId xmlns:p14="http://schemas.microsoft.com/office/powerpoint/2010/main" val="3874796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F27E3-A677-F0D8-8564-427333EC4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F128FAE-D490-413F-6D64-80826B82E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207" y="479114"/>
            <a:ext cx="10863586" cy="62809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9147D6-0531-8542-DF13-5C8DC4F33114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행정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64B8C487-8074-817A-71AE-93F14922DF60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69F21D6-664E-54A0-BB2A-D68AD1E4E356}"/>
              </a:ext>
            </a:extLst>
          </p:cNvPr>
          <p:cNvSpPr/>
          <p:nvPr/>
        </p:nvSpPr>
        <p:spPr>
          <a:xfrm>
            <a:off x="5578975" y="2061164"/>
            <a:ext cx="1963108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A3942-9783-8B8A-9EBE-CCAA0FA85515}"/>
              </a:ext>
            </a:extLst>
          </p:cNvPr>
          <p:cNvSpPr txBox="1"/>
          <p:nvPr/>
        </p:nvSpPr>
        <p:spPr>
          <a:xfrm>
            <a:off x="5675416" y="2114851"/>
            <a:ext cx="17702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VOC 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테이블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837A955-8B56-8554-F3A0-B20153B82BB6}"/>
              </a:ext>
            </a:extLst>
          </p:cNvPr>
          <p:cNvSpPr/>
          <p:nvPr/>
        </p:nvSpPr>
        <p:spPr>
          <a:xfrm>
            <a:off x="9787173" y="1300397"/>
            <a:ext cx="2126384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2559E1-028C-BBD8-306E-70EA41CA92F8}"/>
              </a:ext>
            </a:extLst>
          </p:cNvPr>
          <p:cNvSpPr txBox="1"/>
          <p:nvPr/>
        </p:nvSpPr>
        <p:spPr>
          <a:xfrm>
            <a:off x="9833956" y="1354084"/>
            <a:ext cx="203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공지사항 테이블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AD5CC8A-73CB-F243-E147-28078610E651}"/>
              </a:ext>
            </a:extLst>
          </p:cNvPr>
          <p:cNvSpPr/>
          <p:nvPr/>
        </p:nvSpPr>
        <p:spPr>
          <a:xfrm>
            <a:off x="9513542" y="5192889"/>
            <a:ext cx="2392364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504521-0154-2884-1D81-0B1FABA676D7}"/>
              </a:ext>
            </a:extLst>
          </p:cNvPr>
          <p:cNvSpPr txBox="1"/>
          <p:nvPr/>
        </p:nvSpPr>
        <p:spPr>
          <a:xfrm>
            <a:off x="9505891" y="5246576"/>
            <a:ext cx="24076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건강이야기 테이블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A6C09C3-35AF-4D15-617A-BC125BB0C63C}"/>
              </a:ext>
            </a:extLst>
          </p:cNvPr>
          <p:cNvSpPr/>
          <p:nvPr/>
        </p:nvSpPr>
        <p:spPr>
          <a:xfrm>
            <a:off x="5497337" y="5192889"/>
            <a:ext cx="2126384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D1EA3C-827A-D7B5-C4AC-E2F93B69C1BE}"/>
              </a:ext>
            </a:extLst>
          </p:cNvPr>
          <p:cNvSpPr txBox="1"/>
          <p:nvPr/>
        </p:nvSpPr>
        <p:spPr>
          <a:xfrm>
            <a:off x="5544120" y="5246576"/>
            <a:ext cx="203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행정직 테이블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3E85C5E-4665-ABEE-6AEE-1F601F43FB3A}"/>
              </a:ext>
            </a:extLst>
          </p:cNvPr>
          <p:cNvSpPr/>
          <p:nvPr/>
        </p:nvSpPr>
        <p:spPr>
          <a:xfrm>
            <a:off x="373776" y="5192889"/>
            <a:ext cx="2240218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0487D5-DA30-F12A-23C3-9C6710938D0A}"/>
              </a:ext>
            </a:extLst>
          </p:cNvPr>
          <p:cNvSpPr txBox="1"/>
          <p:nvPr/>
        </p:nvSpPr>
        <p:spPr>
          <a:xfrm>
            <a:off x="373776" y="5246576"/>
            <a:ext cx="22402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행정 부서 테이블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6AB4445-FCFE-ECD9-078D-4776C7E9E2A3}"/>
              </a:ext>
            </a:extLst>
          </p:cNvPr>
          <p:cNvSpPr/>
          <p:nvPr/>
        </p:nvSpPr>
        <p:spPr>
          <a:xfrm>
            <a:off x="373776" y="2061164"/>
            <a:ext cx="1770226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F9D07B-1102-508E-C45A-2D8B3C796579}"/>
              </a:ext>
            </a:extLst>
          </p:cNvPr>
          <p:cNvSpPr txBox="1"/>
          <p:nvPr/>
        </p:nvSpPr>
        <p:spPr>
          <a:xfrm>
            <a:off x="513332" y="2114851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회원 테이블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6739C77-D60C-A3CC-91FA-BA15F655DEFA}"/>
              </a:ext>
            </a:extLst>
          </p:cNvPr>
          <p:cNvSpPr/>
          <p:nvPr/>
        </p:nvSpPr>
        <p:spPr>
          <a:xfrm>
            <a:off x="9903666" y="3375313"/>
            <a:ext cx="1963108" cy="507485"/>
          </a:xfrm>
          <a:prstGeom prst="roundRect">
            <a:avLst>
              <a:gd name="adj" fmla="val 11373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solidFill>
                <a:srgbClr val="F7F7F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5FA6A8-4890-E9A5-4793-01B7EB82772D}"/>
              </a:ext>
            </a:extLst>
          </p:cNvPr>
          <p:cNvSpPr txBox="1"/>
          <p:nvPr/>
        </p:nvSpPr>
        <p:spPr>
          <a:xfrm>
            <a:off x="10000107" y="3429000"/>
            <a:ext cx="17702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FAQ </a:t>
            </a:r>
            <a:r>
              <a:rPr lang="ko-KR" alt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테이블</a:t>
            </a:r>
          </a:p>
        </p:txBody>
      </p:sp>
    </p:spTree>
    <p:extLst>
      <p:ext uri="{BB962C8B-B14F-4D97-AF65-F5344CB8AC3E}">
        <p14:creationId xmlns:p14="http://schemas.microsoft.com/office/powerpoint/2010/main" val="4167364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603-F54F-7AED-1475-F3C0FA012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EC2E9C90-6F34-4D9F-508E-207FA9653D75}"/>
              </a:ext>
            </a:extLst>
          </p:cNvPr>
          <p:cNvSpPr txBox="1"/>
          <p:nvPr/>
        </p:nvSpPr>
        <p:spPr>
          <a:xfrm>
            <a:off x="1395362" y="1318328"/>
            <a:ext cx="5412942" cy="33855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사용자 그룹별 권한 할당을 통한 데이터 보안 및 업무 최적화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3509F3-0C67-075D-7DF4-8AEA96548FAD}"/>
              </a:ext>
            </a:extLst>
          </p:cNvPr>
          <p:cNvSpPr txBox="1"/>
          <p:nvPr/>
        </p:nvSpPr>
        <p:spPr>
          <a:xfrm>
            <a:off x="1352242" y="716672"/>
            <a:ext cx="508008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사용자 권한별 핵심 기능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BE36D4F-4890-159D-6EE5-56DD53ED8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918003"/>
              </p:ext>
            </p:extLst>
          </p:nvPr>
        </p:nvGraphicFramePr>
        <p:xfrm>
          <a:off x="769475" y="1952467"/>
          <a:ext cx="10653051" cy="439956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96527">
                  <a:extLst>
                    <a:ext uri="{9D8B030D-6E8A-4147-A177-3AD203B41FA5}">
                      <a16:colId xmlns:a16="http://schemas.microsoft.com/office/drawing/2014/main" val="176704968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11527856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2701630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3655236872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551503763"/>
                    </a:ext>
                  </a:extLst>
                </a:gridCol>
              </a:tblGrid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기능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일반회원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의료진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원무팀</a:t>
                      </a:r>
                      <a:endParaRPr lang="ko-KR" altLang="en-US" sz="20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홍보팀</a:t>
                      </a:r>
                      <a:endParaRPr lang="ko-KR" altLang="en-US" sz="20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14825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차량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30263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2112450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강제삭제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Bold" panose="02000000000000000000" pitchFamily="2" charset="-127"/>
                        <a:ea typeface="G마켓 산스 TTF Bold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44698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작성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kern="1200" dirty="0">
                          <a:solidFill>
                            <a:srgbClr val="22222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  <a:cs typeface="+mn-cs"/>
                        </a:rPr>
                        <a:t>O</a:t>
                      </a:r>
                      <a:endParaRPr lang="ko-KR" altLang="en-US" sz="2000" kern="1200" dirty="0">
                        <a:solidFill>
                          <a:srgbClr val="22222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Bold" panose="02000000000000000000" pitchFamily="2" charset="-127"/>
                        <a:ea typeface="G마켓 산스 TTF Bold" panose="02000000000000000000" pitchFamily="2" charset="-127"/>
                        <a:cs typeface="+mn-cs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42571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답변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강제삭제 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kern="1200" dirty="0">
                          <a:solidFill>
                            <a:srgbClr val="22222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  <a:cs typeface="+mn-cs"/>
                        </a:rPr>
                        <a:t>O</a:t>
                      </a:r>
                      <a:endParaRPr lang="ko-KR" altLang="en-US" sz="2000" kern="1200" dirty="0">
                        <a:solidFill>
                          <a:srgbClr val="22222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Bold" panose="02000000000000000000" pitchFamily="2" charset="-127"/>
                        <a:ea typeface="G마켓 산스 TTF Bold" panose="02000000000000000000" pitchFamily="2" charset="-127"/>
                        <a:cs typeface="+mn-cs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652974"/>
                  </a:ext>
                </a:extLst>
              </a:tr>
              <a:tr h="7302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공지사항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 FAQ</a:t>
                      </a:r>
                    </a:p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kern="1200" dirty="0">
                          <a:solidFill>
                            <a:srgbClr val="22222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  <a:cs typeface="+mn-cs"/>
                        </a:rPr>
                        <a:t>O</a:t>
                      </a:r>
                      <a:endParaRPr lang="ko-KR" altLang="en-US" sz="2000" kern="1200" dirty="0">
                        <a:solidFill>
                          <a:srgbClr val="22222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Bold" panose="02000000000000000000" pitchFamily="2" charset="-127"/>
                        <a:ea typeface="G마켓 산스 TTF Bold" panose="02000000000000000000" pitchFamily="2" charset="-127"/>
                        <a:cs typeface="+mn-cs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065497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건강이야기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kern="1200" dirty="0">
                          <a:solidFill>
                            <a:srgbClr val="22222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  <a:cs typeface="+mn-cs"/>
                        </a:rPr>
                        <a:t>O</a:t>
                      </a:r>
                      <a:endParaRPr lang="ko-KR" altLang="en-US" sz="2000" kern="1200" dirty="0">
                        <a:solidFill>
                          <a:srgbClr val="222222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Bold" panose="02000000000000000000" pitchFamily="2" charset="-127"/>
                        <a:ea typeface="G마켓 산스 TTF Bold" panose="02000000000000000000" pitchFamily="2" charset="-127"/>
                        <a:cs typeface="+mn-cs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361462"/>
                  </a:ext>
                </a:extLst>
              </a:tr>
            </a:tbl>
          </a:graphicData>
        </a:graphic>
      </p:graphicFrame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76D80D25-8E86-407A-1C75-5988D41E0F29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88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1CD3-0665-3F5C-2EB2-EFB03FDF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65507E23-510A-3985-8A3B-E359D8C030B1}"/>
              </a:ext>
            </a:extLst>
          </p:cNvPr>
          <p:cNvSpPr txBox="1"/>
          <p:nvPr/>
        </p:nvSpPr>
        <p:spPr>
          <a:xfrm>
            <a:off x="1395362" y="1318328"/>
            <a:ext cx="487931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8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차량 번호판 인식</a:t>
            </a:r>
            <a:endParaRPr lang="en-US" altLang="ko-KR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176780-9784-E2AF-A064-783985FE4084}"/>
              </a:ext>
            </a:extLst>
          </p:cNvPr>
          <p:cNvSpPr txBox="1"/>
          <p:nvPr/>
        </p:nvSpPr>
        <p:spPr>
          <a:xfrm>
            <a:off x="1352243" y="716672"/>
            <a:ext cx="319988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sz="360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프로세스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B475B2-E206-A0CC-434E-76BF34FC89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263019"/>
              </p:ext>
            </p:extLst>
          </p:nvPr>
        </p:nvGraphicFramePr>
        <p:xfrm>
          <a:off x="1998833" y="1982859"/>
          <a:ext cx="9992682" cy="45623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46125">
                  <a:extLst>
                    <a:ext uri="{9D8B030D-6E8A-4147-A177-3AD203B41FA5}">
                      <a16:colId xmlns:a16="http://schemas.microsoft.com/office/drawing/2014/main" val="1589152366"/>
                    </a:ext>
                  </a:extLst>
                </a:gridCol>
                <a:gridCol w="1525108">
                  <a:extLst>
                    <a:ext uri="{9D8B030D-6E8A-4147-A177-3AD203B41FA5}">
                      <a16:colId xmlns:a16="http://schemas.microsoft.com/office/drawing/2014/main" val="1526323515"/>
                    </a:ext>
                  </a:extLst>
                </a:gridCol>
                <a:gridCol w="1525108">
                  <a:extLst>
                    <a:ext uri="{9D8B030D-6E8A-4147-A177-3AD203B41FA5}">
                      <a16:colId xmlns:a16="http://schemas.microsoft.com/office/drawing/2014/main" val="4245788062"/>
                    </a:ext>
                  </a:extLst>
                </a:gridCol>
                <a:gridCol w="1993379">
                  <a:extLst>
                    <a:ext uri="{9D8B030D-6E8A-4147-A177-3AD203B41FA5}">
                      <a16:colId xmlns:a16="http://schemas.microsoft.com/office/drawing/2014/main" val="343331227"/>
                    </a:ext>
                  </a:extLst>
                </a:gridCol>
                <a:gridCol w="1501481">
                  <a:extLst>
                    <a:ext uri="{9D8B030D-6E8A-4147-A177-3AD203B41FA5}">
                      <a16:colId xmlns:a16="http://schemas.microsoft.com/office/drawing/2014/main" val="341189197"/>
                    </a:ext>
                  </a:extLst>
                </a:gridCol>
                <a:gridCol w="1501481">
                  <a:extLst>
                    <a:ext uri="{9D8B030D-6E8A-4147-A177-3AD203B41FA5}">
                      <a16:colId xmlns:a16="http://schemas.microsoft.com/office/drawing/2014/main" val="3897355789"/>
                    </a:ext>
                  </a:extLst>
                </a:gridCol>
              </a:tblGrid>
              <a:tr h="54756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흑백화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88853" marR="88853" marT="44427" marB="44427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x3,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명암 조절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이진화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88853" marR="88853" marT="44427" marB="44427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152674"/>
                  </a:ext>
                </a:extLst>
              </a:tr>
              <a:tr h="6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86.9%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68.9%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18.0%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83.8%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59.3%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24.5%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extLst>
                  <a:ext uri="{0D108BD9-81ED-4DB2-BD59-A6C34878D82A}">
                    <a16:rowId xmlns:a16="http://schemas.microsoft.com/office/drawing/2014/main" val="2444758306"/>
                  </a:ext>
                </a:extLst>
              </a:tr>
              <a:tr h="54756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가우시안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블러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88853" marR="88853" marT="44427" marB="44427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8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가우시안</a:t>
                      </a:r>
                      <a:r>
                        <a:rPr lang="ko-KR" altLang="en-US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</a:t>
                      </a:r>
                      <a:r>
                        <a:rPr lang="ko-KR" altLang="en-US" sz="18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블러</a:t>
                      </a:r>
                      <a:r>
                        <a:rPr lang="en-US" altLang="ko-KR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88853" marR="88853" marT="44427" marB="44427" anchor="ctr"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330721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87.5%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66.4%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21.1%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7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90.3%</a:t>
                      </a:r>
                      <a:endParaRPr lang="ko-KR" altLang="en-US" sz="17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69.8%</a:t>
                      </a:r>
                      <a:endParaRPr lang="ko-KR" altLang="en-US" sz="17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20.5%</a:t>
                      </a:r>
                      <a:endParaRPr lang="ko-KR" altLang="en-US" sz="17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624491"/>
                  </a:ext>
                </a:extLst>
              </a:tr>
              <a:tr h="54756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에로전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88853" marR="88853" marT="44427" marB="44427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x3,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88853" marR="88853" marT="44427" marB="44427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521208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87.1%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66.1%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21.0%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88.9%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65.9%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23.0%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extLst>
                  <a:ext uri="{0D108BD9-81ED-4DB2-BD59-A6C34878D82A}">
                    <a16:rowId xmlns:a16="http://schemas.microsoft.com/office/drawing/2014/main" val="1800427628"/>
                  </a:ext>
                </a:extLst>
              </a:tr>
              <a:tr h="54756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7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명암 조절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88853" marR="88853" marT="44427" marB="44427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색상 반전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88853" marR="88853" marT="44427" marB="44427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662665"/>
                  </a:ext>
                </a:extLst>
              </a:tr>
              <a:tr h="638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89.9%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69.5%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20.4%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78.0%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67.1%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7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10.9%</a:t>
                      </a:r>
                      <a:endParaRPr lang="ko-KR" altLang="en-US" sz="17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0574" marR="80574" marT="40286" marB="40286" anchor="ctr"/>
                </a:tc>
                <a:extLst>
                  <a:ext uri="{0D108BD9-81ED-4DB2-BD59-A6C34878D82A}">
                    <a16:rowId xmlns:a16="http://schemas.microsoft.com/office/drawing/2014/main" val="3072586674"/>
                  </a:ext>
                </a:extLst>
              </a:tr>
            </a:tbl>
          </a:graphicData>
        </a:graphic>
      </p:graphicFrame>
      <p:sp>
        <p:nvSpPr>
          <p:cNvPr id="4" name="화살표: 오각형 3">
            <a:extLst>
              <a:ext uri="{FF2B5EF4-FFF2-40B4-BE49-F238E27FC236}">
                <a16:creationId xmlns:a16="http://schemas.microsoft.com/office/drawing/2014/main" id="{B83F4791-1529-39DD-2041-FE8D4F29A8BF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DF243E6-10DE-6F46-7413-63F2AEF533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04" t="15226" r="8140" b="13571"/>
          <a:stretch/>
        </p:blipFill>
        <p:spPr>
          <a:xfrm>
            <a:off x="10950221" y="1089929"/>
            <a:ext cx="861270" cy="78165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FEB775-6009-D9B5-CA8C-258706835C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89" r="13378"/>
          <a:stretch/>
        </p:blipFill>
        <p:spPr>
          <a:xfrm>
            <a:off x="8737980" y="1146038"/>
            <a:ext cx="2101777" cy="74070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6DE4789-4EC1-FDF4-3E33-F3B9899E91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20"/>
          <a:stretch/>
        </p:blipFill>
        <p:spPr>
          <a:xfrm>
            <a:off x="200486" y="5660143"/>
            <a:ext cx="1690716" cy="86677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C455C9B-FBB0-F48B-F6F6-1F22A00168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77"/>
          <a:stretch/>
        </p:blipFill>
        <p:spPr>
          <a:xfrm>
            <a:off x="231646" y="1992321"/>
            <a:ext cx="1628397" cy="86677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1BD8130-D3A8-FA3B-B928-7A5C7CC6CA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694" y="3214653"/>
            <a:ext cx="1638300" cy="8667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6D70D8C-9467-D267-3103-B2119A9D9C3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9"/>
          <a:stretch/>
        </p:blipFill>
        <p:spPr>
          <a:xfrm>
            <a:off x="200485" y="4436986"/>
            <a:ext cx="1690718" cy="86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452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5239DA-2C31-F400-45F9-07AB74149884}"/>
              </a:ext>
            </a:extLst>
          </p:cNvPr>
          <p:cNvSpPr txBox="1"/>
          <p:nvPr/>
        </p:nvSpPr>
        <p:spPr>
          <a:xfrm>
            <a:off x="1352242" y="716672"/>
            <a:ext cx="31384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프로그램 시연</a:t>
            </a:r>
          </a:p>
        </p:txBody>
      </p:sp>
      <p:sp>
        <p:nvSpPr>
          <p:cNvPr id="24" name="화살표: 오각형 23">
            <a:extLst>
              <a:ext uri="{FF2B5EF4-FFF2-40B4-BE49-F238E27FC236}">
                <a16:creationId xmlns:a16="http://schemas.microsoft.com/office/drawing/2014/main" id="{BF5A0A7F-B08D-50A3-497B-C538B16EA872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20A4D9-DE68-8A7F-EAE3-E43FD06458ED}"/>
              </a:ext>
            </a:extLst>
          </p:cNvPr>
          <p:cNvSpPr txBox="1"/>
          <p:nvPr/>
        </p:nvSpPr>
        <p:spPr>
          <a:xfrm>
            <a:off x="1395362" y="1318328"/>
            <a:ext cx="24247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통합 시연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96A5BAC5-7F5A-9A0F-7A60-E41A4FE6EDDD}"/>
              </a:ext>
            </a:extLst>
          </p:cNvPr>
          <p:cNvGrpSpPr/>
          <p:nvPr/>
        </p:nvGrpSpPr>
        <p:grpSpPr>
          <a:xfrm>
            <a:off x="1068729" y="1909823"/>
            <a:ext cx="10054542" cy="4733234"/>
            <a:chOff x="844951" y="1792243"/>
            <a:chExt cx="10523519" cy="4931833"/>
          </a:xfrm>
        </p:grpSpPr>
        <p:pic>
          <p:nvPicPr>
            <p:cNvPr id="23" name="그림 22">
              <a:hlinkClick r:id="rId2"/>
              <a:extLst>
                <a:ext uri="{FF2B5EF4-FFF2-40B4-BE49-F238E27FC236}">
                  <a16:creationId xmlns:a16="http://schemas.microsoft.com/office/drawing/2014/main" id="{5C593B9C-E1D6-C8FD-84D1-E60D48B36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81" t="14010" r="315" b="6296"/>
            <a:stretch/>
          </p:blipFill>
          <p:spPr>
            <a:xfrm>
              <a:off x="1168891" y="1792243"/>
              <a:ext cx="9865561" cy="4466919"/>
            </a:xfrm>
            <a:prstGeom prst="rect">
              <a:avLst/>
            </a:prstGeom>
            <a:ln w="95250">
              <a:solidFill>
                <a:srgbClr val="22222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7D12EE13-5769-2FEC-CFC9-3D36B7788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4951" y="6370964"/>
              <a:ext cx="10523519" cy="3531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8852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455DC8-BF25-57FB-B05A-3CCBA3CBEA1B}"/>
              </a:ext>
            </a:extLst>
          </p:cNvPr>
          <p:cNvSpPr txBox="1"/>
          <p:nvPr/>
        </p:nvSpPr>
        <p:spPr>
          <a:xfrm>
            <a:off x="1395362" y="1318328"/>
            <a:ext cx="642912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기술 고도화 및 사업 영역 확대를 통한 스마트 시티 인프라 구축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4D8096-8265-2F47-F7AC-385D16D7CFBA}"/>
              </a:ext>
            </a:extLst>
          </p:cNvPr>
          <p:cNvSpPr txBox="1"/>
          <p:nvPr/>
        </p:nvSpPr>
        <p:spPr>
          <a:xfrm>
            <a:off x="1352243" y="716672"/>
            <a:ext cx="358551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 확장 계획</a:t>
            </a:r>
          </a:p>
        </p:txBody>
      </p:sp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3D3EB4B9-ACCE-ABE6-64D1-64ABCD28799D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8EAAA23-1F10-7288-1628-B3A4A3795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2802" y="1965175"/>
            <a:ext cx="3931438" cy="2146165"/>
          </a:xfrm>
          <a:prstGeom prst="rect">
            <a:avLst/>
          </a:prstGeom>
          <a:ln w="85725">
            <a:solidFill>
              <a:srgbClr val="22222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3" name="그룹 32">
            <a:extLst>
              <a:ext uri="{FF2B5EF4-FFF2-40B4-BE49-F238E27FC236}">
                <a16:creationId xmlns:a16="http://schemas.microsoft.com/office/drawing/2014/main" id="{5F4F1D6A-0093-E84C-F892-7C5ED880DC9F}"/>
              </a:ext>
            </a:extLst>
          </p:cNvPr>
          <p:cNvGrpSpPr/>
          <p:nvPr/>
        </p:nvGrpSpPr>
        <p:grpSpPr>
          <a:xfrm>
            <a:off x="5218060" y="2161812"/>
            <a:ext cx="6536578" cy="1752890"/>
            <a:chOff x="5025005" y="2251156"/>
            <a:chExt cx="6536578" cy="175289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2CE657-3AC6-660E-877F-08B4FB4D4890}"/>
                </a:ext>
              </a:extLst>
            </p:cNvPr>
            <p:cNvSpPr txBox="1"/>
            <p:nvPr/>
          </p:nvSpPr>
          <p:spPr>
            <a:xfrm>
              <a:off x="5025005" y="2251156"/>
              <a:ext cx="3687306" cy="446276"/>
            </a:xfrm>
            <a:prstGeom prst="rect">
              <a:avLst/>
            </a:prstGeom>
            <a:solidFill>
              <a:srgbClr val="005BAA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23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AI </a:t>
              </a:r>
              <a:r>
                <a:rPr lang="ko-KR" altLang="en-US" sz="23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기반 차량 인식 고도화</a:t>
              </a:r>
              <a:endParaRPr lang="ko-KR" altLang="en-US" sz="2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0E9F1F-865A-40FF-2AAA-CB7A517E3677}"/>
                </a:ext>
              </a:extLst>
            </p:cNvPr>
            <p:cNvSpPr txBox="1"/>
            <p:nvPr/>
          </p:nvSpPr>
          <p:spPr>
            <a:xfrm>
              <a:off x="5025005" y="2840350"/>
              <a:ext cx="5480594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Python YOLO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기반의 딥러닝 객체 탐지 모델 도입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D2BA176-F73A-56B5-C522-C5847E6B34A1}"/>
                </a:ext>
              </a:extLst>
            </p:cNvPr>
            <p:cNvSpPr txBox="1"/>
            <p:nvPr/>
          </p:nvSpPr>
          <p:spPr>
            <a:xfrm>
              <a:off x="5025005" y="3629585"/>
              <a:ext cx="6536578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차량 객체 추적</a:t>
              </a: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(Object Tracking)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을 통한 주차 유도 자동화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24F0BF-6A02-97F9-7C84-DB8547D70766}"/>
                </a:ext>
              </a:extLst>
            </p:cNvPr>
            <p:cNvSpPr txBox="1"/>
            <p:nvPr/>
          </p:nvSpPr>
          <p:spPr>
            <a:xfrm>
              <a:off x="5025005" y="3234968"/>
              <a:ext cx="5752471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기상 악화 및 야간 환경에서의 </a:t>
              </a: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OCR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인식 정밀도 개선</a:t>
              </a:r>
            </a:p>
          </p:txBody>
        </p:sp>
      </p:grpSp>
      <p:pic>
        <p:nvPicPr>
          <p:cNvPr id="28" name="그림 27">
            <a:extLst>
              <a:ext uri="{FF2B5EF4-FFF2-40B4-BE49-F238E27FC236}">
                <a16:creationId xmlns:a16="http://schemas.microsoft.com/office/drawing/2014/main" id="{BE8F26F5-112C-FFC0-7D67-B4325E037F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2802" y="4398632"/>
            <a:ext cx="3931438" cy="2144420"/>
          </a:xfrm>
          <a:prstGeom prst="rect">
            <a:avLst/>
          </a:prstGeom>
          <a:ln w="85725">
            <a:solidFill>
              <a:srgbClr val="22222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40" name="그룹 39">
            <a:extLst>
              <a:ext uri="{FF2B5EF4-FFF2-40B4-BE49-F238E27FC236}">
                <a16:creationId xmlns:a16="http://schemas.microsoft.com/office/drawing/2014/main" id="{091D21DA-37FA-4026-4E48-648C07716B87}"/>
              </a:ext>
            </a:extLst>
          </p:cNvPr>
          <p:cNvGrpSpPr/>
          <p:nvPr/>
        </p:nvGrpSpPr>
        <p:grpSpPr>
          <a:xfrm>
            <a:off x="5218060" y="4594397"/>
            <a:ext cx="6536578" cy="1752890"/>
            <a:chOff x="5025004" y="2251156"/>
            <a:chExt cx="6536578" cy="175289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A80D737-06EB-A16D-FF40-8E51949B3B07}"/>
                </a:ext>
              </a:extLst>
            </p:cNvPr>
            <p:cNvSpPr txBox="1"/>
            <p:nvPr/>
          </p:nvSpPr>
          <p:spPr>
            <a:xfrm>
              <a:off x="5025004" y="2251156"/>
              <a:ext cx="4409599" cy="446276"/>
            </a:xfrm>
            <a:prstGeom prst="rect">
              <a:avLst/>
            </a:prstGeom>
            <a:solidFill>
              <a:srgbClr val="005BAA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23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E-Mobility </a:t>
              </a:r>
              <a:r>
                <a:rPr lang="ko-KR" altLang="en-US" sz="2300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연동형 스마트 파킹</a:t>
              </a:r>
              <a:endParaRPr lang="ko-KR" altLang="en-US" sz="2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ECA5332-D0C8-1BC7-CBC1-B24856A38F2D}"/>
                </a:ext>
              </a:extLst>
            </p:cNvPr>
            <p:cNvSpPr txBox="1"/>
            <p:nvPr/>
          </p:nvSpPr>
          <p:spPr>
            <a:xfrm>
              <a:off x="5025004" y="2840350"/>
              <a:ext cx="5480594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전기차</a:t>
              </a:r>
              <a:r>
                <a:rPr lang="en-US" altLang="ko-KR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(EV)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충전 구역 자동 배정 및 점유 현황 관제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7EAFC6-A135-F109-514C-CB0155FBD00B}"/>
                </a:ext>
              </a:extLst>
            </p:cNvPr>
            <p:cNvSpPr txBox="1"/>
            <p:nvPr/>
          </p:nvSpPr>
          <p:spPr>
            <a:xfrm>
              <a:off x="5025004" y="3629585"/>
              <a:ext cx="6536578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IoT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센서 연동을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통한 실시간 주차 시각화 대시보드 구축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462E588-D737-0A7F-A41F-A768C6D7E9CA}"/>
                </a:ext>
              </a:extLst>
            </p:cNvPr>
            <p:cNvSpPr txBox="1"/>
            <p:nvPr/>
          </p:nvSpPr>
          <p:spPr>
            <a:xfrm>
              <a:off x="5025005" y="3234968"/>
              <a:ext cx="5622660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충전 시간과 주차 요금을 결합한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통합 정산 시스템 확장</a:t>
              </a:r>
              <a:endParaRPr lang="en-US" altLang="ko-KR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2385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6AD5759-CDAB-2FB6-FB11-7A3E8C8C2402}"/>
              </a:ext>
            </a:extLst>
          </p:cNvPr>
          <p:cNvGrpSpPr/>
          <p:nvPr/>
        </p:nvGrpSpPr>
        <p:grpSpPr>
          <a:xfrm>
            <a:off x="3221182" y="2522959"/>
            <a:ext cx="5749631" cy="1812083"/>
            <a:chOff x="3221182" y="2644170"/>
            <a:chExt cx="5749631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D8207C-DAEB-8A27-C4CF-FEC4AA4681E2}"/>
                </a:ext>
              </a:extLst>
            </p:cNvPr>
            <p:cNvSpPr txBox="1"/>
            <p:nvPr/>
          </p:nvSpPr>
          <p:spPr>
            <a:xfrm>
              <a:off x="3221182" y="2644170"/>
              <a:ext cx="5749631" cy="1569659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en-US" altLang="ko-KR" sz="9600" b="1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Q &amp; A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789B9FE-AAB5-3733-E507-E46F9B98BA31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1571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B563B8-2B14-2771-F290-75727C765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8C2AF975-B0CF-DF6B-33F5-500C21AE5827}"/>
              </a:ext>
            </a:extLst>
          </p:cNvPr>
          <p:cNvGrpSpPr/>
          <p:nvPr/>
        </p:nvGrpSpPr>
        <p:grpSpPr>
          <a:xfrm>
            <a:off x="2856501" y="2522959"/>
            <a:ext cx="6478999" cy="1812083"/>
            <a:chOff x="2856501" y="2644170"/>
            <a:chExt cx="6478999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3721DBE-280E-06F5-3542-E016FEE54D30}"/>
                </a:ext>
              </a:extLst>
            </p:cNvPr>
            <p:cNvSpPr txBox="1"/>
            <p:nvPr/>
          </p:nvSpPr>
          <p:spPr>
            <a:xfrm>
              <a:off x="2856501" y="2644170"/>
              <a:ext cx="6478999" cy="1569660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ko-KR" altLang="en-US" sz="9600" b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감사합니다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1FC04AB-A90A-B332-B365-AA5E53F459E5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31758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5BAA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7015</TotalTime>
  <Words>1016</Words>
  <Application>Microsoft Office PowerPoint</Application>
  <PresentationFormat>와이드스크린</PresentationFormat>
  <Paragraphs>213</Paragraphs>
  <Slides>16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Google Sans Text</vt:lpstr>
      <vt:lpstr>G마켓 산스 TTF Bold</vt:lpstr>
      <vt:lpstr>G마켓 산스 TTF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동현 임</dc:creator>
  <cp:lastModifiedBy>동현 임</cp:lastModifiedBy>
  <cp:revision>383</cp:revision>
  <dcterms:created xsi:type="dcterms:W3CDTF">2026-02-13T09:15:51Z</dcterms:created>
  <dcterms:modified xsi:type="dcterms:W3CDTF">2026-02-24T12:47:05Z</dcterms:modified>
</cp:coreProperties>
</file>